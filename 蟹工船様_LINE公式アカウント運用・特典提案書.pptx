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381E"/>
        </a:solidFill>
        <a:effectLst/>
      </p:bgPr>
    </p:bg>
    <p:spTree>
      <p:nvGrpSpPr>
        <p:cNvPr id="1" name=""/>
        <p:cNvGrpSpPr/>
        <p:nvPr/>
      </p:nvGrpSpPr>
      <p:grpSpPr>
        <a:xfrm>
          <a:off x="0" y="0"/>
          <a:ext cx="0" cy="0"/>
          <a:chOff x="0" y="0"/>
          <a:chExt cx="0" cy="0"/>
        </a:xfrm>
      </p:grpSpPr>
      <p:sp>
        <p:nvSpPr>
          <p:cNvPr id="2" name="Rounded Rectangle 1"/>
          <p:cNvSpPr/>
          <p:nvPr/>
        </p:nvSpPr>
        <p:spPr>
          <a:xfrm>
            <a:off x="502920" y="457200"/>
            <a:ext cx="11185855" cy="5943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85800" y="640080"/>
            <a:ext cx="10820095" cy="5577840"/>
          </a:xfrm>
          <a:prstGeom prst="roundRect">
            <a:avLst/>
          </a:prstGeom>
          <a:solidFill>
            <a:srgbClr val="FFFFFF"/>
          </a:solidFill>
          <a:ln w="19050">
            <a:solidFill>
              <a:srgbClr val="EEA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083710" y="1234440"/>
            <a:ext cx="4023360" cy="457200"/>
          </a:xfrm>
          <a:prstGeom prst="round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a:defRPr>
            </a:pPr>
            <a:r>
              <a:t>LINE公式アカウント 導入・運用企画書</a:t>
            </a:r>
          </a:p>
        </p:txBody>
      </p:sp>
      <p:sp>
        <p:nvSpPr>
          <p:cNvPr id="5" name="TextBox 4"/>
          <p:cNvSpPr txBox="1"/>
          <p:nvPr/>
        </p:nvSpPr>
        <p:spPr>
          <a:xfrm>
            <a:off x="1097280" y="1920240"/>
            <a:ext cx="9997135" cy="1371600"/>
          </a:xfrm>
          <a:prstGeom prst="rect">
            <a:avLst/>
          </a:prstGeom>
          <a:noFill/>
        </p:spPr>
        <p:txBody>
          <a:bodyPr wrap="square" lIns="73152" rIns="73152" anchor="ctr">
            <a:spAutoFit/>
          </a:bodyPr>
          <a:lstStyle/>
          <a:p>
            <a:pPr algn="ctr">
              <a:lnSpc>
                <a:spcPct val="130000"/>
              </a:lnSpc>
              <a:defRPr sz="3400" b="1">
                <a:solidFill>
                  <a:srgbClr val="2B2B2B"/>
                </a:solidFill>
                <a:latin typeface="Meiryo"/>
              </a:defRPr>
            </a:pPr>
            <a:r>
              <a:t>蟹工船様 LINE公式アカウント</a:t>
            </a:r>
            <a:br/>
            <a:r>
              <a:t>特典設計・店舗運用のご提案</a:t>
            </a:r>
          </a:p>
        </p:txBody>
      </p:sp>
      <p:sp>
        <p:nvSpPr>
          <p:cNvPr id="6" name="Rectangle 5"/>
          <p:cNvSpPr/>
          <p:nvPr/>
        </p:nvSpPr>
        <p:spPr>
          <a:xfrm>
            <a:off x="4266590" y="3429000"/>
            <a:ext cx="3657600" cy="54864"/>
          </a:xfrm>
          <a:prstGeom prst="rect">
            <a:avLst/>
          </a:prstGeom>
          <a:solidFill>
            <a:srgbClr val="DA3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3611880"/>
            <a:ext cx="9997135" cy="548640"/>
          </a:xfrm>
          <a:prstGeom prst="rect">
            <a:avLst/>
          </a:prstGeom>
          <a:noFill/>
        </p:spPr>
        <p:txBody>
          <a:bodyPr wrap="square" lIns="73152" rIns="73152" anchor="ctr">
            <a:spAutoFit/>
          </a:bodyPr>
          <a:lstStyle/>
          <a:p>
            <a:pPr algn="ctr">
              <a:lnSpc>
                <a:spcPct val="125000"/>
              </a:lnSpc>
              <a:defRPr sz="1500" b="1">
                <a:solidFill>
                  <a:srgbClr val="DA381E"/>
                </a:solidFill>
                <a:latin typeface="Meiryo"/>
              </a:defRPr>
            </a:pPr>
            <a:r>
              <a:t>〜 既存SNS・他媒体との差別化と、現場リスクを防ぐ安全なオペレーション構築 〜</a:t>
            </a:r>
          </a:p>
        </p:txBody>
      </p:sp>
      <p:sp>
        <p:nvSpPr>
          <p:cNvPr id="8" name="Rounded Rectangle 7"/>
          <p:cNvSpPr/>
          <p:nvPr/>
        </p:nvSpPr>
        <p:spPr>
          <a:xfrm>
            <a:off x="1097280" y="4343400"/>
            <a:ext cx="2331720" cy="1325880"/>
          </a:xfrm>
          <a:prstGeom prst="roundRect">
            <a:avLst/>
          </a:prstGeom>
          <a:solidFill>
            <a:srgbClr val="FDF3F1"/>
          </a:solidFill>
          <a:ln w="12700">
            <a:solidFill>
              <a:srgbClr val="EEA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407408"/>
            <a:ext cx="2148840" cy="320040"/>
          </a:xfrm>
          <a:prstGeom prst="rect">
            <a:avLst/>
          </a:prstGeom>
          <a:noFill/>
        </p:spPr>
        <p:txBody>
          <a:bodyPr wrap="square" lIns="73152" rIns="73152" anchor="t">
            <a:spAutoFit/>
          </a:bodyPr>
          <a:lstStyle/>
          <a:p>
            <a:pPr algn="ctr">
              <a:lnSpc>
                <a:spcPct val="125000"/>
              </a:lnSpc>
              <a:defRPr sz="1100" b="1">
                <a:solidFill>
                  <a:srgbClr val="DA381E"/>
                </a:solidFill>
                <a:latin typeface="Meiryo"/>
              </a:defRPr>
            </a:pPr>
            <a:r>
              <a:t>POINT 01</a:t>
            </a:r>
          </a:p>
        </p:txBody>
      </p:sp>
      <p:sp>
        <p:nvSpPr>
          <p:cNvPr id="10" name="TextBox 9"/>
          <p:cNvSpPr txBox="1"/>
          <p:nvPr/>
        </p:nvSpPr>
        <p:spPr>
          <a:xfrm>
            <a:off x="1170432" y="4681728"/>
            <a:ext cx="2185416" cy="365760"/>
          </a:xfrm>
          <a:prstGeom prst="rect">
            <a:avLst/>
          </a:prstGeom>
          <a:noFill/>
        </p:spPr>
        <p:txBody>
          <a:bodyPr wrap="square" lIns="73152" rIns="73152" anchor="t">
            <a:spAutoFit/>
          </a:bodyPr>
          <a:lstStyle/>
          <a:p>
            <a:pPr algn="ctr">
              <a:lnSpc>
                <a:spcPct val="125000"/>
              </a:lnSpc>
              <a:defRPr sz="1200" b="1">
                <a:solidFill>
                  <a:srgbClr val="2B2B2B"/>
                </a:solidFill>
                <a:latin typeface="Meiryo"/>
              </a:defRPr>
            </a:pPr>
            <a:r>
              <a:t>特典設計・他媒体との差別化</a:t>
            </a:r>
          </a:p>
        </p:txBody>
      </p:sp>
      <p:sp>
        <p:nvSpPr>
          <p:cNvPr id="11" name="TextBox 10"/>
          <p:cNvSpPr txBox="1"/>
          <p:nvPr/>
        </p:nvSpPr>
        <p:spPr>
          <a:xfrm>
            <a:off x="1170432" y="5029200"/>
            <a:ext cx="2185416" cy="548640"/>
          </a:xfrm>
          <a:prstGeom prst="rect">
            <a:avLst/>
          </a:prstGeom>
          <a:noFill/>
        </p:spPr>
        <p:txBody>
          <a:bodyPr wrap="square" lIns="73152" rIns="73152" anchor="t">
            <a:spAutoFit/>
          </a:bodyPr>
          <a:lstStyle/>
          <a:p>
            <a:pPr algn="ctr">
              <a:lnSpc>
                <a:spcPct val="120000"/>
              </a:lnSpc>
              <a:defRPr sz="1000" b="0">
                <a:solidFill>
                  <a:srgbClr val="5F5F5F"/>
                </a:solidFill>
                <a:latin typeface="Meiryo"/>
              </a:defRPr>
            </a:pPr>
            <a:r>
              <a:t>既存SNS・ホットペッパーと</a:t>
            </a:r>
            <a:br/>
            <a:r>
              <a:t>被らない特典設計</a:t>
            </a:r>
          </a:p>
        </p:txBody>
      </p:sp>
      <p:sp>
        <p:nvSpPr>
          <p:cNvPr id="12" name="Rounded Rectangle 11"/>
          <p:cNvSpPr/>
          <p:nvPr/>
        </p:nvSpPr>
        <p:spPr>
          <a:xfrm>
            <a:off x="3657600" y="4343400"/>
            <a:ext cx="2331720" cy="1325880"/>
          </a:xfrm>
          <a:prstGeom prst="roundRect">
            <a:avLst/>
          </a:prstGeom>
          <a:solidFill>
            <a:srgbClr val="FDF3F1"/>
          </a:solidFill>
          <a:ln w="12700">
            <a:solidFill>
              <a:srgbClr val="EEA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49039" y="4407408"/>
            <a:ext cx="2148840" cy="320040"/>
          </a:xfrm>
          <a:prstGeom prst="rect">
            <a:avLst/>
          </a:prstGeom>
          <a:noFill/>
        </p:spPr>
        <p:txBody>
          <a:bodyPr wrap="square" lIns="73152" rIns="73152" anchor="t">
            <a:spAutoFit/>
          </a:bodyPr>
          <a:lstStyle/>
          <a:p>
            <a:pPr algn="ctr">
              <a:lnSpc>
                <a:spcPct val="125000"/>
              </a:lnSpc>
              <a:defRPr sz="1100" b="1">
                <a:solidFill>
                  <a:srgbClr val="DA381E"/>
                </a:solidFill>
                <a:latin typeface="Meiryo"/>
              </a:defRPr>
            </a:pPr>
            <a:r>
              <a:t>POINT 02</a:t>
            </a:r>
          </a:p>
        </p:txBody>
      </p:sp>
      <p:sp>
        <p:nvSpPr>
          <p:cNvPr id="14" name="TextBox 13"/>
          <p:cNvSpPr txBox="1"/>
          <p:nvPr/>
        </p:nvSpPr>
        <p:spPr>
          <a:xfrm>
            <a:off x="3730752" y="4681728"/>
            <a:ext cx="2185416" cy="365760"/>
          </a:xfrm>
          <a:prstGeom prst="rect">
            <a:avLst/>
          </a:prstGeom>
          <a:noFill/>
        </p:spPr>
        <p:txBody>
          <a:bodyPr wrap="square" lIns="73152" rIns="73152" anchor="t">
            <a:spAutoFit/>
          </a:bodyPr>
          <a:lstStyle/>
          <a:p>
            <a:pPr algn="ctr">
              <a:lnSpc>
                <a:spcPct val="125000"/>
              </a:lnSpc>
              <a:defRPr sz="1200" b="1">
                <a:solidFill>
                  <a:srgbClr val="2B2B2B"/>
                </a:solidFill>
                <a:latin typeface="Meiryo"/>
              </a:defRPr>
            </a:pPr>
            <a:r>
              <a:t>LINEならではの配信・役割分担</a:t>
            </a:r>
          </a:p>
        </p:txBody>
      </p:sp>
      <p:sp>
        <p:nvSpPr>
          <p:cNvPr id="15" name="TextBox 14"/>
          <p:cNvSpPr txBox="1"/>
          <p:nvPr/>
        </p:nvSpPr>
        <p:spPr>
          <a:xfrm>
            <a:off x="3730752" y="5029200"/>
            <a:ext cx="2185416" cy="548640"/>
          </a:xfrm>
          <a:prstGeom prst="rect">
            <a:avLst/>
          </a:prstGeom>
          <a:noFill/>
        </p:spPr>
        <p:txBody>
          <a:bodyPr wrap="square" lIns="73152" rIns="73152" anchor="t">
            <a:spAutoFit/>
          </a:bodyPr>
          <a:lstStyle/>
          <a:p>
            <a:pPr algn="ctr">
              <a:lnSpc>
                <a:spcPct val="120000"/>
              </a:lnSpc>
              <a:defRPr sz="1000" b="0">
                <a:solidFill>
                  <a:srgbClr val="5F5F5F"/>
                </a:solidFill>
                <a:latin typeface="Meiryo"/>
              </a:defRPr>
            </a:pPr>
            <a:r>
              <a:t>海鮮のライブ感を活かした配信と</a:t>
            </a:r>
            <a:br/>
            <a:r>
              <a:t>店舗×弊社のハイブリッド運用</a:t>
            </a:r>
          </a:p>
        </p:txBody>
      </p:sp>
      <p:sp>
        <p:nvSpPr>
          <p:cNvPr id="16" name="Rounded Rectangle 15"/>
          <p:cNvSpPr/>
          <p:nvPr/>
        </p:nvSpPr>
        <p:spPr>
          <a:xfrm>
            <a:off x="6217920" y="4343400"/>
            <a:ext cx="2331720" cy="1325880"/>
          </a:xfrm>
          <a:prstGeom prst="roundRect">
            <a:avLst/>
          </a:prstGeom>
          <a:solidFill>
            <a:srgbClr val="FDF3F1"/>
          </a:solidFill>
          <a:ln w="12700">
            <a:solidFill>
              <a:srgbClr val="EEA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59" y="4407408"/>
            <a:ext cx="2148840" cy="320040"/>
          </a:xfrm>
          <a:prstGeom prst="rect">
            <a:avLst/>
          </a:prstGeom>
          <a:noFill/>
        </p:spPr>
        <p:txBody>
          <a:bodyPr wrap="square" lIns="73152" rIns="73152" anchor="t">
            <a:spAutoFit/>
          </a:bodyPr>
          <a:lstStyle/>
          <a:p>
            <a:pPr algn="ctr">
              <a:lnSpc>
                <a:spcPct val="125000"/>
              </a:lnSpc>
              <a:defRPr sz="1100" b="1">
                <a:solidFill>
                  <a:srgbClr val="DA381E"/>
                </a:solidFill>
                <a:latin typeface="Meiryo"/>
              </a:defRPr>
            </a:pPr>
            <a:r>
              <a:t>POINT 03</a:t>
            </a:r>
          </a:p>
        </p:txBody>
      </p:sp>
      <p:sp>
        <p:nvSpPr>
          <p:cNvPr id="18" name="TextBox 17"/>
          <p:cNvSpPr txBox="1"/>
          <p:nvPr/>
        </p:nvSpPr>
        <p:spPr>
          <a:xfrm>
            <a:off x="6291072" y="4681728"/>
            <a:ext cx="2185416" cy="365760"/>
          </a:xfrm>
          <a:prstGeom prst="rect">
            <a:avLst/>
          </a:prstGeom>
          <a:noFill/>
        </p:spPr>
        <p:txBody>
          <a:bodyPr wrap="square" lIns="73152" rIns="73152" anchor="t">
            <a:spAutoFit/>
          </a:bodyPr>
          <a:lstStyle/>
          <a:p>
            <a:pPr algn="ctr">
              <a:lnSpc>
                <a:spcPct val="125000"/>
              </a:lnSpc>
              <a:defRPr sz="1200" b="1">
                <a:solidFill>
                  <a:srgbClr val="2B2B2B"/>
                </a:solidFill>
                <a:latin typeface="Meiryo"/>
              </a:defRPr>
            </a:pPr>
            <a:r>
              <a:t>安全な店舗オペレーション</a:t>
            </a:r>
          </a:p>
        </p:txBody>
      </p:sp>
      <p:sp>
        <p:nvSpPr>
          <p:cNvPr id="19" name="TextBox 18"/>
          <p:cNvSpPr txBox="1"/>
          <p:nvPr/>
        </p:nvSpPr>
        <p:spPr>
          <a:xfrm>
            <a:off x="6291072" y="5029200"/>
            <a:ext cx="2185416" cy="548640"/>
          </a:xfrm>
          <a:prstGeom prst="rect">
            <a:avLst/>
          </a:prstGeom>
          <a:noFill/>
        </p:spPr>
        <p:txBody>
          <a:bodyPr wrap="square" lIns="73152" rIns="73152" anchor="t">
            <a:spAutoFit/>
          </a:bodyPr>
          <a:lstStyle/>
          <a:p>
            <a:pPr algn="ctr">
              <a:lnSpc>
                <a:spcPct val="120000"/>
              </a:lnSpc>
              <a:defRPr sz="1000" b="0">
                <a:solidFill>
                  <a:srgbClr val="5F5F5F"/>
                </a:solidFill>
                <a:latin typeface="Meiryo"/>
              </a:defRPr>
            </a:pPr>
            <a:r>
              <a:t>不正取得・誤読込を防ぐ</a:t>
            </a:r>
            <a:br/>
            <a:r>
              <a:t>「単語帳リング方式」のご提案</a:t>
            </a:r>
          </a:p>
        </p:txBody>
      </p:sp>
      <p:sp>
        <p:nvSpPr>
          <p:cNvPr id="20" name="Rounded Rectangle 19"/>
          <p:cNvSpPr/>
          <p:nvPr/>
        </p:nvSpPr>
        <p:spPr>
          <a:xfrm>
            <a:off x="8778239" y="4343400"/>
            <a:ext cx="2331720" cy="1325880"/>
          </a:xfrm>
          <a:prstGeom prst="roundRect">
            <a:avLst/>
          </a:prstGeom>
          <a:solidFill>
            <a:srgbClr val="FDF3F1"/>
          </a:solidFill>
          <a:ln w="12700">
            <a:solidFill>
              <a:srgbClr val="EEA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69679" y="4407408"/>
            <a:ext cx="2148840" cy="320040"/>
          </a:xfrm>
          <a:prstGeom prst="rect">
            <a:avLst/>
          </a:prstGeom>
          <a:noFill/>
        </p:spPr>
        <p:txBody>
          <a:bodyPr wrap="square" lIns="73152" rIns="73152" anchor="t">
            <a:spAutoFit/>
          </a:bodyPr>
          <a:lstStyle/>
          <a:p>
            <a:pPr algn="ctr">
              <a:lnSpc>
                <a:spcPct val="125000"/>
              </a:lnSpc>
              <a:defRPr sz="1100" b="1">
                <a:solidFill>
                  <a:srgbClr val="DA381E"/>
                </a:solidFill>
                <a:latin typeface="Meiryo"/>
              </a:defRPr>
            </a:pPr>
            <a:r>
              <a:t>POINT 04</a:t>
            </a:r>
          </a:p>
        </p:txBody>
      </p:sp>
      <p:sp>
        <p:nvSpPr>
          <p:cNvPr id="22" name="TextBox 21"/>
          <p:cNvSpPr txBox="1"/>
          <p:nvPr/>
        </p:nvSpPr>
        <p:spPr>
          <a:xfrm>
            <a:off x="8851391" y="4681728"/>
            <a:ext cx="2185416" cy="365760"/>
          </a:xfrm>
          <a:prstGeom prst="rect">
            <a:avLst/>
          </a:prstGeom>
          <a:noFill/>
        </p:spPr>
        <p:txBody>
          <a:bodyPr wrap="square" lIns="73152" rIns="73152" anchor="t">
            <a:spAutoFit/>
          </a:bodyPr>
          <a:lstStyle/>
          <a:p>
            <a:pPr algn="ctr">
              <a:lnSpc>
                <a:spcPct val="125000"/>
              </a:lnSpc>
              <a:defRPr sz="1200" b="1">
                <a:solidFill>
                  <a:srgbClr val="2B2B2B"/>
                </a:solidFill>
                <a:latin typeface="Meiryo"/>
              </a:defRPr>
            </a:pPr>
            <a:r>
              <a:t>店頭POP・ショップカード案</a:t>
            </a:r>
          </a:p>
        </p:txBody>
      </p:sp>
      <p:sp>
        <p:nvSpPr>
          <p:cNvPr id="23" name="TextBox 22"/>
          <p:cNvSpPr txBox="1"/>
          <p:nvPr/>
        </p:nvSpPr>
        <p:spPr>
          <a:xfrm>
            <a:off x="8851391" y="5029200"/>
            <a:ext cx="2185416" cy="548640"/>
          </a:xfrm>
          <a:prstGeom prst="rect">
            <a:avLst/>
          </a:prstGeom>
          <a:noFill/>
        </p:spPr>
        <p:txBody>
          <a:bodyPr wrap="square" lIns="73152" rIns="73152" anchor="t">
            <a:spAutoFit/>
          </a:bodyPr>
          <a:lstStyle/>
          <a:p>
            <a:pPr algn="ctr">
              <a:lnSpc>
                <a:spcPct val="120000"/>
              </a:lnSpc>
              <a:defRPr sz="1000" b="0">
                <a:solidFill>
                  <a:srgbClr val="5F5F5F"/>
                </a:solidFill>
                <a:latin typeface="Meiryo"/>
              </a:defRPr>
            </a:pPr>
            <a:r>
              <a:t>設置場所とお財布サイズに</a:t>
            </a:r>
            <a:br/>
            <a:r>
              <a:t>最適化した3サイズ展開</a:t>
            </a:r>
          </a:p>
        </p:txBody>
      </p:sp>
      <p:sp>
        <p:nvSpPr>
          <p:cNvPr id="24" name="TextBox 23"/>
          <p:cNvSpPr txBox="1"/>
          <p:nvPr/>
        </p:nvSpPr>
        <p:spPr>
          <a:xfrm>
            <a:off x="8686800" y="5760720"/>
            <a:ext cx="2743200" cy="365760"/>
          </a:xfrm>
          <a:prstGeom prst="rect">
            <a:avLst/>
          </a:prstGeom>
          <a:noFill/>
        </p:spPr>
        <p:txBody>
          <a:bodyPr wrap="square" lIns="73152" rIns="73152" anchor="t">
            <a:spAutoFit/>
          </a:bodyPr>
          <a:lstStyle/>
          <a:p>
            <a:pPr algn="r">
              <a:lnSpc>
                <a:spcPct val="125000"/>
              </a:lnSpc>
              <a:defRPr sz="1200" b="0">
                <a:solidFill>
                  <a:srgbClr val="5F5F5F"/>
                </a:solidFill>
                <a:latin typeface="Meiryo"/>
              </a:defRPr>
            </a:pPr>
            <a:r>
              <a:t>2026年10月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F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DA3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
            <a:ext cx="12191695" cy="777240"/>
          </a:xfrm>
          <a:prstGeom prst="rect">
            <a:avLst/>
          </a:prstGeom>
          <a:solidFill>
            <a:srgbClr val="FFFFFF"/>
          </a:solidFill>
          <a:ln w="9525">
            <a:solidFill>
              <a:srgbClr val="DC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37744"/>
            <a:ext cx="594360" cy="502920"/>
          </a:xfrm>
          <a:prstGeom prst="roundRect">
            <a:avLst/>
          </a:prstGeom>
          <a:solidFill>
            <a:srgbClr val="DA3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Meiryo"/>
              </a:defRPr>
            </a:pPr>
            <a:r>
              <a:t>01</a:t>
            </a:r>
          </a:p>
        </p:txBody>
      </p:sp>
      <p:sp>
        <p:nvSpPr>
          <p:cNvPr id="5" name="TextBox 4"/>
          <p:cNvSpPr txBox="1"/>
          <p:nvPr/>
        </p:nvSpPr>
        <p:spPr>
          <a:xfrm>
            <a:off x="1188720" y="219456"/>
            <a:ext cx="9326880" cy="548640"/>
          </a:xfrm>
          <a:prstGeom prst="rect">
            <a:avLst/>
          </a:prstGeom>
          <a:noFill/>
        </p:spPr>
        <p:txBody>
          <a:bodyPr wrap="square" lIns="73152" rIns="73152" anchor="ctr">
            <a:spAutoFit/>
          </a:bodyPr>
          <a:lstStyle/>
          <a:p>
            <a:pPr algn="l">
              <a:lnSpc>
                <a:spcPct val="125000"/>
              </a:lnSpc>
              <a:defRPr sz="2100" b="1">
                <a:solidFill>
                  <a:srgbClr val="2B2B2B"/>
                </a:solidFill>
                <a:latin typeface="Meiryo"/>
              </a:defRPr>
            </a:pPr>
            <a:r>
              <a:rPr dirty="0" err="1"/>
              <a:t>既存SNS・他媒体との差別化と、特典内容のご提案</a:t>
            </a:r>
            <a:endParaRPr dirty="0"/>
          </a:p>
        </p:txBody>
      </p:sp>
      <p:sp>
        <p:nvSpPr>
          <p:cNvPr id="6" name="TextBox 5"/>
          <p:cNvSpPr txBox="1"/>
          <p:nvPr/>
        </p:nvSpPr>
        <p:spPr>
          <a:xfrm>
            <a:off x="10789920" y="274320"/>
            <a:ext cx="914400" cy="411480"/>
          </a:xfrm>
          <a:prstGeom prst="rect">
            <a:avLst/>
          </a:prstGeom>
          <a:noFill/>
        </p:spPr>
        <p:txBody>
          <a:bodyPr wrap="square" lIns="73152" rIns="73152" anchor="ctr">
            <a:spAutoFit/>
          </a:bodyPr>
          <a:lstStyle/>
          <a:p>
            <a:pPr algn="r">
              <a:lnSpc>
                <a:spcPct val="125000"/>
              </a:lnSpc>
              <a:defRPr sz="1300" b="1">
                <a:solidFill>
                  <a:srgbClr val="5F5F5F"/>
                </a:solidFill>
                <a:latin typeface="Meiryo"/>
              </a:defRPr>
            </a:pPr>
            <a:r>
              <a:t>2 / 5</a:t>
            </a:r>
          </a:p>
        </p:txBody>
      </p:sp>
      <p:sp>
        <p:nvSpPr>
          <p:cNvPr id="7" name="Rounded Rectangle 6"/>
          <p:cNvSpPr/>
          <p:nvPr/>
        </p:nvSpPr>
        <p:spPr>
          <a:xfrm>
            <a:off x="457200" y="1051560"/>
            <a:ext cx="11277295" cy="822960"/>
          </a:xfrm>
          <a:prstGeom prst="roundRect">
            <a:avLst/>
          </a:prstGeom>
          <a:solidFill>
            <a:srgbClr val="FDF3F1"/>
          </a:solidFill>
          <a:ln w="19050">
            <a:solidFill>
              <a:srgbClr val="DA38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 y="1207008"/>
            <a:ext cx="1645920" cy="502920"/>
          </a:xfrm>
          <a:prstGeom prst="roundRect">
            <a:avLst/>
          </a:prstGeom>
          <a:solidFill>
            <a:srgbClr val="DA3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1207008"/>
            <a:ext cx="1645920" cy="502920"/>
          </a:xfrm>
          <a:prstGeom prst="rect">
            <a:avLst/>
          </a:prstGeom>
          <a:noFill/>
        </p:spPr>
        <p:txBody>
          <a:bodyPr wrap="square" lIns="73152" rIns="73152" anchor="ctr">
            <a:spAutoFit/>
          </a:bodyPr>
          <a:lstStyle/>
          <a:p>
            <a:pPr algn="ctr">
              <a:lnSpc>
                <a:spcPct val="125000"/>
              </a:lnSpc>
              <a:defRPr sz="1300" b="1">
                <a:solidFill>
                  <a:srgbClr val="FFFFFF"/>
                </a:solidFill>
                <a:latin typeface="Meiryo"/>
              </a:defRPr>
            </a:pPr>
            <a:r>
              <a:rPr dirty="0" err="1"/>
              <a:t>基本コンセプト</a:t>
            </a:r>
            <a:endParaRPr dirty="0"/>
          </a:p>
        </p:txBody>
      </p:sp>
      <p:sp>
        <p:nvSpPr>
          <p:cNvPr id="10" name="TextBox 9"/>
          <p:cNvSpPr txBox="1"/>
          <p:nvPr/>
        </p:nvSpPr>
        <p:spPr>
          <a:xfrm>
            <a:off x="2377440" y="1097280"/>
            <a:ext cx="9144000" cy="731520"/>
          </a:xfrm>
          <a:prstGeom prst="rect">
            <a:avLst/>
          </a:prstGeom>
          <a:noFill/>
        </p:spPr>
        <p:txBody>
          <a:bodyPr wrap="square" lIns="73152" rIns="73152" anchor="t">
            <a:spAutoFit/>
          </a:bodyPr>
          <a:lstStyle/>
          <a:p>
            <a:pPr algn="l">
              <a:lnSpc>
                <a:spcPct val="120000"/>
              </a:lnSpc>
              <a:defRPr sz="1300" b="0">
                <a:solidFill>
                  <a:srgbClr val="2B2B2B"/>
                </a:solidFill>
                <a:latin typeface="Meiryo"/>
              </a:defRPr>
            </a:pPr>
            <a:r>
              <a:rPr dirty="0" err="1"/>
              <a:t>既存のSNS特典</a:t>
            </a:r>
            <a:r>
              <a:rPr dirty="0"/>
              <a:t>（ https://www.sapporokanikosen.com/freegift ）</a:t>
            </a:r>
            <a:r>
              <a:rPr dirty="0" err="1"/>
              <a:t>が「食後のデザート系」のため</a:t>
            </a:r>
            <a:r>
              <a:rPr dirty="0"/>
              <a:t>、</a:t>
            </a:r>
          </a:p>
          <a:p>
            <a:pPr algn="l">
              <a:lnSpc>
                <a:spcPct val="125000"/>
              </a:lnSpc>
              <a:spcBef>
                <a:spcPts val="300"/>
              </a:spcBef>
              <a:spcAft>
                <a:spcPts val="200"/>
              </a:spcAft>
              <a:defRPr sz="1400" b="1">
                <a:solidFill>
                  <a:srgbClr val="DA381E"/>
                </a:solidFill>
                <a:latin typeface="Meiryo"/>
              </a:defRPr>
            </a:pPr>
            <a:r>
              <a:rPr dirty="0" err="1"/>
              <a:t>LINE公式アカウントは「海鮮丼を食べる方」や「お土産を買う方」がダイレクトにお得になる内容で差別化します</a:t>
            </a:r>
            <a:r>
              <a:rPr dirty="0"/>
              <a:t>。</a:t>
            </a:r>
          </a:p>
        </p:txBody>
      </p:sp>
      <p:sp>
        <p:nvSpPr>
          <p:cNvPr id="11" name="Rounded Rectangle 10"/>
          <p:cNvSpPr/>
          <p:nvPr/>
        </p:nvSpPr>
        <p:spPr>
          <a:xfrm>
            <a:off x="457200" y="2057400"/>
            <a:ext cx="5440680" cy="4434840"/>
          </a:xfrm>
          <a:prstGeom prst="roundRect">
            <a:avLst/>
          </a:prstGeom>
          <a:solidFill>
            <a:srgbClr val="FFFFFF"/>
          </a:solidFill>
          <a:ln w="12700">
            <a:solidFill>
              <a:srgbClr val="DC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2057400"/>
            <a:ext cx="5440680" cy="54864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2084831"/>
            <a:ext cx="5166360" cy="493776"/>
          </a:xfrm>
          <a:prstGeom prst="rect">
            <a:avLst/>
          </a:prstGeom>
          <a:noFill/>
        </p:spPr>
        <p:txBody>
          <a:bodyPr wrap="square" lIns="73152" rIns="73152" anchor="ctr">
            <a:spAutoFit/>
          </a:bodyPr>
          <a:lstStyle/>
          <a:p>
            <a:pPr algn="l">
              <a:lnSpc>
                <a:spcPct val="125000"/>
              </a:lnSpc>
              <a:defRPr sz="1400" b="1">
                <a:solidFill>
                  <a:srgbClr val="FFFFFF"/>
                </a:solidFill>
                <a:latin typeface="Meiryo"/>
              </a:defRPr>
            </a:pPr>
            <a:r>
              <a:rPr dirty="0" err="1"/>
              <a:t>特典</a:t>
            </a:r>
            <a:r>
              <a:rPr dirty="0"/>
              <a:t>①：</a:t>
            </a:r>
            <a:r>
              <a:rPr dirty="0" err="1"/>
              <a:t>友だち追加特典（とりあえず登録してもらうきっかけ用</a:t>
            </a:r>
            <a:r>
              <a:rPr dirty="0"/>
              <a:t>）</a:t>
            </a:r>
          </a:p>
        </p:txBody>
      </p:sp>
      <p:sp>
        <p:nvSpPr>
          <p:cNvPr id="14" name="Rounded Rectangle 13"/>
          <p:cNvSpPr/>
          <p:nvPr/>
        </p:nvSpPr>
        <p:spPr>
          <a:xfrm>
            <a:off x="731520" y="2788920"/>
            <a:ext cx="4892040" cy="1143000"/>
          </a:xfrm>
          <a:prstGeom prst="roundRect">
            <a:avLst/>
          </a:prstGeom>
          <a:solidFill>
            <a:srgbClr val="FDF3F1"/>
          </a:solidFill>
          <a:ln w="15240">
            <a:solidFill>
              <a:srgbClr val="EEA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2852928"/>
            <a:ext cx="4617720" cy="320040"/>
          </a:xfrm>
          <a:prstGeom prst="rect">
            <a:avLst/>
          </a:prstGeom>
          <a:noFill/>
        </p:spPr>
        <p:txBody>
          <a:bodyPr wrap="square" lIns="73152" rIns="73152" anchor="t">
            <a:spAutoFit/>
          </a:bodyPr>
          <a:lstStyle/>
          <a:p>
            <a:pPr algn="ctr">
              <a:lnSpc>
                <a:spcPct val="125000"/>
              </a:lnSpc>
              <a:defRPr sz="1200" b="1">
                <a:solidFill>
                  <a:srgbClr val="DA381E"/>
                </a:solidFill>
                <a:latin typeface="Meiryo"/>
              </a:defRPr>
            </a:pPr>
            <a:r>
              <a:rPr dirty="0"/>
              <a:t>＼ </a:t>
            </a:r>
            <a:r>
              <a:rPr dirty="0" err="1"/>
              <a:t>友だち追加で、その場で使える</a:t>
            </a:r>
            <a:r>
              <a:rPr dirty="0"/>
              <a:t>！ ／</a:t>
            </a:r>
          </a:p>
        </p:txBody>
      </p:sp>
      <p:sp>
        <p:nvSpPr>
          <p:cNvPr id="16" name="TextBox 15"/>
          <p:cNvSpPr txBox="1"/>
          <p:nvPr/>
        </p:nvSpPr>
        <p:spPr>
          <a:xfrm>
            <a:off x="822960" y="3154680"/>
            <a:ext cx="4709160" cy="685800"/>
          </a:xfrm>
          <a:prstGeom prst="rect">
            <a:avLst/>
          </a:prstGeom>
          <a:noFill/>
        </p:spPr>
        <p:txBody>
          <a:bodyPr wrap="square" lIns="73152" rIns="73152" anchor="t">
            <a:spAutoFit/>
          </a:bodyPr>
          <a:lstStyle/>
          <a:p>
            <a:pPr algn="ctr">
              <a:lnSpc>
                <a:spcPct val="125000"/>
              </a:lnSpc>
              <a:defRPr sz="1600" b="1">
                <a:solidFill>
                  <a:srgbClr val="2B2B2B"/>
                </a:solidFill>
                <a:latin typeface="Meiryo"/>
              </a:defRPr>
            </a:pPr>
            <a:r>
              <a:rPr dirty="0"/>
              <a:t>「</a:t>
            </a:r>
            <a:r>
              <a:rPr dirty="0" err="1"/>
              <a:t>いくらの小盛り」または</a:t>
            </a:r>
            <a:br>
              <a:rPr dirty="0"/>
            </a:br>
            <a:r>
              <a:rPr dirty="0"/>
              <a:t>「</a:t>
            </a:r>
            <a:r>
              <a:rPr dirty="0" err="1"/>
              <a:t>カニの身ちょい足し」トッピング無料サービス</a:t>
            </a:r>
            <a:endParaRPr dirty="0"/>
          </a:p>
        </p:txBody>
      </p:sp>
      <p:sp>
        <p:nvSpPr>
          <p:cNvPr id="17" name="TextBox 16"/>
          <p:cNvSpPr txBox="1"/>
          <p:nvPr/>
        </p:nvSpPr>
        <p:spPr>
          <a:xfrm>
            <a:off x="731520" y="4069080"/>
            <a:ext cx="4892040" cy="2194560"/>
          </a:xfrm>
          <a:prstGeom prst="rect">
            <a:avLst/>
          </a:prstGeom>
          <a:noFill/>
        </p:spPr>
        <p:txBody>
          <a:bodyPr wrap="square" lIns="73152" rIns="73152" anchor="t">
            <a:spAutoFit/>
          </a:bodyPr>
          <a:lstStyle/>
          <a:p>
            <a:pPr algn="l">
              <a:lnSpc>
                <a:spcPct val="125000"/>
              </a:lnSpc>
              <a:defRPr sz="1400" b="1">
                <a:solidFill>
                  <a:srgbClr val="DA381E"/>
                </a:solidFill>
                <a:latin typeface="Meiryo"/>
              </a:defRPr>
            </a:pPr>
            <a:r>
              <a:rPr dirty="0"/>
              <a:t>■ </a:t>
            </a:r>
            <a:r>
              <a:rPr dirty="0" err="1"/>
              <a:t>施策の狙いとメリット</a:t>
            </a:r>
            <a:endParaRPr dirty="0"/>
          </a:p>
          <a:p>
            <a:pPr algn="l">
              <a:lnSpc>
                <a:spcPct val="130000"/>
              </a:lnSpc>
              <a:spcBef>
                <a:spcPts val="800"/>
              </a:spcBef>
              <a:spcAft>
                <a:spcPts val="200"/>
              </a:spcAft>
              <a:defRPr sz="1250" b="0">
                <a:solidFill>
                  <a:srgbClr val="2B2B2B"/>
                </a:solidFill>
                <a:latin typeface="Meiryo"/>
              </a:defRPr>
            </a:pPr>
            <a:r>
              <a:rPr dirty="0"/>
              <a:t>・</a:t>
            </a:r>
            <a:r>
              <a:rPr dirty="0" err="1"/>
              <a:t>登録ハードルの突破（即効性</a:t>
            </a:r>
            <a:r>
              <a:rPr dirty="0"/>
              <a:t>）：</a:t>
            </a:r>
            <a:br>
              <a:rPr dirty="0"/>
            </a:br>
            <a:r>
              <a:rPr dirty="0"/>
              <a:t>　</a:t>
            </a:r>
            <a:r>
              <a:rPr dirty="0" err="1"/>
              <a:t>お客様は「いつか届くクーポン」だけでは登録してくれません</a:t>
            </a:r>
            <a:r>
              <a:rPr dirty="0"/>
              <a:t>。「</a:t>
            </a:r>
            <a:r>
              <a:rPr dirty="0" err="1"/>
              <a:t>今すぐ目の前の食事が豪華になる」即効性のあるメリットで登録率を最大化します</a:t>
            </a:r>
            <a:r>
              <a:rPr dirty="0"/>
              <a:t>。</a:t>
            </a:r>
          </a:p>
          <a:p>
            <a:pPr algn="l">
              <a:lnSpc>
                <a:spcPct val="130000"/>
              </a:lnSpc>
              <a:spcBef>
                <a:spcPts val="800"/>
              </a:spcBef>
              <a:spcAft>
                <a:spcPts val="200"/>
              </a:spcAft>
              <a:defRPr sz="1250" b="0">
                <a:solidFill>
                  <a:srgbClr val="2B2B2B"/>
                </a:solidFill>
                <a:latin typeface="Meiryo"/>
              </a:defRPr>
            </a:pPr>
            <a:r>
              <a:rPr dirty="0"/>
              <a:t>・</a:t>
            </a:r>
            <a:r>
              <a:rPr dirty="0" err="1"/>
              <a:t>既存SNS特典との明確な棲み分け</a:t>
            </a:r>
            <a:r>
              <a:rPr dirty="0"/>
              <a:t>：</a:t>
            </a:r>
            <a:br>
              <a:rPr dirty="0"/>
            </a:br>
            <a:r>
              <a:rPr dirty="0"/>
              <a:t>　デザート系特典（既存SNS）に対し、看板メニューである海鮮丼を直接グレードアップできる特典にすることで、海鮮目当てのお客様に強く響きます。</a:t>
            </a:r>
          </a:p>
        </p:txBody>
      </p:sp>
      <p:sp>
        <p:nvSpPr>
          <p:cNvPr id="18" name="Rounded Rectangle 17"/>
          <p:cNvSpPr/>
          <p:nvPr/>
        </p:nvSpPr>
        <p:spPr>
          <a:xfrm>
            <a:off x="6293815" y="2057400"/>
            <a:ext cx="5440680" cy="4434840"/>
          </a:xfrm>
          <a:prstGeom prst="roundRect">
            <a:avLst/>
          </a:prstGeom>
          <a:solidFill>
            <a:srgbClr val="FFFFFF"/>
          </a:solidFill>
          <a:ln w="12700">
            <a:solidFill>
              <a:srgbClr val="DC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93815" y="2057400"/>
            <a:ext cx="5440680" cy="548640"/>
          </a:xfrm>
          <a:prstGeom prst="rect">
            <a:avLst/>
          </a:prstGeom>
          <a:solidFill>
            <a:srgbClr val="049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30975" y="2084831"/>
            <a:ext cx="5166360" cy="493776"/>
          </a:xfrm>
          <a:prstGeom prst="rect">
            <a:avLst/>
          </a:prstGeom>
          <a:noFill/>
        </p:spPr>
        <p:txBody>
          <a:bodyPr wrap="square" lIns="73152" rIns="73152" anchor="ctr">
            <a:spAutoFit/>
          </a:bodyPr>
          <a:lstStyle/>
          <a:p>
            <a:pPr algn="l">
              <a:lnSpc>
                <a:spcPct val="125000"/>
              </a:lnSpc>
              <a:defRPr sz="1400" b="1">
                <a:solidFill>
                  <a:srgbClr val="FFFFFF"/>
                </a:solidFill>
                <a:latin typeface="Meiryo"/>
              </a:defRPr>
            </a:pPr>
            <a:r>
              <a:rPr dirty="0" err="1"/>
              <a:t>特典</a:t>
            </a:r>
            <a:r>
              <a:rPr dirty="0"/>
              <a:t>②：</a:t>
            </a:r>
            <a:r>
              <a:rPr dirty="0" err="1"/>
              <a:t>LINEショップカード（単価アップ・リピート育成用</a:t>
            </a:r>
            <a:r>
              <a:rPr dirty="0"/>
              <a:t>）</a:t>
            </a:r>
          </a:p>
        </p:txBody>
      </p:sp>
      <p:sp>
        <p:nvSpPr>
          <p:cNvPr id="21" name="Rounded Rectangle 20"/>
          <p:cNvSpPr/>
          <p:nvPr/>
        </p:nvSpPr>
        <p:spPr>
          <a:xfrm>
            <a:off x="6568135" y="2788920"/>
            <a:ext cx="4892040" cy="1143000"/>
          </a:xfrm>
          <a:prstGeom prst="roundRect">
            <a:avLst/>
          </a:prstGeom>
          <a:solidFill>
            <a:srgbClr val="EEFAF2"/>
          </a:solidFill>
          <a:ln w="15240">
            <a:solidFill>
              <a:srgbClr val="06C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05295" y="2852928"/>
            <a:ext cx="4617720" cy="320040"/>
          </a:xfrm>
          <a:prstGeom prst="rect">
            <a:avLst/>
          </a:prstGeom>
          <a:noFill/>
        </p:spPr>
        <p:txBody>
          <a:bodyPr wrap="square" lIns="73152" rIns="73152" anchor="t">
            <a:spAutoFit/>
          </a:bodyPr>
          <a:lstStyle/>
          <a:p>
            <a:pPr algn="ctr">
              <a:lnSpc>
                <a:spcPct val="125000"/>
              </a:lnSpc>
              <a:defRPr sz="1200" b="1">
                <a:solidFill>
                  <a:srgbClr val="049B41"/>
                </a:solidFill>
                <a:latin typeface="Meiryo"/>
              </a:defRPr>
            </a:pPr>
            <a:r>
              <a:rPr dirty="0"/>
              <a:t>＼ </a:t>
            </a:r>
            <a:r>
              <a:rPr dirty="0" err="1"/>
              <a:t>スマホがそのままスタンプカードに</a:t>
            </a:r>
            <a:r>
              <a:rPr dirty="0"/>
              <a:t>！ ／</a:t>
            </a:r>
          </a:p>
        </p:txBody>
      </p:sp>
      <p:sp>
        <p:nvSpPr>
          <p:cNvPr id="23" name="TextBox 22"/>
          <p:cNvSpPr txBox="1"/>
          <p:nvPr/>
        </p:nvSpPr>
        <p:spPr>
          <a:xfrm>
            <a:off x="6659575" y="3131820"/>
            <a:ext cx="4709160" cy="685800"/>
          </a:xfrm>
          <a:prstGeom prst="rect">
            <a:avLst/>
          </a:prstGeom>
          <a:noFill/>
        </p:spPr>
        <p:txBody>
          <a:bodyPr wrap="square" lIns="73152" rIns="73152" anchor="t">
            <a:spAutoFit/>
          </a:bodyPr>
          <a:lstStyle/>
          <a:p>
            <a:pPr algn="ctr">
              <a:lnSpc>
                <a:spcPct val="125000"/>
              </a:lnSpc>
              <a:defRPr sz="1550" b="1">
                <a:solidFill>
                  <a:srgbClr val="2B2B2B"/>
                </a:solidFill>
                <a:latin typeface="Meiryo"/>
              </a:defRPr>
            </a:pPr>
            <a:r>
              <a:rPr dirty="0"/>
              <a:t>お会計1,000円ごとにスタンプ1個付与</a:t>
            </a:r>
            <a:br>
              <a:rPr dirty="0"/>
            </a:br>
            <a:r>
              <a:rPr dirty="0"/>
              <a:t>カード1枚（10個）たまるとお会計から 500円引き！</a:t>
            </a:r>
          </a:p>
        </p:txBody>
      </p:sp>
      <p:sp>
        <p:nvSpPr>
          <p:cNvPr id="24" name="Rounded Rectangle 23"/>
          <p:cNvSpPr/>
          <p:nvPr/>
        </p:nvSpPr>
        <p:spPr>
          <a:xfrm>
            <a:off x="6568135" y="4096512"/>
            <a:ext cx="4892040" cy="2176272"/>
          </a:xfrm>
          <a:prstGeom prst="roundRect">
            <a:avLst/>
          </a:prstGeom>
          <a:solidFill>
            <a:srgbClr val="FFF8E6"/>
          </a:solidFill>
          <a:ln w="12700">
            <a:solidFill>
              <a:srgbClr val="E6B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05295" y="4160520"/>
            <a:ext cx="4617720" cy="2057400"/>
          </a:xfrm>
          <a:prstGeom prst="rect">
            <a:avLst/>
          </a:prstGeom>
          <a:noFill/>
        </p:spPr>
        <p:txBody>
          <a:bodyPr wrap="square" lIns="73152" rIns="73152" anchor="t">
            <a:spAutoFit/>
          </a:bodyPr>
          <a:lstStyle/>
          <a:p>
            <a:pPr algn="l">
              <a:lnSpc>
                <a:spcPct val="125000"/>
              </a:lnSpc>
              <a:defRPr sz="1300" b="1">
                <a:solidFill>
                  <a:srgbClr val="2B2B2B"/>
                </a:solidFill>
                <a:latin typeface="Meiryo"/>
              </a:defRPr>
            </a:pPr>
            <a:r>
              <a:rPr dirty="0"/>
              <a:t>■ ホットペッパーグルメ（1万円以上で5%OFF）との棲み分け</a:t>
            </a:r>
          </a:p>
          <a:p>
            <a:pPr algn="l">
              <a:lnSpc>
                <a:spcPct val="125000"/>
              </a:lnSpc>
              <a:spcBef>
                <a:spcPts val="400"/>
              </a:spcBef>
              <a:spcAft>
                <a:spcPts val="200"/>
              </a:spcAft>
              <a:defRPr sz="1150" b="0">
                <a:solidFill>
                  <a:srgbClr val="5F5F5F"/>
                </a:solidFill>
                <a:latin typeface="Meiryo"/>
              </a:defRPr>
            </a:pPr>
            <a:r>
              <a:rPr dirty="0"/>
              <a:t>還元額（1万円で500円相当）は同じですが、ターゲットと目的が全く異なります。</a:t>
            </a:r>
          </a:p>
          <a:p>
            <a:pPr algn="l">
              <a:lnSpc>
                <a:spcPct val="125000"/>
              </a:lnSpc>
              <a:spcBef>
                <a:spcPts val="600"/>
              </a:spcBef>
              <a:spcAft>
                <a:spcPts val="200"/>
              </a:spcAft>
              <a:defRPr sz="1200" b="1">
                <a:solidFill>
                  <a:srgbClr val="2B2B2B"/>
                </a:solidFill>
                <a:latin typeface="Meiryo"/>
              </a:defRPr>
            </a:pPr>
            <a:r>
              <a:rPr dirty="0"/>
              <a:t>・</a:t>
            </a:r>
            <a:r>
              <a:rPr dirty="0" err="1"/>
              <a:t>ホットペッパ</a:t>
            </a:r>
            <a:r>
              <a:rPr dirty="0"/>
              <a:t>ー：1回で1万円以上使う【まとめ買い・客単価アップ】用</a:t>
            </a:r>
          </a:p>
          <a:p>
            <a:pPr algn="l">
              <a:lnSpc>
                <a:spcPct val="125000"/>
              </a:lnSpc>
              <a:spcBef>
                <a:spcPts val="600"/>
              </a:spcBef>
              <a:spcAft>
                <a:spcPts val="200"/>
              </a:spcAft>
              <a:defRPr sz="1200" b="1">
                <a:solidFill>
                  <a:srgbClr val="DA381E"/>
                </a:solidFill>
                <a:latin typeface="Meiryo"/>
              </a:defRPr>
            </a:pPr>
            <a:r>
              <a:rPr dirty="0"/>
              <a:t>・LINEスタンプ：毎回1,000円〜数千円のお客様に何度も通ってもらう【リピーター育成・お土産購入促進】用</a:t>
            </a:r>
          </a:p>
          <a:p>
            <a:pPr algn="l">
              <a:lnSpc>
                <a:spcPct val="125000"/>
              </a:lnSpc>
              <a:spcBef>
                <a:spcPts val="600"/>
              </a:spcBef>
              <a:spcAft>
                <a:spcPts val="200"/>
              </a:spcAft>
              <a:defRPr sz="1150" b="1">
                <a:solidFill>
                  <a:srgbClr val="049B41"/>
                </a:solidFill>
                <a:latin typeface="Meiryo"/>
              </a:defRPr>
            </a:pPr>
            <a:r>
              <a:rPr dirty="0"/>
              <a:t>⇒ 1回の高額決済と、少額の反復来店を両方カバーできる隙のない設計です。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F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DA3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
            <a:ext cx="12191695" cy="777240"/>
          </a:xfrm>
          <a:prstGeom prst="rect">
            <a:avLst/>
          </a:prstGeom>
          <a:solidFill>
            <a:srgbClr val="FFFFFF"/>
          </a:solidFill>
          <a:ln w="9525">
            <a:solidFill>
              <a:srgbClr val="DC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37744"/>
            <a:ext cx="594360" cy="502920"/>
          </a:xfrm>
          <a:prstGeom prst="roundRect">
            <a:avLst/>
          </a:prstGeom>
          <a:solidFill>
            <a:srgbClr val="DA3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Meiryo"/>
              </a:defRPr>
            </a:pPr>
            <a:r>
              <a:t>02</a:t>
            </a:r>
          </a:p>
        </p:txBody>
      </p:sp>
      <p:sp>
        <p:nvSpPr>
          <p:cNvPr id="5" name="TextBox 4"/>
          <p:cNvSpPr txBox="1"/>
          <p:nvPr/>
        </p:nvSpPr>
        <p:spPr>
          <a:xfrm>
            <a:off x="1188720" y="219456"/>
            <a:ext cx="9326880" cy="548640"/>
          </a:xfrm>
          <a:prstGeom prst="rect">
            <a:avLst/>
          </a:prstGeom>
          <a:noFill/>
        </p:spPr>
        <p:txBody>
          <a:bodyPr wrap="square" lIns="73152" rIns="73152" anchor="ctr">
            <a:spAutoFit/>
          </a:bodyPr>
          <a:lstStyle/>
          <a:p>
            <a:pPr algn="l">
              <a:lnSpc>
                <a:spcPct val="125000"/>
              </a:lnSpc>
              <a:defRPr sz="2100" b="1">
                <a:solidFill>
                  <a:srgbClr val="2B2B2B"/>
                </a:solidFill>
                <a:latin typeface="Meiryo"/>
              </a:defRPr>
            </a:pPr>
            <a:r>
              <a:rPr dirty="0" err="1"/>
              <a:t>LINEならではの配信内容と、運用体制（役割分担）のご提案</a:t>
            </a:r>
            <a:endParaRPr dirty="0"/>
          </a:p>
        </p:txBody>
      </p:sp>
      <p:sp>
        <p:nvSpPr>
          <p:cNvPr id="6" name="TextBox 5"/>
          <p:cNvSpPr txBox="1"/>
          <p:nvPr/>
        </p:nvSpPr>
        <p:spPr>
          <a:xfrm>
            <a:off x="10789920" y="274320"/>
            <a:ext cx="914400" cy="411480"/>
          </a:xfrm>
          <a:prstGeom prst="rect">
            <a:avLst/>
          </a:prstGeom>
          <a:noFill/>
        </p:spPr>
        <p:txBody>
          <a:bodyPr wrap="square" lIns="73152" rIns="73152" anchor="ctr">
            <a:spAutoFit/>
          </a:bodyPr>
          <a:lstStyle/>
          <a:p>
            <a:pPr algn="r">
              <a:lnSpc>
                <a:spcPct val="125000"/>
              </a:lnSpc>
              <a:defRPr sz="1300" b="1">
                <a:solidFill>
                  <a:srgbClr val="5F5F5F"/>
                </a:solidFill>
                <a:latin typeface="Meiryo"/>
              </a:defRPr>
            </a:pPr>
            <a:r>
              <a:t>3 / 5</a:t>
            </a:r>
          </a:p>
        </p:txBody>
      </p:sp>
      <p:sp>
        <p:nvSpPr>
          <p:cNvPr id="7" name="Rounded Rectangle 6"/>
          <p:cNvSpPr/>
          <p:nvPr/>
        </p:nvSpPr>
        <p:spPr>
          <a:xfrm>
            <a:off x="457200" y="1051560"/>
            <a:ext cx="11277295" cy="2331720"/>
          </a:xfrm>
          <a:prstGeom prst="roundRect">
            <a:avLst/>
          </a:prstGeom>
          <a:solidFill>
            <a:srgbClr val="FFFFFF"/>
          </a:solidFill>
          <a:ln w="12700">
            <a:solidFill>
              <a:srgbClr val="DC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051560"/>
            <a:ext cx="137160" cy="2331720"/>
          </a:xfrm>
          <a:prstGeom prst="rect">
            <a:avLst/>
          </a:prstGeom>
          <a:solidFill>
            <a:srgbClr val="DA3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143000"/>
            <a:ext cx="10698480" cy="365760"/>
          </a:xfrm>
          <a:prstGeom prst="rect">
            <a:avLst/>
          </a:prstGeom>
          <a:noFill/>
        </p:spPr>
        <p:txBody>
          <a:bodyPr wrap="square" lIns="73152" rIns="73152" anchor="t">
            <a:spAutoFit/>
          </a:bodyPr>
          <a:lstStyle/>
          <a:p>
            <a:pPr algn="l">
              <a:lnSpc>
                <a:spcPct val="125000"/>
              </a:lnSpc>
              <a:defRPr sz="1600" b="1">
                <a:solidFill>
                  <a:srgbClr val="2B2B2B"/>
                </a:solidFill>
                <a:latin typeface="Meiryo"/>
              </a:defRPr>
            </a:pPr>
            <a:r>
              <a:rPr dirty="0"/>
              <a:t>■ </a:t>
            </a:r>
            <a:r>
              <a:rPr dirty="0" err="1"/>
              <a:t>海鮮業態ならではの「ライブ感」を活かしたLINE限定配信</a:t>
            </a:r>
            <a:endParaRPr dirty="0"/>
          </a:p>
        </p:txBody>
      </p:sp>
      <p:sp>
        <p:nvSpPr>
          <p:cNvPr id="10" name="TextBox 9"/>
          <p:cNvSpPr txBox="1"/>
          <p:nvPr/>
        </p:nvSpPr>
        <p:spPr>
          <a:xfrm>
            <a:off x="777240" y="1481328"/>
            <a:ext cx="10698480" cy="320040"/>
          </a:xfrm>
          <a:prstGeom prst="rect">
            <a:avLst/>
          </a:prstGeom>
          <a:noFill/>
        </p:spPr>
        <p:txBody>
          <a:bodyPr wrap="square" lIns="73152" rIns="73152" anchor="t">
            <a:spAutoFit/>
          </a:bodyPr>
          <a:lstStyle/>
          <a:p>
            <a:pPr algn="l">
              <a:lnSpc>
                <a:spcPct val="125000"/>
              </a:lnSpc>
              <a:defRPr sz="1250" b="0">
                <a:solidFill>
                  <a:srgbClr val="5F5F5F"/>
                </a:solidFill>
                <a:latin typeface="Meiryo"/>
              </a:defRPr>
            </a:pPr>
            <a:r>
              <a:rPr dirty="0"/>
              <a:t>LINEの強みである「リアルタイム通知」を活かし、他媒体（朝10時までの来店特典など）と被らない、市場のようなワクワク感を配信します。</a:t>
            </a:r>
          </a:p>
        </p:txBody>
      </p:sp>
      <p:sp>
        <p:nvSpPr>
          <p:cNvPr id="11" name="Rounded Rectangle 10"/>
          <p:cNvSpPr/>
          <p:nvPr/>
        </p:nvSpPr>
        <p:spPr>
          <a:xfrm>
            <a:off x="777240" y="1901952"/>
            <a:ext cx="5166360" cy="1298448"/>
          </a:xfrm>
          <a:prstGeom prst="roundRect">
            <a:avLst/>
          </a:prstGeom>
          <a:solidFill>
            <a:srgbClr val="FDF3F1"/>
          </a:solidFill>
          <a:ln w="12700">
            <a:solidFill>
              <a:srgbClr val="EEA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1965960"/>
            <a:ext cx="4800600" cy="1188720"/>
          </a:xfrm>
          <a:prstGeom prst="rect">
            <a:avLst/>
          </a:prstGeom>
          <a:noFill/>
        </p:spPr>
        <p:txBody>
          <a:bodyPr wrap="square" lIns="73152" rIns="73152" anchor="t">
            <a:spAutoFit/>
          </a:bodyPr>
          <a:lstStyle/>
          <a:p>
            <a:pPr algn="l">
              <a:lnSpc>
                <a:spcPct val="125000"/>
              </a:lnSpc>
              <a:defRPr sz="1400" b="1">
                <a:solidFill>
                  <a:srgbClr val="DA381E"/>
                </a:solidFill>
                <a:latin typeface="Meiryo"/>
              </a:defRPr>
            </a:pPr>
            <a:r>
              <a:rPr dirty="0"/>
              <a:t>① </a:t>
            </a:r>
            <a:r>
              <a:rPr dirty="0" err="1"/>
              <a:t>既存特典のゲリラアップグレード</a:t>
            </a:r>
            <a:endParaRPr dirty="0"/>
          </a:p>
          <a:p>
            <a:pPr algn="l">
              <a:lnSpc>
                <a:spcPct val="125000"/>
              </a:lnSpc>
              <a:spcBef>
                <a:spcPts val="600"/>
              </a:spcBef>
              <a:spcAft>
                <a:spcPts val="200"/>
              </a:spcAft>
              <a:defRPr sz="1200" b="0">
                <a:solidFill>
                  <a:srgbClr val="2B2B2B"/>
                </a:solidFill>
                <a:latin typeface="Meiryo"/>
              </a:defRPr>
            </a:pPr>
            <a:r>
              <a:rPr dirty="0"/>
              <a:t>「</a:t>
            </a:r>
            <a:r>
              <a:rPr dirty="0" err="1"/>
              <a:t>本日はLINE友だち限定で、カニ身ちょい足しを【倍量】にします</a:t>
            </a:r>
            <a:r>
              <a:rPr dirty="0"/>
              <a:t>！」</a:t>
            </a:r>
            <a:r>
              <a:rPr dirty="0" err="1"/>
              <a:t>など、すでに店舗にあるトッピング食材を活かして特別感を演出。新たな食材準備なしで即実行できます</a:t>
            </a:r>
            <a:r>
              <a:rPr dirty="0"/>
              <a:t>。</a:t>
            </a:r>
          </a:p>
        </p:txBody>
      </p:sp>
      <p:sp>
        <p:nvSpPr>
          <p:cNvPr id="13" name="Rounded Rectangle 12"/>
          <p:cNvSpPr/>
          <p:nvPr/>
        </p:nvSpPr>
        <p:spPr>
          <a:xfrm>
            <a:off x="6217920" y="1901952"/>
            <a:ext cx="5166360" cy="1298448"/>
          </a:xfrm>
          <a:prstGeom prst="roundRect">
            <a:avLst/>
          </a:prstGeom>
          <a:solidFill>
            <a:srgbClr val="FDF3F1"/>
          </a:solidFill>
          <a:ln w="12700">
            <a:solidFill>
              <a:srgbClr val="EEA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965960"/>
            <a:ext cx="4800600" cy="1188720"/>
          </a:xfrm>
          <a:prstGeom prst="rect">
            <a:avLst/>
          </a:prstGeom>
          <a:noFill/>
        </p:spPr>
        <p:txBody>
          <a:bodyPr wrap="square" lIns="73152" rIns="73152" anchor="t">
            <a:spAutoFit/>
          </a:bodyPr>
          <a:lstStyle/>
          <a:p>
            <a:pPr algn="l">
              <a:lnSpc>
                <a:spcPct val="125000"/>
              </a:lnSpc>
              <a:defRPr sz="1400" b="1">
                <a:solidFill>
                  <a:srgbClr val="DA381E"/>
                </a:solidFill>
                <a:latin typeface="Meiryo"/>
              </a:defRPr>
            </a:pPr>
            <a:r>
              <a:rPr dirty="0"/>
              <a:t>② 「</a:t>
            </a:r>
            <a:r>
              <a:rPr dirty="0" err="1"/>
              <a:t>本日の特別な仕入れ」のお知らせ</a:t>
            </a:r>
            <a:endParaRPr dirty="0"/>
          </a:p>
          <a:p>
            <a:pPr algn="l">
              <a:lnSpc>
                <a:spcPct val="125000"/>
              </a:lnSpc>
              <a:spcBef>
                <a:spcPts val="600"/>
              </a:spcBef>
              <a:spcAft>
                <a:spcPts val="200"/>
              </a:spcAft>
              <a:defRPr sz="1200" b="0">
                <a:solidFill>
                  <a:srgbClr val="2B2B2B"/>
                </a:solidFill>
                <a:latin typeface="Meiryo"/>
              </a:defRPr>
            </a:pPr>
            <a:r>
              <a:rPr dirty="0"/>
              <a:t>その日の市場の仕入れ状況や、早く売り切りたいおすすめ食材に合わせて鮮度の高いお得情報をリアルタイム配信。お客様の来店動機を作ると同時に食材ロス削減にも貢献します。</a:t>
            </a:r>
          </a:p>
        </p:txBody>
      </p:sp>
      <p:sp>
        <p:nvSpPr>
          <p:cNvPr id="15" name="TextBox 14"/>
          <p:cNvSpPr txBox="1"/>
          <p:nvPr/>
        </p:nvSpPr>
        <p:spPr>
          <a:xfrm>
            <a:off x="457200" y="3547872"/>
            <a:ext cx="11277295" cy="365760"/>
          </a:xfrm>
          <a:prstGeom prst="rect">
            <a:avLst/>
          </a:prstGeom>
          <a:noFill/>
        </p:spPr>
        <p:txBody>
          <a:bodyPr wrap="square" lIns="73152" rIns="73152" anchor="t">
            <a:spAutoFit/>
          </a:bodyPr>
          <a:lstStyle/>
          <a:p>
            <a:pPr algn="l">
              <a:lnSpc>
                <a:spcPct val="125000"/>
              </a:lnSpc>
              <a:defRPr sz="1600" b="1">
                <a:solidFill>
                  <a:srgbClr val="2B2B2B"/>
                </a:solidFill>
                <a:latin typeface="Meiryo"/>
              </a:defRPr>
            </a:pPr>
            <a:r>
              <a:rPr dirty="0"/>
              <a:t>■ クーポン・お得情報の配布方法と「2パターンの役割分担」</a:t>
            </a:r>
          </a:p>
        </p:txBody>
      </p:sp>
      <p:sp>
        <p:nvSpPr>
          <p:cNvPr id="16" name="TextBox 15"/>
          <p:cNvSpPr txBox="1"/>
          <p:nvPr/>
        </p:nvSpPr>
        <p:spPr>
          <a:xfrm>
            <a:off x="457200" y="3867912"/>
            <a:ext cx="11277295" cy="320040"/>
          </a:xfrm>
          <a:prstGeom prst="rect">
            <a:avLst/>
          </a:prstGeom>
          <a:noFill/>
        </p:spPr>
        <p:txBody>
          <a:bodyPr wrap="square" lIns="73152" rIns="73152" anchor="t">
            <a:spAutoFit/>
          </a:bodyPr>
          <a:lstStyle/>
          <a:p>
            <a:pPr algn="l">
              <a:lnSpc>
                <a:spcPct val="125000"/>
              </a:lnSpc>
              <a:defRPr sz="1250" b="0">
                <a:solidFill>
                  <a:srgbClr val="5F5F5F"/>
                </a:solidFill>
                <a:latin typeface="Meiryo"/>
              </a:defRPr>
            </a:pPr>
            <a:r>
              <a:rPr dirty="0"/>
              <a:t>友だち追加特典やスタンプ満了特典はシステムから【自動配布】されますが、日頃の配信は内容に応じて店舗様と弊社で分担するのが最もスムーズです。</a:t>
            </a:r>
          </a:p>
        </p:txBody>
      </p:sp>
      <p:sp>
        <p:nvSpPr>
          <p:cNvPr id="17" name="Rounded Rectangle 16"/>
          <p:cNvSpPr/>
          <p:nvPr/>
        </p:nvSpPr>
        <p:spPr>
          <a:xfrm>
            <a:off x="457200" y="4279392"/>
            <a:ext cx="5440680" cy="2240280"/>
          </a:xfrm>
          <a:prstGeom prst="roundRect">
            <a:avLst/>
          </a:prstGeom>
          <a:solidFill>
            <a:srgbClr val="FFFFFF"/>
          </a:solidFill>
          <a:ln w="19050">
            <a:solidFill>
              <a:srgbClr val="DA38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4279392"/>
            <a:ext cx="5440680" cy="475488"/>
          </a:xfrm>
          <a:prstGeom prst="rect">
            <a:avLst/>
          </a:prstGeom>
          <a:solidFill>
            <a:srgbClr val="DA3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4297680"/>
            <a:ext cx="5166360" cy="438912"/>
          </a:xfrm>
          <a:prstGeom prst="rect">
            <a:avLst/>
          </a:prstGeom>
          <a:noFill/>
        </p:spPr>
        <p:txBody>
          <a:bodyPr wrap="square" lIns="73152" rIns="73152" anchor="ctr">
            <a:spAutoFit/>
          </a:bodyPr>
          <a:lstStyle/>
          <a:p>
            <a:pPr algn="l">
              <a:lnSpc>
                <a:spcPct val="125000"/>
              </a:lnSpc>
              <a:defRPr sz="1400" b="1">
                <a:solidFill>
                  <a:srgbClr val="FFFFFF"/>
                </a:solidFill>
                <a:latin typeface="Meiryo"/>
              </a:defRPr>
            </a:pPr>
            <a:r>
              <a:rPr dirty="0" err="1"/>
              <a:t>パターン</a:t>
            </a:r>
            <a:r>
              <a:rPr dirty="0"/>
              <a:t>①：</a:t>
            </a:r>
            <a:r>
              <a:rPr dirty="0" err="1"/>
              <a:t>お店のスタッフ様（店長様など）が配るケース</a:t>
            </a:r>
            <a:endParaRPr dirty="0"/>
          </a:p>
        </p:txBody>
      </p:sp>
      <p:sp>
        <p:nvSpPr>
          <p:cNvPr id="20" name="TextBox 19"/>
          <p:cNvSpPr txBox="1"/>
          <p:nvPr/>
        </p:nvSpPr>
        <p:spPr>
          <a:xfrm>
            <a:off x="685800" y="4846320"/>
            <a:ext cx="4983480" cy="1554480"/>
          </a:xfrm>
          <a:prstGeom prst="rect">
            <a:avLst/>
          </a:prstGeom>
          <a:noFill/>
        </p:spPr>
        <p:txBody>
          <a:bodyPr wrap="square" lIns="73152" rIns="73152" anchor="t">
            <a:spAutoFit/>
          </a:bodyPr>
          <a:lstStyle/>
          <a:p>
            <a:pPr algn="l">
              <a:lnSpc>
                <a:spcPct val="125000"/>
              </a:lnSpc>
              <a:defRPr sz="1300" b="1">
                <a:solidFill>
                  <a:srgbClr val="DA381E"/>
                </a:solidFill>
                <a:latin typeface="Meiryo"/>
              </a:defRPr>
            </a:pPr>
            <a:r>
              <a:t>【対象】現場の状況に合わせた「突発的・リアルタイムな配信」</a:t>
            </a:r>
          </a:p>
          <a:p>
            <a:pPr algn="l">
              <a:lnSpc>
                <a:spcPct val="125000"/>
              </a:lnSpc>
              <a:spcBef>
                <a:spcPts val="600"/>
              </a:spcBef>
              <a:spcAft>
                <a:spcPts val="200"/>
              </a:spcAft>
              <a:defRPr sz="1200" b="0">
                <a:solidFill>
                  <a:srgbClr val="2B2B2B"/>
                </a:solidFill>
                <a:latin typeface="Meiryo"/>
              </a:defRPr>
            </a:pPr>
            <a:r>
              <a:t>・「今日はカニの入荷が多いから夕方限定で安くしよう」「急な悪天候だから来店特典を出そう」といったライブ配信は、お店の方が行うのが一番スムーズです。</a:t>
            </a:r>
          </a:p>
          <a:p>
            <a:pPr algn="l">
              <a:lnSpc>
                <a:spcPct val="125000"/>
              </a:lnSpc>
              <a:spcBef>
                <a:spcPts val="600"/>
              </a:spcBef>
              <a:spcAft>
                <a:spcPts val="200"/>
              </a:spcAft>
              <a:defRPr sz="1200" b="1">
                <a:solidFill>
                  <a:srgbClr val="2B2B2B"/>
                </a:solidFill>
                <a:latin typeface="Meiryo"/>
              </a:defRPr>
            </a:pPr>
            <a:r>
              <a:t>・スマホに「LINE公式アカウント」の管理アプリを入れておけば、普段のSNSを投稿する感覚で、現場から1〜2分で簡単に一斉送信できます。</a:t>
            </a:r>
          </a:p>
        </p:txBody>
      </p:sp>
      <p:sp>
        <p:nvSpPr>
          <p:cNvPr id="21" name="Rounded Rectangle 20"/>
          <p:cNvSpPr/>
          <p:nvPr/>
        </p:nvSpPr>
        <p:spPr>
          <a:xfrm>
            <a:off x="6293815" y="4279392"/>
            <a:ext cx="5440680" cy="2240280"/>
          </a:xfrm>
          <a:prstGeom prst="roundRect">
            <a:avLst/>
          </a:prstGeom>
          <a:solidFill>
            <a:srgbClr val="FFFFFF"/>
          </a:solidFill>
          <a:ln w="19050">
            <a:solidFill>
              <a:srgbClr val="2B2B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3815" y="4279392"/>
            <a:ext cx="5440680" cy="475488"/>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30975" y="4297680"/>
            <a:ext cx="5166360" cy="438912"/>
          </a:xfrm>
          <a:prstGeom prst="rect">
            <a:avLst/>
          </a:prstGeom>
          <a:noFill/>
        </p:spPr>
        <p:txBody>
          <a:bodyPr wrap="square" lIns="73152" rIns="73152" anchor="ctr">
            <a:spAutoFit/>
          </a:bodyPr>
          <a:lstStyle/>
          <a:p>
            <a:pPr algn="l">
              <a:lnSpc>
                <a:spcPct val="125000"/>
              </a:lnSpc>
              <a:defRPr sz="1400" b="1">
                <a:solidFill>
                  <a:srgbClr val="FFFFFF"/>
                </a:solidFill>
                <a:latin typeface="Meiryo"/>
              </a:defRPr>
            </a:pPr>
            <a:r>
              <a:rPr dirty="0" err="1"/>
              <a:t>パターン</a:t>
            </a:r>
            <a:r>
              <a:rPr dirty="0"/>
              <a:t>②：</a:t>
            </a:r>
            <a:r>
              <a:rPr dirty="0" err="1"/>
              <a:t>Web運用担当者（弊社）が配るケース</a:t>
            </a:r>
            <a:endParaRPr dirty="0"/>
          </a:p>
        </p:txBody>
      </p:sp>
      <p:sp>
        <p:nvSpPr>
          <p:cNvPr id="24" name="TextBox 23"/>
          <p:cNvSpPr txBox="1"/>
          <p:nvPr/>
        </p:nvSpPr>
        <p:spPr>
          <a:xfrm>
            <a:off x="6522415" y="4846320"/>
            <a:ext cx="4983480" cy="1554480"/>
          </a:xfrm>
          <a:prstGeom prst="rect">
            <a:avLst/>
          </a:prstGeom>
          <a:noFill/>
        </p:spPr>
        <p:txBody>
          <a:bodyPr wrap="square" lIns="73152" rIns="73152" anchor="t">
            <a:spAutoFit/>
          </a:bodyPr>
          <a:lstStyle/>
          <a:p>
            <a:pPr algn="l">
              <a:lnSpc>
                <a:spcPct val="125000"/>
              </a:lnSpc>
              <a:defRPr sz="1300" b="1">
                <a:solidFill>
                  <a:srgbClr val="2B2B2B"/>
                </a:solidFill>
                <a:latin typeface="Meiryo"/>
              </a:defRPr>
            </a:pPr>
            <a:r>
              <a:t>【対象】あらかじめ予定が決まっている「計画的・定期的な配信」</a:t>
            </a:r>
          </a:p>
          <a:p>
            <a:pPr algn="l">
              <a:lnSpc>
                <a:spcPct val="125000"/>
              </a:lnSpc>
              <a:spcBef>
                <a:spcPts val="600"/>
              </a:spcBef>
              <a:spcAft>
                <a:spcPts val="200"/>
              </a:spcAft>
              <a:defRPr sz="1200" b="0">
                <a:solidFill>
                  <a:srgbClr val="2B2B2B"/>
                </a:solidFill>
                <a:latin typeface="Meiryo"/>
              </a:defRPr>
            </a:pPr>
            <a:r>
              <a:t>・「毎月〇日の定期配信」や「年末年始・季節のキャンペーン」など、事前にスケジュールが決まっているものが対象です。</a:t>
            </a:r>
          </a:p>
          <a:p>
            <a:pPr algn="l">
              <a:lnSpc>
                <a:spcPct val="125000"/>
              </a:lnSpc>
              <a:spcBef>
                <a:spcPts val="600"/>
              </a:spcBef>
              <a:spcAft>
                <a:spcPts val="200"/>
              </a:spcAft>
              <a:defRPr sz="1200" b="1">
                <a:solidFill>
                  <a:srgbClr val="2B2B2B"/>
                </a:solidFill>
                <a:latin typeface="Meiryo"/>
              </a:defRPr>
            </a:pPr>
            <a:r>
              <a:t>・制作・運用側（弊社）にて見栄えの良いバナー画像やクーポンを作成し、管理画面から日時を指定して「予約配信」を設定いたします。</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F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DA3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
            <a:ext cx="12191695" cy="777240"/>
          </a:xfrm>
          <a:prstGeom prst="rect">
            <a:avLst/>
          </a:prstGeom>
          <a:solidFill>
            <a:srgbClr val="FFFFFF"/>
          </a:solidFill>
          <a:ln w="9525">
            <a:solidFill>
              <a:srgbClr val="DC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37744"/>
            <a:ext cx="594360" cy="502920"/>
          </a:xfrm>
          <a:prstGeom prst="roundRect">
            <a:avLst/>
          </a:prstGeom>
          <a:solidFill>
            <a:srgbClr val="DA3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Meiryo"/>
              </a:defRPr>
            </a:pPr>
            <a:r>
              <a:t>03</a:t>
            </a:r>
          </a:p>
        </p:txBody>
      </p:sp>
      <p:sp>
        <p:nvSpPr>
          <p:cNvPr id="5" name="TextBox 4"/>
          <p:cNvSpPr txBox="1"/>
          <p:nvPr/>
        </p:nvSpPr>
        <p:spPr>
          <a:xfrm>
            <a:off x="1188720" y="219456"/>
            <a:ext cx="9326880" cy="548640"/>
          </a:xfrm>
          <a:prstGeom prst="rect">
            <a:avLst/>
          </a:prstGeom>
          <a:noFill/>
        </p:spPr>
        <p:txBody>
          <a:bodyPr wrap="square" lIns="73152" rIns="73152" anchor="ctr">
            <a:spAutoFit/>
          </a:bodyPr>
          <a:lstStyle/>
          <a:p>
            <a:pPr algn="l">
              <a:lnSpc>
                <a:spcPct val="125000"/>
              </a:lnSpc>
              <a:defRPr sz="2100" b="1">
                <a:solidFill>
                  <a:srgbClr val="2B2B2B"/>
                </a:solidFill>
                <a:latin typeface="Meiryo"/>
              </a:defRPr>
            </a:pPr>
            <a:r>
              <a:t>店舗オペレーション（ポイント付与QRの管理方法）のご提案</a:t>
            </a:r>
          </a:p>
        </p:txBody>
      </p:sp>
      <p:sp>
        <p:nvSpPr>
          <p:cNvPr id="6" name="TextBox 5"/>
          <p:cNvSpPr txBox="1"/>
          <p:nvPr/>
        </p:nvSpPr>
        <p:spPr>
          <a:xfrm>
            <a:off x="10789920" y="274320"/>
            <a:ext cx="914400" cy="411480"/>
          </a:xfrm>
          <a:prstGeom prst="rect">
            <a:avLst/>
          </a:prstGeom>
          <a:noFill/>
        </p:spPr>
        <p:txBody>
          <a:bodyPr wrap="square" lIns="73152" rIns="73152" anchor="ctr">
            <a:spAutoFit/>
          </a:bodyPr>
          <a:lstStyle/>
          <a:p>
            <a:pPr algn="r">
              <a:lnSpc>
                <a:spcPct val="125000"/>
              </a:lnSpc>
              <a:defRPr sz="1300" b="1">
                <a:solidFill>
                  <a:srgbClr val="5F5F5F"/>
                </a:solidFill>
                <a:latin typeface="Meiryo"/>
              </a:defRPr>
            </a:pPr>
            <a:r>
              <a:t>4 / 5</a:t>
            </a:r>
          </a:p>
        </p:txBody>
      </p:sp>
      <p:sp>
        <p:nvSpPr>
          <p:cNvPr id="7" name="TextBox 6"/>
          <p:cNvSpPr txBox="1"/>
          <p:nvPr/>
        </p:nvSpPr>
        <p:spPr>
          <a:xfrm>
            <a:off x="457200" y="1024128"/>
            <a:ext cx="11277295" cy="365760"/>
          </a:xfrm>
          <a:prstGeom prst="rect">
            <a:avLst/>
          </a:prstGeom>
          <a:noFill/>
        </p:spPr>
        <p:txBody>
          <a:bodyPr wrap="square" lIns="73152" rIns="73152" anchor="t">
            <a:spAutoFit/>
          </a:bodyPr>
          <a:lstStyle/>
          <a:p>
            <a:pPr algn="l">
              <a:lnSpc>
                <a:spcPct val="125000"/>
              </a:lnSpc>
              <a:defRPr sz="1300" b="1">
                <a:solidFill>
                  <a:srgbClr val="2B2B2B"/>
                </a:solidFill>
                <a:latin typeface="Meiryo"/>
              </a:defRPr>
            </a:pPr>
            <a:r>
              <a:t>LINEスタンプカード導入にあたり「ポイント付与用のQRコード」が必要になりますが、現場でのトラブルを防ぐため以下の運用をご提案いたします。</a:t>
            </a:r>
          </a:p>
        </p:txBody>
      </p:sp>
      <p:sp>
        <p:nvSpPr>
          <p:cNvPr id="8" name="Rounded Rectangle 7"/>
          <p:cNvSpPr/>
          <p:nvPr/>
        </p:nvSpPr>
        <p:spPr>
          <a:xfrm>
            <a:off x="457200" y="1463040"/>
            <a:ext cx="5440680" cy="1783080"/>
          </a:xfrm>
          <a:prstGeom prst="roundRect">
            <a:avLst/>
          </a:prstGeom>
          <a:solidFill>
            <a:srgbClr val="FFFFFF"/>
          </a:solidFill>
          <a:ln w="19050">
            <a:solidFill>
              <a:srgbClr val="EEA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1600200"/>
            <a:ext cx="5074920" cy="384048"/>
          </a:xfrm>
          <a:prstGeom prst="roundRect">
            <a:avLst/>
          </a:prstGeom>
          <a:solidFill>
            <a:srgbClr val="FD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618488"/>
            <a:ext cx="4892040" cy="347472"/>
          </a:xfrm>
          <a:prstGeom prst="rect">
            <a:avLst/>
          </a:prstGeom>
          <a:noFill/>
        </p:spPr>
        <p:txBody>
          <a:bodyPr wrap="square" lIns="73152" rIns="73152" anchor="ctr">
            <a:spAutoFit/>
          </a:bodyPr>
          <a:lstStyle/>
          <a:p>
            <a:pPr algn="l">
              <a:lnSpc>
                <a:spcPct val="125000"/>
              </a:lnSpc>
              <a:defRPr sz="1350" b="1">
                <a:solidFill>
                  <a:srgbClr val="DA381E"/>
                </a:solidFill>
                <a:latin typeface="Meiryo"/>
              </a:defRPr>
            </a:pPr>
            <a:r>
              <a:t>⚠️ 懸念リスク①：レジ横への「置きっぱなし」による不正取得</a:t>
            </a:r>
          </a:p>
        </p:txBody>
      </p:sp>
      <p:sp>
        <p:nvSpPr>
          <p:cNvPr id="11" name="TextBox 10"/>
          <p:cNvSpPr txBox="1"/>
          <p:nvPr/>
        </p:nvSpPr>
        <p:spPr>
          <a:xfrm>
            <a:off x="685800" y="2084831"/>
            <a:ext cx="4983480" cy="1051560"/>
          </a:xfrm>
          <a:prstGeom prst="rect">
            <a:avLst/>
          </a:prstGeom>
          <a:noFill/>
        </p:spPr>
        <p:txBody>
          <a:bodyPr wrap="square" lIns="73152" rIns="73152" anchor="t">
            <a:spAutoFit/>
          </a:bodyPr>
          <a:lstStyle/>
          <a:p>
            <a:pPr algn="l">
              <a:lnSpc>
                <a:spcPct val="130000"/>
              </a:lnSpc>
              <a:defRPr sz="1250" b="0">
                <a:solidFill>
                  <a:srgbClr val="2B2B2B"/>
                </a:solidFill>
                <a:latin typeface="Meiryo"/>
              </a:defRPr>
            </a:pPr>
            <a:r>
              <a:t>ポイント付与用のQRコードをレジ横や卓上に常時設置しておくと、お会計をしていないお客様や順番待ちの間に勝手に読み取られてしまい、不正にポイントを貯められてしまうリスクがあります。</a:t>
            </a:r>
          </a:p>
        </p:txBody>
      </p:sp>
      <p:sp>
        <p:nvSpPr>
          <p:cNvPr id="12" name="Rounded Rectangle 11"/>
          <p:cNvSpPr/>
          <p:nvPr/>
        </p:nvSpPr>
        <p:spPr>
          <a:xfrm>
            <a:off x="6293815" y="1463040"/>
            <a:ext cx="5440680" cy="1783080"/>
          </a:xfrm>
          <a:prstGeom prst="roundRect">
            <a:avLst/>
          </a:prstGeom>
          <a:solidFill>
            <a:srgbClr val="FFFFFF"/>
          </a:solidFill>
          <a:ln w="19050">
            <a:solidFill>
              <a:srgbClr val="EEA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476695" y="1600200"/>
            <a:ext cx="5074920" cy="384048"/>
          </a:xfrm>
          <a:prstGeom prst="roundRect">
            <a:avLst/>
          </a:prstGeom>
          <a:solidFill>
            <a:srgbClr val="FD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68135" y="1618488"/>
            <a:ext cx="4892040" cy="347472"/>
          </a:xfrm>
          <a:prstGeom prst="rect">
            <a:avLst/>
          </a:prstGeom>
          <a:noFill/>
        </p:spPr>
        <p:txBody>
          <a:bodyPr wrap="square" lIns="73152" rIns="73152" anchor="ctr">
            <a:spAutoFit/>
          </a:bodyPr>
          <a:lstStyle/>
          <a:p>
            <a:pPr algn="l">
              <a:lnSpc>
                <a:spcPct val="125000"/>
              </a:lnSpc>
              <a:defRPr sz="1350" b="1">
                <a:solidFill>
                  <a:srgbClr val="DA381E"/>
                </a:solidFill>
                <a:latin typeface="Meiryo"/>
              </a:defRPr>
            </a:pPr>
            <a:r>
              <a:t>⚠️ 懸念リスク②：「1枚の紙に一覧表示」による誤読み込み</a:t>
            </a:r>
          </a:p>
        </p:txBody>
      </p:sp>
      <p:sp>
        <p:nvSpPr>
          <p:cNvPr id="15" name="TextBox 14"/>
          <p:cNvSpPr txBox="1"/>
          <p:nvPr/>
        </p:nvSpPr>
        <p:spPr>
          <a:xfrm>
            <a:off x="6522415" y="2084831"/>
            <a:ext cx="4983480" cy="1051560"/>
          </a:xfrm>
          <a:prstGeom prst="rect">
            <a:avLst/>
          </a:prstGeom>
          <a:noFill/>
        </p:spPr>
        <p:txBody>
          <a:bodyPr wrap="square" lIns="73152" rIns="73152" anchor="t">
            <a:spAutoFit/>
          </a:bodyPr>
          <a:lstStyle/>
          <a:p>
            <a:pPr algn="l">
              <a:lnSpc>
                <a:spcPct val="130000"/>
              </a:lnSpc>
              <a:defRPr sz="1250" b="0">
                <a:solidFill>
                  <a:srgbClr val="2B2B2B"/>
                </a:solidFill>
                <a:latin typeface="Meiryo"/>
              </a:defRPr>
            </a:pPr>
            <a:r>
              <a:t>「1pt・2pt・3pt…」と複数のQRコードを1枚のシートに並べて提示すると、スマートフォンのカメラが隣の別のポイント数のQRコードにピントを合わせてしまい、誤って読み込んでしまう可能性が高くなります。</a:t>
            </a:r>
          </a:p>
        </p:txBody>
      </p:sp>
      <p:sp>
        <p:nvSpPr>
          <p:cNvPr id="16" name="Down Arrow 15"/>
          <p:cNvSpPr/>
          <p:nvPr/>
        </p:nvSpPr>
        <p:spPr>
          <a:xfrm>
            <a:off x="5760720" y="3337560"/>
            <a:ext cx="670255" cy="365760"/>
          </a:xfrm>
          <a:prstGeom prst="downArrow">
            <a:avLst/>
          </a:prstGeom>
          <a:solidFill>
            <a:srgbClr val="DA3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57200" y="3794760"/>
            <a:ext cx="11277295" cy="2697480"/>
          </a:xfrm>
          <a:prstGeom prst="roundRect">
            <a:avLst/>
          </a:prstGeom>
          <a:solidFill>
            <a:srgbClr val="FFFFFF"/>
          </a:solidFill>
          <a:ln w="25400">
            <a:solidFill>
              <a:srgbClr val="049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3794760"/>
            <a:ext cx="11277295" cy="502920"/>
          </a:xfrm>
          <a:prstGeom prst="rect">
            <a:avLst/>
          </a:prstGeom>
          <a:solidFill>
            <a:srgbClr val="049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3822191"/>
            <a:ext cx="10881360" cy="457200"/>
          </a:xfrm>
          <a:prstGeom prst="rect">
            <a:avLst/>
          </a:prstGeom>
          <a:noFill/>
        </p:spPr>
        <p:txBody>
          <a:bodyPr wrap="square" lIns="73152" rIns="73152" anchor="ctr">
            <a:spAutoFit/>
          </a:bodyPr>
          <a:lstStyle/>
          <a:p>
            <a:pPr algn="l">
              <a:lnSpc>
                <a:spcPct val="125000"/>
              </a:lnSpc>
              <a:defRPr sz="1500" b="1">
                <a:solidFill>
                  <a:srgbClr val="FFFFFF"/>
                </a:solidFill>
                <a:latin typeface="Meiryo"/>
              </a:defRPr>
            </a:pPr>
            <a:r>
              <a:t>■ 解決策（推奨オペレーション）：ラミネート＋「単語帳リング方式」でのレジ裏保管</a:t>
            </a:r>
          </a:p>
        </p:txBody>
      </p:sp>
      <p:sp>
        <p:nvSpPr>
          <p:cNvPr id="20" name="Rounded Rectangle 19"/>
          <p:cNvSpPr/>
          <p:nvPr/>
        </p:nvSpPr>
        <p:spPr>
          <a:xfrm>
            <a:off x="731520" y="4480560"/>
            <a:ext cx="3410712" cy="1810512"/>
          </a:xfrm>
          <a:prstGeom prst="roundRect">
            <a:avLst/>
          </a:prstGeom>
          <a:solidFill>
            <a:srgbClr val="EEFAF2"/>
          </a:solidFill>
          <a:ln w="12700">
            <a:solidFill>
              <a:srgbClr val="06C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4572000"/>
            <a:ext cx="3136392" cy="365760"/>
          </a:xfrm>
          <a:prstGeom prst="rect">
            <a:avLst/>
          </a:prstGeom>
          <a:noFill/>
        </p:spPr>
        <p:txBody>
          <a:bodyPr wrap="square" lIns="73152" rIns="73152" anchor="t">
            <a:spAutoFit/>
          </a:bodyPr>
          <a:lstStyle/>
          <a:p>
            <a:pPr algn="l">
              <a:lnSpc>
                <a:spcPct val="125000"/>
              </a:lnSpc>
              <a:defRPr sz="1350" b="1">
                <a:solidFill>
                  <a:srgbClr val="049B41"/>
                </a:solidFill>
                <a:latin typeface="Meiryo"/>
              </a:defRPr>
            </a:pPr>
            <a:r>
              <a:t>STEP 1：1枚ずつラミネート加工</a:t>
            </a:r>
          </a:p>
        </p:txBody>
      </p:sp>
      <p:sp>
        <p:nvSpPr>
          <p:cNvPr id="22" name="TextBox 21"/>
          <p:cNvSpPr txBox="1"/>
          <p:nvPr/>
        </p:nvSpPr>
        <p:spPr>
          <a:xfrm>
            <a:off x="868680" y="4956048"/>
            <a:ext cx="3136392" cy="1261872"/>
          </a:xfrm>
          <a:prstGeom prst="rect">
            <a:avLst/>
          </a:prstGeom>
          <a:noFill/>
        </p:spPr>
        <p:txBody>
          <a:bodyPr wrap="square" lIns="73152" rIns="73152" anchor="t">
            <a:spAutoFit/>
          </a:bodyPr>
          <a:lstStyle/>
          <a:p>
            <a:pPr algn="l">
              <a:lnSpc>
                <a:spcPct val="128000"/>
              </a:lnSpc>
              <a:defRPr sz="1180" b="0">
                <a:solidFill>
                  <a:srgbClr val="2B2B2B"/>
                </a:solidFill>
                <a:latin typeface="Meiryo"/>
              </a:defRPr>
            </a:pPr>
            <a:r>
              <a:t>付与ポイントごと（1pt〜5pt等）にハガキサイズ等で「ポイント数＋大きなQRコード」を1枚ずつ作成し、ラミネート加工します。（水濡れや汚れにも強く衛生的です）</a:t>
            </a:r>
          </a:p>
        </p:txBody>
      </p:sp>
      <p:sp>
        <p:nvSpPr>
          <p:cNvPr id="23" name="Rounded Rectangle 22"/>
          <p:cNvSpPr/>
          <p:nvPr/>
        </p:nvSpPr>
        <p:spPr>
          <a:xfrm>
            <a:off x="4389120" y="4480560"/>
            <a:ext cx="3410712" cy="1810512"/>
          </a:xfrm>
          <a:prstGeom prst="roundRect">
            <a:avLst/>
          </a:prstGeom>
          <a:solidFill>
            <a:srgbClr val="EEFAF2"/>
          </a:solidFill>
          <a:ln w="12700">
            <a:solidFill>
              <a:srgbClr val="06C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26280" y="4572000"/>
            <a:ext cx="3136392" cy="365760"/>
          </a:xfrm>
          <a:prstGeom prst="rect">
            <a:avLst/>
          </a:prstGeom>
          <a:noFill/>
        </p:spPr>
        <p:txBody>
          <a:bodyPr wrap="square" lIns="73152" rIns="73152" anchor="t">
            <a:spAutoFit/>
          </a:bodyPr>
          <a:lstStyle/>
          <a:p>
            <a:pPr algn="l">
              <a:lnSpc>
                <a:spcPct val="125000"/>
              </a:lnSpc>
              <a:defRPr sz="1350" b="1">
                <a:solidFill>
                  <a:srgbClr val="049B41"/>
                </a:solidFill>
                <a:latin typeface="Meiryo"/>
              </a:defRPr>
            </a:pPr>
            <a:r>
              <a:t>STEP 2：リングでまとめレジ裏保管</a:t>
            </a:r>
          </a:p>
        </p:txBody>
      </p:sp>
      <p:sp>
        <p:nvSpPr>
          <p:cNvPr id="25" name="TextBox 24"/>
          <p:cNvSpPr txBox="1"/>
          <p:nvPr/>
        </p:nvSpPr>
        <p:spPr>
          <a:xfrm>
            <a:off x="4526280" y="4956048"/>
            <a:ext cx="3136392" cy="1261872"/>
          </a:xfrm>
          <a:prstGeom prst="rect">
            <a:avLst/>
          </a:prstGeom>
          <a:noFill/>
        </p:spPr>
        <p:txBody>
          <a:bodyPr wrap="square" lIns="73152" rIns="73152" anchor="t">
            <a:spAutoFit/>
          </a:bodyPr>
          <a:lstStyle/>
          <a:p>
            <a:pPr algn="l">
              <a:lnSpc>
                <a:spcPct val="128000"/>
              </a:lnSpc>
              <a:defRPr sz="1180" b="0">
                <a:solidFill>
                  <a:srgbClr val="2B2B2B"/>
                </a:solidFill>
                <a:latin typeface="Meiryo"/>
              </a:defRPr>
            </a:pPr>
            <a:r>
              <a:t>穴あけパンチで穴を開けて金属リングを通し、単語帳のようにまとめます。普段は【レジ裏】で保管することで、お客様による勝手な読み取り（不正）を完全に防ぎます。</a:t>
            </a:r>
          </a:p>
        </p:txBody>
      </p:sp>
      <p:sp>
        <p:nvSpPr>
          <p:cNvPr id="26" name="Rounded Rectangle 25"/>
          <p:cNvSpPr/>
          <p:nvPr/>
        </p:nvSpPr>
        <p:spPr>
          <a:xfrm>
            <a:off x="8046720" y="4480560"/>
            <a:ext cx="3410712" cy="1810512"/>
          </a:xfrm>
          <a:prstGeom prst="roundRect">
            <a:avLst/>
          </a:prstGeom>
          <a:solidFill>
            <a:srgbClr val="EEFAF2"/>
          </a:solidFill>
          <a:ln w="12700">
            <a:solidFill>
              <a:srgbClr val="06C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183880" y="4572000"/>
            <a:ext cx="3136392" cy="365760"/>
          </a:xfrm>
          <a:prstGeom prst="rect">
            <a:avLst/>
          </a:prstGeom>
          <a:noFill/>
        </p:spPr>
        <p:txBody>
          <a:bodyPr wrap="square" lIns="73152" rIns="73152" anchor="t">
            <a:spAutoFit/>
          </a:bodyPr>
          <a:lstStyle/>
          <a:p>
            <a:pPr algn="l">
              <a:lnSpc>
                <a:spcPct val="125000"/>
              </a:lnSpc>
              <a:defRPr sz="1350" b="1">
                <a:solidFill>
                  <a:srgbClr val="049B41"/>
                </a:solidFill>
                <a:latin typeface="Meiryo"/>
              </a:defRPr>
            </a:pPr>
            <a:r>
              <a:t>STEP 3：お会計金額に応じて提示</a:t>
            </a:r>
          </a:p>
        </p:txBody>
      </p:sp>
      <p:sp>
        <p:nvSpPr>
          <p:cNvPr id="28" name="TextBox 27"/>
          <p:cNvSpPr txBox="1"/>
          <p:nvPr/>
        </p:nvSpPr>
        <p:spPr>
          <a:xfrm>
            <a:off x="8183880" y="4956048"/>
            <a:ext cx="3136392" cy="1261872"/>
          </a:xfrm>
          <a:prstGeom prst="rect">
            <a:avLst/>
          </a:prstGeom>
          <a:noFill/>
        </p:spPr>
        <p:txBody>
          <a:bodyPr wrap="square" lIns="73152" rIns="73152" anchor="t">
            <a:spAutoFit/>
          </a:bodyPr>
          <a:lstStyle/>
          <a:p>
            <a:pPr algn="l">
              <a:lnSpc>
                <a:spcPct val="128000"/>
              </a:lnSpc>
              <a:defRPr sz="1180" b="0">
                <a:solidFill>
                  <a:srgbClr val="2B2B2B"/>
                </a:solidFill>
                <a:latin typeface="Meiryo"/>
              </a:defRPr>
            </a:pPr>
            <a:r>
              <a:t>【1,000円＝1pt】とし、お会計2,000円なら「2ptのカード」、5,000円なら「5ptのカード」をスタッフ様がめくって提示し読み取っていただく形で、誤読込もゼロにできます。</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F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DA3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
            <a:ext cx="12191695" cy="777240"/>
          </a:xfrm>
          <a:prstGeom prst="rect">
            <a:avLst/>
          </a:prstGeom>
          <a:solidFill>
            <a:srgbClr val="FFFFFF"/>
          </a:solidFill>
          <a:ln w="9525">
            <a:solidFill>
              <a:srgbClr val="DC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237744"/>
            <a:ext cx="594360" cy="502920"/>
          </a:xfrm>
          <a:prstGeom prst="roundRect">
            <a:avLst/>
          </a:prstGeom>
          <a:solidFill>
            <a:srgbClr val="DA3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Meiryo"/>
              </a:defRPr>
            </a:pPr>
            <a:r>
              <a:t>04</a:t>
            </a:r>
          </a:p>
        </p:txBody>
      </p:sp>
      <p:sp>
        <p:nvSpPr>
          <p:cNvPr id="5" name="TextBox 4"/>
          <p:cNvSpPr txBox="1"/>
          <p:nvPr/>
        </p:nvSpPr>
        <p:spPr>
          <a:xfrm>
            <a:off x="1188720" y="219456"/>
            <a:ext cx="9326880" cy="548640"/>
          </a:xfrm>
          <a:prstGeom prst="rect">
            <a:avLst/>
          </a:prstGeom>
          <a:noFill/>
        </p:spPr>
        <p:txBody>
          <a:bodyPr wrap="square" lIns="73152" rIns="73152" anchor="ctr">
            <a:spAutoFit/>
          </a:bodyPr>
          <a:lstStyle/>
          <a:p>
            <a:pPr algn="l">
              <a:lnSpc>
                <a:spcPct val="125000"/>
              </a:lnSpc>
              <a:defRPr sz="2100" b="1">
                <a:solidFill>
                  <a:srgbClr val="2B2B2B"/>
                </a:solidFill>
                <a:latin typeface="Meiryo"/>
              </a:defRPr>
            </a:pPr>
            <a:r>
              <a:t>店頭設置用POP・ショップカードのデザイン案（3サイズ展開）</a:t>
            </a:r>
          </a:p>
        </p:txBody>
      </p:sp>
      <p:sp>
        <p:nvSpPr>
          <p:cNvPr id="6" name="TextBox 5"/>
          <p:cNvSpPr txBox="1"/>
          <p:nvPr/>
        </p:nvSpPr>
        <p:spPr>
          <a:xfrm>
            <a:off x="10789920" y="274320"/>
            <a:ext cx="914400" cy="411480"/>
          </a:xfrm>
          <a:prstGeom prst="rect">
            <a:avLst/>
          </a:prstGeom>
          <a:noFill/>
        </p:spPr>
        <p:txBody>
          <a:bodyPr wrap="square" lIns="73152" rIns="73152" anchor="ctr">
            <a:spAutoFit/>
          </a:bodyPr>
          <a:lstStyle/>
          <a:p>
            <a:pPr algn="r">
              <a:lnSpc>
                <a:spcPct val="125000"/>
              </a:lnSpc>
              <a:defRPr sz="1300" b="1">
                <a:solidFill>
                  <a:srgbClr val="5F5F5F"/>
                </a:solidFill>
                <a:latin typeface="Meiryo"/>
              </a:defRPr>
            </a:pPr>
            <a:r>
              <a:t>5 / 5</a:t>
            </a:r>
          </a:p>
        </p:txBody>
      </p:sp>
      <p:sp>
        <p:nvSpPr>
          <p:cNvPr id="7" name="TextBox 6"/>
          <p:cNvSpPr txBox="1"/>
          <p:nvPr/>
        </p:nvSpPr>
        <p:spPr>
          <a:xfrm>
            <a:off x="457200" y="1051560"/>
            <a:ext cx="5577840" cy="365760"/>
          </a:xfrm>
          <a:prstGeom prst="rect">
            <a:avLst/>
          </a:prstGeom>
          <a:noFill/>
        </p:spPr>
        <p:txBody>
          <a:bodyPr wrap="square" lIns="73152" rIns="73152" anchor="t">
            <a:spAutoFit/>
          </a:bodyPr>
          <a:lstStyle/>
          <a:p>
            <a:pPr algn="l">
              <a:lnSpc>
                <a:spcPct val="125000"/>
              </a:lnSpc>
              <a:defRPr sz="1500" b="1">
                <a:solidFill>
                  <a:srgbClr val="2B2B2B"/>
                </a:solidFill>
                <a:latin typeface="Meiryo"/>
              </a:defRPr>
            </a:pPr>
            <a:r>
              <a:t>■ 設置場所と用途に最適化した3つのサイズ展開</a:t>
            </a:r>
          </a:p>
        </p:txBody>
      </p:sp>
      <p:sp>
        <p:nvSpPr>
          <p:cNvPr id="8" name="Rounded Rectangle 7"/>
          <p:cNvSpPr/>
          <p:nvPr/>
        </p:nvSpPr>
        <p:spPr>
          <a:xfrm>
            <a:off x="457200" y="1481328"/>
            <a:ext cx="5577840" cy="1325880"/>
          </a:xfrm>
          <a:prstGeom prst="roundRect">
            <a:avLst/>
          </a:prstGeom>
          <a:solidFill>
            <a:srgbClr val="FFFFFF"/>
          </a:solidFill>
          <a:ln w="12700">
            <a:solidFill>
              <a:srgbClr val="DC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481328"/>
            <a:ext cx="109728" cy="1325880"/>
          </a:xfrm>
          <a:prstGeom prst="rect">
            <a:avLst/>
          </a:prstGeom>
          <a:solidFill>
            <a:srgbClr val="DA3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1554480"/>
            <a:ext cx="5257800" cy="320040"/>
          </a:xfrm>
          <a:prstGeom prst="rect">
            <a:avLst/>
          </a:prstGeom>
          <a:noFill/>
        </p:spPr>
        <p:txBody>
          <a:bodyPr wrap="square" lIns="73152" rIns="73152" anchor="t">
            <a:spAutoFit/>
          </a:bodyPr>
          <a:lstStyle/>
          <a:p>
            <a:pPr algn="l">
              <a:lnSpc>
                <a:spcPct val="125000"/>
              </a:lnSpc>
              <a:defRPr sz="1250" b="1">
                <a:solidFill>
                  <a:srgbClr val="DA381E"/>
                </a:solidFill>
                <a:latin typeface="Meiryo"/>
              </a:defRPr>
            </a:pPr>
            <a:r>
              <a:t>① A5サイズ（148 × 210mm）　【客席テーブル上・店内壁面用】</a:t>
            </a:r>
          </a:p>
        </p:txBody>
      </p:sp>
      <p:sp>
        <p:nvSpPr>
          <p:cNvPr id="11" name="TextBox 10"/>
          <p:cNvSpPr txBox="1"/>
          <p:nvPr/>
        </p:nvSpPr>
        <p:spPr>
          <a:xfrm>
            <a:off x="658368" y="1865376"/>
            <a:ext cx="5257800" cy="886968"/>
          </a:xfrm>
          <a:prstGeom prst="rect">
            <a:avLst/>
          </a:prstGeom>
          <a:noFill/>
        </p:spPr>
        <p:txBody>
          <a:bodyPr wrap="square" lIns="73152" rIns="73152" anchor="t">
            <a:spAutoFit/>
          </a:bodyPr>
          <a:lstStyle/>
          <a:p>
            <a:pPr algn="l">
              <a:lnSpc>
                <a:spcPct val="125000"/>
              </a:lnSpc>
              <a:defRPr sz="1150" b="0">
                <a:solidFill>
                  <a:srgbClr val="2B2B2B"/>
                </a:solidFill>
                <a:latin typeface="Meiryo"/>
              </a:defRPr>
            </a:pPr>
            <a:r>
              <a:t>お食事のテーブルや壁面に置いてもメニュー表や調味料に埋もれず、離れた場所からでもしっかり目に入るサイズです。</a:t>
            </a:r>
          </a:p>
        </p:txBody>
      </p:sp>
      <p:sp>
        <p:nvSpPr>
          <p:cNvPr id="12" name="Rounded Rectangle 11"/>
          <p:cNvSpPr/>
          <p:nvPr/>
        </p:nvSpPr>
        <p:spPr>
          <a:xfrm>
            <a:off x="457200" y="2944368"/>
            <a:ext cx="5577840" cy="1325880"/>
          </a:xfrm>
          <a:prstGeom prst="roundRect">
            <a:avLst/>
          </a:prstGeom>
          <a:solidFill>
            <a:srgbClr val="FFFFFF"/>
          </a:solidFill>
          <a:ln w="12700">
            <a:solidFill>
              <a:srgbClr val="DC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57200" y="2944368"/>
            <a:ext cx="109728" cy="1325880"/>
          </a:xfrm>
          <a:prstGeom prst="rect">
            <a:avLst/>
          </a:prstGeom>
          <a:solidFill>
            <a:srgbClr val="DA3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 y="3017520"/>
            <a:ext cx="5257800" cy="320040"/>
          </a:xfrm>
          <a:prstGeom prst="rect">
            <a:avLst/>
          </a:prstGeom>
          <a:noFill/>
        </p:spPr>
        <p:txBody>
          <a:bodyPr wrap="square" lIns="73152" rIns="73152" anchor="t">
            <a:spAutoFit/>
          </a:bodyPr>
          <a:lstStyle/>
          <a:p>
            <a:pPr algn="l">
              <a:lnSpc>
                <a:spcPct val="125000"/>
              </a:lnSpc>
              <a:defRPr sz="1250" b="1">
                <a:solidFill>
                  <a:srgbClr val="DA381E"/>
                </a:solidFill>
                <a:latin typeface="Meiryo"/>
              </a:defRPr>
            </a:pPr>
            <a:r>
              <a:t>② ハガキサイズ（100 × 148mm）　【レジ横・商品ケース周辺などの省スペース用】</a:t>
            </a:r>
          </a:p>
        </p:txBody>
      </p:sp>
      <p:sp>
        <p:nvSpPr>
          <p:cNvPr id="15" name="TextBox 14"/>
          <p:cNvSpPr txBox="1"/>
          <p:nvPr/>
        </p:nvSpPr>
        <p:spPr>
          <a:xfrm>
            <a:off x="658368" y="3328415"/>
            <a:ext cx="5257800" cy="886968"/>
          </a:xfrm>
          <a:prstGeom prst="rect">
            <a:avLst/>
          </a:prstGeom>
          <a:noFill/>
        </p:spPr>
        <p:txBody>
          <a:bodyPr wrap="square" lIns="73152" rIns="73152" anchor="t">
            <a:spAutoFit/>
          </a:bodyPr>
          <a:lstStyle/>
          <a:p>
            <a:pPr algn="l">
              <a:lnSpc>
                <a:spcPct val="125000"/>
              </a:lnSpc>
              <a:defRPr sz="1150" b="0">
                <a:solidFill>
                  <a:srgbClr val="2B2B2B"/>
                </a:solidFill>
                <a:latin typeface="Meiryo"/>
              </a:defRPr>
            </a:pPr>
            <a:r>
              <a:t>A5サイズと同じく朱赤の外枠と「こんもり山」でスタンプ特典を強調しつつ、レジ周りの狭い場所にも邪魔にならず置けるサイズです。</a:t>
            </a:r>
          </a:p>
        </p:txBody>
      </p:sp>
      <p:sp>
        <p:nvSpPr>
          <p:cNvPr id="16" name="Rounded Rectangle 15"/>
          <p:cNvSpPr/>
          <p:nvPr/>
        </p:nvSpPr>
        <p:spPr>
          <a:xfrm>
            <a:off x="457200" y="4407407"/>
            <a:ext cx="5577840" cy="1691640"/>
          </a:xfrm>
          <a:prstGeom prst="roundRect">
            <a:avLst/>
          </a:prstGeom>
          <a:solidFill>
            <a:srgbClr val="FFFFFF"/>
          </a:solidFill>
          <a:ln w="12700">
            <a:solidFill>
              <a:srgbClr val="DC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4407407"/>
            <a:ext cx="109728" cy="1691640"/>
          </a:xfrm>
          <a:prstGeom prst="rect">
            <a:avLst/>
          </a:prstGeom>
          <a:solidFill>
            <a:srgbClr val="049B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 y="4480559"/>
            <a:ext cx="5257800" cy="320040"/>
          </a:xfrm>
          <a:prstGeom prst="rect">
            <a:avLst/>
          </a:prstGeom>
          <a:noFill/>
        </p:spPr>
        <p:txBody>
          <a:bodyPr wrap="square" lIns="73152" rIns="73152" anchor="t">
            <a:spAutoFit/>
          </a:bodyPr>
          <a:lstStyle/>
          <a:p>
            <a:pPr algn="l">
              <a:lnSpc>
                <a:spcPct val="125000"/>
              </a:lnSpc>
              <a:defRPr sz="1250" b="1">
                <a:solidFill>
                  <a:srgbClr val="049B41"/>
                </a:solidFill>
                <a:latin typeface="Meiryo"/>
              </a:defRPr>
            </a:pPr>
            <a:r>
              <a:t>③ クレジットカードサイズ（54 × 86mm）　【お持ち帰り用ショップカード】</a:t>
            </a:r>
          </a:p>
        </p:txBody>
      </p:sp>
      <p:sp>
        <p:nvSpPr>
          <p:cNvPr id="19" name="TextBox 18"/>
          <p:cNvSpPr txBox="1"/>
          <p:nvPr/>
        </p:nvSpPr>
        <p:spPr>
          <a:xfrm>
            <a:off x="658368" y="4791455"/>
            <a:ext cx="5257800" cy="1252728"/>
          </a:xfrm>
          <a:prstGeom prst="rect">
            <a:avLst/>
          </a:prstGeom>
          <a:noFill/>
        </p:spPr>
        <p:txBody>
          <a:bodyPr wrap="square" lIns="73152" rIns="73152" anchor="t">
            <a:spAutoFit/>
          </a:bodyPr>
          <a:lstStyle/>
          <a:p>
            <a:pPr algn="l">
              <a:lnSpc>
                <a:spcPct val="125000"/>
              </a:lnSpc>
              <a:defRPr sz="1150" b="0">
                <a:solidFill>
                  <a:srgbClr val="2B2B2B"/>
                </a:solidFill>
                <a:latin typeface="Meiryo"/>
              </a:defRPr>
            </a:pPr>
            <a:r>
              <a:t>一般的な名刺より一回り小さいクレカサイズを採用し、お客様のお財布のカードポケットに確実に入るよう設計しました。小さい紙面でも一発で読み取れるようQRコードを大きく配置し、下部に赤い帯を敷くことでスタンプ特典の視認性を高めています。</a:t>
            </a:r>
          </a:p>
        </p:txBody>
      </p:sp>
      <p:sp>
        <p:nvSpPr>
          <p:cNvPr id="20" name="Rounded Rectangle 19"/>
          <p:cNvSpPr/>
          <p:nvPr/>
        </p:nvSpPr>
        <p:spPr>
          <a:xfrm>
            <a:off x="457200" y="5961888"/>
            <a:ext cx="5577840" cy="566928"/>
          </a:xfrm>
          <a:prstGeom prst="roundRect">
            <a:avLst/>
          </a:prstGeom>
          <a:solidFill>
            <a:srgbClr val="FFF8E6"/>
          </a:solidFill>
          <a:ln w="12700">
            <a:solidFill>
              <a:srgbClr val="E6B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5998464"/>
            <a:ext cx="5303520" cy="493776"/>
          </a:xfrm>
          <a:prstGeom prst="rect">
            <a:avLst/>
          </a:prstGeom>
          <a:noFill/>
        </p:spPr>
        <p:txBody>
          <a:bodyPr wrap="square" lIns="73152" rIns="73152" anchor="ctr">
            <a:spAutoFit/>
          </a:bodyPr>
          <a:lstStyle/>
          <a:p>
            <a:pPr algn="l">
              <a:lnSpc>
                <a:spcPct val="120000"/>
              </a:lnSpc>
              <a:defRPr sz="1100" b="1">
                <a:solidFill>
                  <a:srgbClr val="2B2B2B"/>
                </a:solidFill>
                <a:latin typeface="Meiryo"/>
              </a:defRPr>
            </a:pPr>
            <a:r>
              <a:t>※不正防止のため、店頭POPおよびショップカードには「友だち追加用QR」のみを掲載し、ポイント付与用QRは掲載しておりません。</a:t>
            </a:r>
          </a:p>
        </p:txBody>
      </p:sp>
      <p:sp>
        <p:nvSpPr>
          <p:cNvPr id="22" name="Rounded Rectangle 21"/>
          <p:cNvSpPr/>
          <p:nvPr/>
        </p:nvSpPr>
        <p:spPr>
          <a:xfrm>
            <a:off x="6263640" y="1051560"/>
            <a:ext cx="5468112" cy="5486400"/>
          </a:xfrm>
          <a:prstGeom prst="roundRect">
            <a:avLst/>
          </a:prstGeom>
          <a:solidFill>
            <a:srgbClr val="FFFFFF"/>
          </a:solidFill>
          <a:ln w="12700">
            <a:solidFill>
              <a:srgbClr val="DC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1143000"/>
            <a:ext cx="5193792" cy="347472"/>
          </a:xfrm>
          <a:prstGeom prst="rect">
            <a:avLst/>
          </a:prstGeom>
          <a:noFill/>
        </p:spPr>
        <p:txBody>
          <a:bodyPr wrap="square" lIns="73152" rIns="73152" anchor="t">
            <a:spAutoFit/>
          </a:bodyPr>
          <a:lstStyle/>
          <a:p>
            <a:pPr algn="ctr">
              <a:lnSpc>
                <a:spcPct val="125000"/>
              </a:lnSpc>
              <a:defRPr sz="1400" b="1">
                <a:solidFill>
                  <a:srgbClr val="2B2B2B"/>
                </a:solidFill>
                <a:latin typeface="Meiryo"/>
              </a:defRPr>
            </a:pPr>
            <a:r>
              <a:t>■ 作成デザイン プレビュー</a:t>
            </a:r>
          </a:p>
        </p:txBody>
      </p:sp>
      <p:sp>
        <p:nvSpPr>
          <p:cNvPr id="24" name="Rectangle 23"/>
          <p:cNvSpPr/>
          <p:nvPr/>
        </p:nvSpPr>
        <p:spPr>
          <a:xfrm>
            <a:off x="6409944" y="1563624"/>
            <a:ext cx="2849838" cy="4187952"/>
          </a:xfrm>
          <a:prstGeom prst="rect">
            <a:avLst/>
          </a:prstGeom>
          <a:solidFill>
            <a:srgbClr val="FFFFFF"/>
          </a:solidFill>
          <a:ln w="12700">
            <a:solidFill>
              <a:srgbClr val="DC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input_file_0.png"/>
          <p:cNvPicPr>
            <a:picLocks noChangeAspect="1"/>
          </p:cNvPicPr>
          <p:nvPr/>
        </p:nvPicPr>
        <p:blipFill>
          <a:blip r:embed="rId2"/>
          <a:stretch>
            <a:fillRect/>
          </a:stretch>
        </p:blipFill>
        <p:spPr>
          <a:xfrm>
            <a:off x="6446520" y="1600200"/>
            <a:ext cx="2776686" cy="4114800"/>
          </a:xfrm>
          <a:prstGeom prst="rect">
            <a:avLst/>
          </a:prstGeom>
        </p:spPr>
      </p:pic>
      <p:sp>
        <p:nvSpPr>
          <p:cNvPr id="26" name="TextBox 25"/>
          <p:cNvSpPr txBox="1"/>
          <p:nvPr/>
        </p:nvSpPr>
        <p:spPr>
          <a:xfrm>
            <a:off x="6355080" y="5806440"/>
            <a:ext cx="2959566" cy="502920"/>
          </a:xfrm>
          <a:prstGeom prst="rect">
            <a:avLst/>
          </a:prstGeom>
          <a:noFill/>
        </p:spPr>
        <p:txBody>
          <a:bodyPr wrap="square" lIns="73152" rIns="73152" anchor="t">
            <a:spAutoFit/>
          </a:bodyPr>
          <a:lstStyle/>
          <a:p>
            <a:pPr algn="ctr">
              <a:lnSpc>
                <a:spcPct val="120000"/>
              </a:lnSpc>
              <a:defRPr sz="1100" b="1">
                <a:solidFill>
                  <a:srgbClr val="2B2B2B"/>
                </a:solidFill>
                <a:latin typeface="Meiryo"/>
              </a:defRPr>
            </a:pPr>
            <a:r>
              <a:t>▲ A5 / ハガキサイズ</a:t>
            </a:r>
            <a:br/>
            <a:r>
              <a:t>（卓上・壁面・レジ横POP）</a:t>
            </a:r>
          </a:p>
        </p:txBody>
      </p:sp>
      <p:sp>
        <p:nvSpPr>
          <p:cNvPr id="27" name="Rectangle 26"/>
          <p:cNvSpPr/>
          <p:nvPr/>
        </p:nvSpPr>
        <p:spPr>
          <a:xfrm>
            <a:off x="9308592" y="1865376"/>
            <a:ext cx="2283740" cy="3593592"/>
          </a:xfrm>
          <a:prstGeom prst="rect">
            <a:avLst/>
          </a:prstGeom>
          <a:solidFill>
            <a:srgbClr val="FFFFFF"/>
          </a:solidFill>
          <a:ln w="12700">
            <a:solidFill>
              <a:srgbClr val="DCD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input_file_5.png"/>
          <p:cNvPicPr>
            <a:picLocks noChangeAspect="1"/>
          </p:cNvPicPr>
          <p:nvPr/>
        </p:nvPicPr>
        <p:blipFill>
          <a:blip r:embed="rId3"/>
          <a:stretch>
            <a:fillRect/>
          </a:stretch>
        </p:blipFill>
        <p:spPr>
          <a:xfrm>
            <a:off x="9345168" y="1901952"/>
            <a:ext cx="2210588" cy="3520440"/>
          </a:xfrm>
          <a:prstGeom prst="rect">
            <a:avLst/>
          </a:prstGeom>
        </p:spPr>
      </p:pic>
      <p:sp>
        <p:nvSpPr>
          <p:cNvPr id="29" name="TextBox 28"/>
          <p:cNvSpPr txBox="1"/>
          <p:nvPr/>
        </p:nvSpPr>
        <p:spPr>
          <a:xfrm>
            <a:off x="9208008" y="5513831"/>
            <a:ext cx="2484908" cy="502920"/>
          </a:xfrm>
          <a:prstGeom prst="rect">
            <a:avLst/>
          </a:prstGeom>
          <a:noFill/>
        </p:spPr>
        <p:txBody>
          <a:bodyPr wrap="square" lIns="73152" rIns="73152" anchor="t">
            <a:spAutoFit/>
          </a:bodyPr>
          <a:lstStyle/>
          <a:p>
            <a:pPr algn="ctr">
              <a:lnSpc>
                <a:spcPct val="120000"/>
              </a:lnSpc>
              <a:defRPr sz="1100" b="1">
                <a:solidFill>
                  <a:srgbClr val="2B2B2B"/>
                </a:solidFill>
                <a:latin typeface="Meiryo"/>
              </a:defRPr>
            </a:pPr>
            <a:r>
              <a:t>▲ クレジットカードサイズ</a:t>
            </a:r>
            <a:br/>
            <a:r>
              <a:t>（お持ち帰り用ショップカード）</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134</TotalTime>
  <Words>690</Words>
  <Application>Microsoft Office PowerPoint</Application>
  <PresentationFormat>ワイド画面</PresentationFormat>
  <Paragraphs>84</Paragraphs>
  <Slides>5</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5</vt:i4>
      </vt:variant>
    </vt:vector>
  </HeadingPairs>
  <TitlesOfParts>
    <vt:vector size="8" baseType="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徳山 えり佳</cp:lastModifiedBy>
  <cp:revision>2</cp:revision>
  <dcterms:created xsi:type="dcterms:W3CDTF">2013-01-27T09:14:16Z</dcterms:created>
  <dcterms:modified xsi:type="dcterms:W3CDTF">2026-10-14T08:27:49Z</dcterms:modified>
  <cp:category/>
</cp:coreProperties>
</file>