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7"/>
  </p:notesMasterIdLst>
  <p:handoutMasterIdLst>
    <p:handoutMasterId r:id="rId8"/>
  </p:handoutMasterIdLst>
  <p:sldIdLst>
    <p:sldId id="284" r:id="rId2"/>
    <p:sldId id="513" r:id="rId3"/>
    <p:sldId id="517" r:id="rId4"/>
    <p:sldId id="514" r:id="rId5"/>
    <p:sldId id="515" r:id="rId6"/>
  </p:sldIdLst>
  <p:sldSz cx="9906000" cy="6858000" type="A4"/>
  <p:notesSz cx="6802438" cy="99345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12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濱中 崇" initials="濱中" lastIdx="1" clrIdx="0">
    <p:extLst>
      <p:ext uri="{19B8F6BF-5375-455C-9EA6-DF929625EA0E}">
        <p15:presenceInfo xmlns:p15="http://schemas.microsoft.com/office/powerpoint/2012/main" userId="8484cd305c2318a2" providerId="Windows Live"/>
      </p:ext>
    </p:extLst>
  </p:cmAuthor>
  <p:cmAuthor id="2" name="jun" initials="j" lastIdx="2" clrIdx="1">
    <p:extLst>
      <p:ext uri="{19B8F6BF-5375-455C-9EA6-DF929625EA0E}">
        <p15:presenceInfo xmlns:p15="http://schemas.microsoft.com/office/powerpoint/2012/main" userId="ju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0000FF"/>
        </p14:laserClr>
      </p:ext>
      <p:ext uri="{2FDB2607-1784-4EEB-B798-7EB5836EED8A}">
        <p14:showMediaCtrls xmlns:p14="http://schemas.microsoft.com/office/powerpoint/2010/main" val="1"/>
      </p:ext>
    </p:extLst>
  </p:showPr>
  <p:clrMru>
    <a:srgbClr val="000000"/>
    <a:srgbClr val="FF0000"/>
    <a:srgbClr val="0060B0"/>
    <a:srgbClr val="FD8C03"/>
    <a:srgbClr val="FFC000"/>
    <a:srgbClr val="EDF1F9"/>
    <a:srgbClr val="B8B8B7"/>
    <a:srgbClr val="C00000"/>
    <a:srgbClr val="44546A"/>
    <a:srgbClr val="FFECB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中間スタイル 2 - アクセント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8EC20E35-A176-4012-BC5E-935CFFF8708E}" styleName="スタイル (中間)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中間スタイル 3 - アクセント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8034E78-7F5D-4C2E-B375-FC64B27BC917}" styleName="スタイル (濃色)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202B0CA-FC54-4496-8BCA-5EF66A818D29}" styleName="スタイル (濃色)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262" autoAdjust="0"/>
    <p:restoredTop sz="79012" autoAdjust="0"/>
  </p:normalViewPr>
  <p:slideViewPr>
    <p:cSldViewPr snapToGrid="0">
      <p:cViewPr>
        <p:scale>
          <a:sx n="100" d="100"/>
          <a:sy n="100" d="100"/>
        </p:scale>
        <p:origin x="1362" y="318"/>
      </p:cViewPr>
      <p:guideLst>
        <p:guide orient="horz" pos="2160"/>
        <p:guide pos="3120"/>
      </p:guideLst>
    </p:cSldViewPr>
  </p:slideViewPr>
  <p:notesTextViewPr>
    <p:cViewPr>
      <p:scale>
        <a:sx n="3" d="2"/>
        <a:sy n="3" d="2"/>
      </p:scale>
      <p:origin x="0" y="0"/>
    </p:cViewPr>
  </p:notesTextViewPr>
  <p:sorterViewPr>
    <p:cViewPr>
      <p:scale>
        <a:sx n="100" d="100"/>
        <a:sy n="100" d="100"/>
      </p:scale>
      <p:origin x="0" y="0"/>
    </p:cViewPr>
  </p:sorterViewPr>
  <p:notesViewPr>
    <p:cSldViewPr snapToGrid="0">
      <p:cViewPr>
        <p:scale>
          <a:sx n="130" d="100"/>
          <a:sy n="130" d="100"/>
        </p:scale>
        <p:origin x="1008" y="-310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handoutMaster" Target="handoutMasters/handoutMaster1.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notesMaster" Target="notesMasters/notesMaster1.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1"/>
            <a:ext cx="2947512" cy="498236"/>
          </a:xfrm>
          <a:prstGeom prst="rect">
            <a:avLst/>
          </a:prstGeom>
        </p:spPr>
        <p:txBody>
          <a:bodyPr vert="horz" lIns="91385" tIns="45693" rIns="91385" bIns="45693"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53341" y="1"/>
            <a:ext cx="2947512" cy="498236"/>
          </a:xfrm>
          <a:prstGeom prst="rect">
            <a:avLst/>
          </a:prstGeom>
        </p:spPr>
        <p:txBody>
          <a:bodyPr vert="horz" lIns="91385" tIns="45693" rIns="91385" bIns="45693" rtlCol="0"/>
          <a:lstStyle>
            <a:lvl1pPr algn="r">
              <a:defRPr sz="1200"/>
            </a:lvl1pPr>
          </a:lstStyle>
          <a:p>
            <a:fld id="{9419EFD4-15CD-40C2-A220-512208384092}" type="datetimeFigureOut">
              <a:rPr kumimoji="1" lang="ja-JP" altLang="en-US" smtClean="0"/>
              <a:t>2026/10/14</a:t>
            </a:fld>
            <a:endParaRPr kumimoji="1" lang="ja-JP" altLang="en-US"/>
          </a:p>
        </p:txBody>
      </p:sp>
      <p:sp>
        <p:nvSpPr>
          <p:cNvPr id="4" name="フッター プレースホルダー 3"/>
          <p:cNvSpPr>
            <a:spLocks noGrp="1"/>
          </p:cNvSpPr>
          <p:nvPr>
            <p:ph type="ftr" sz="quarter" idx="2"/>
          </p:nvPr>
        </p:nvSpPr>
        <p:spPr>
          <a:xfrm>
            <a:off x="0" y="9436339"/>
            <a:ext cx="2947512" cy="498236"/>
          </a:xfrm>
          <a:prstGeom prst="rect">
            <a:avLst/>
          </a:prstGeom>
        </p:spPr>
        <p:txBody>
          <a:bodyPr vert="horz" lIns="91385" tIns="45693" rIns="91385" bIns="45693"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3341" y="9436339"/>
            <a:ext cx="2947512" cy="498236"/>
          </a:xfrm>
          <a:prstGeom prst="rect">
            <a:avLst/>
          </a:prstGeom>
        </p:spPr>
        <p:txBody>
          <a:bodyPr vert="horz" lIns="91385" tIns="45693" rIns="91385" bIns="45693" rtlCol="0" anchor="b"/>
          <a:lstStyle>
            <a:lvl1pPr algn="r">
              <a:defRPr sz="1200"/>
            </a:lvl1pPr>
          </a:lstStyle>
          <a:p>
            <a:fld id="{1BDF2BAB-0D9F-4A26-8F59-A1B8FF7EB0E3}" type="slidenum">
              <a:rPr kumimoji="1" lang="ja-JP" altLang="en-US" smtClean="0"/>
              <a:t>‹#›</a:t>
            </a:fld>
            <a:endParaRPr kumimoji="1" lang="ja-JP" altLang="en-US"/>
          </a:p>
        </p:txBody>
      </p:sp>
    </p:spTree>
    <p:extLst>
      <p:ext uri="{BB962C8B-B14F-4D97-AF65-F5344CB8AC3E}">
        <p14:creationId xmlns:p14="http://schemas.microsoft.com/office/powerpoint/2010/main" val="257470132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47722" cy="498454"/>
          </a:xfrm>
          <a:prstGeom prst="rect">
            <a:avLst/>
          </a:prstGeom>
        </p:spPr>
        <p:txBody>
          <a:bodyPr vert="horz" lIns="91495" tIns="45748" rIns="91495" bIns="45748"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3142" y="2"/>
            <a:ext cx="2947722" cy="498454"/>
          </a:xfrm>
          <a:prstGeom prst="rect">
            <a:avLst/>
          </a:prstGeom>
        </p:spPr>
        <p:txBody>
          <a:bodyPr vert="horz" lIns="91495" tIns="45748" rIns="91495" bIns="45748" rtlCol="0"/>
          <a:lstStyle>
            <a:lvl1pPr algn="r">
              <a:defRPr sz="1200"/>
            </a:lvl1pPr>
          </a:lstStyle>
          <a:p>
            <a:fld id="{A811CA1F-CBC6-4416-AD50-3C64E4A227D9}" type="datetimeFigureOut">
              <a:rPr kumimoji="1" lang="ja-JP" altLang="en-US" smtClean="0"/>
              <a:pPr/>
              <a:t>2026/10/14</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0288" cy="3351212"/>
          </a:xfrm>
          <a:prstGeom prst="rect">
            <a:avLst/>
          </a:prstGeom>
          <a:noFill/>
          <a:ln w="12700">
            <a:solidFill>
              <a:prstClr val="black"/>
            </a:solidFill>
          </a:ln>
        </p:spPr>
        <p:txBody>
          <a:bodyPr vert="horz" lIns="91495" tIns="45748" rIns="91495" bIns="45748" rtlCol="0" anchor="ctr"/>
          <a:lstStyle/>
          <a:p>
            <a:endParaRPr lang="ja-JP" altLang="en-US"/>
          </a:p>
        </p:txBody>
      </p:sp>
      <p:sp>
        <p:nvSpPr>
          <p:cNvPr id="5" name="ノート プレースホルダー 4"/>
          <p:cNvSpPr>
            <a:spLocks noGrp="1"/>
          </p:cNvSpPr>
          <p:nvPr>
            <p:ph type="body" sz="quarter" idx="3"/>
          </p:nvPr>
        </p:nvSpPr>
        <p:spPr>
          <a:xfrm>
            <a:off x="680244" y="4781014"/>
            <a:ext cx="5441950" cy="3911740"/>
          </a:xfrm>
          <a:prstGeom prst="rect">
            <a:avLst/>
          </a:prstGeom>
        </p:spPr>
        <p:txBody>
          <a:bodyPr vert="horz" lIns="91495" tIns="45748" rIns="91495" bIns="45748"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36123"/>
            <a:ext cx="2947722" cy="498453"/>
          </a:xfrm>
          <a:prstGeom prst="rect">
            <a:avLst/>
          </a:prstGeom>
        </p:spPr>
        <p:txBody>
          <a:bodyPr vert="horz" lIns="91495" tIns="45748" rIns="91495" bIns="45748"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3142" y="9436123"/>
            <a:ext cx="2947722" cy="498453"/>
          </a:xfrm>
          <a:prstGeom prst="rect">
            <a:avLst/>
          </a:prstGeom>
        </p:spPr>
        <p:txBody>
          <a:bodyPr vert="horz" lIns="91495" tIns="45748" rIns="91495" bIns="45748" rtlCol="0" anchor="b"/>
          <a:lstStyle>
            <a:lvl1pPr algn="r">
              <a:defRPr sz="1200"/>
            </a:lvl1pPr>
          </a:lstStyle>
          <a:p>
            <a:fld id="{A55FD839-83AC-48BA-85B3-C4064274654D}" type="slidenum">
              <a:rPr kumimoji="1" lang="ja-JP" altLang="en-US" smtClean="0"/>
              <a:pPr/>
              <a:t>‹#›</a:t>
            </a:fld>
            <a:endParaRPr kumimoji="1" lang="ja-JP" altLang="en-US"/>
          </a:p>
        </p:txBody>
      </p:sp>
    </p:spTree>
    <p:extLst>
      <p:ext uri="{BB962C8B-B14F-4D97-AF65-F5344CB8AC3E}">
        <p14:creationId xmlns:p14="http://schemas.microsoft.com/office/powerpoint/2010/main" val="78717046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4" name="スライド番号プレースホルダー 3"/>
          <p:cNvSpPr>
            <a:spLocks noGrp="1"/>
          </p:cNvSpPr>
          <p:nvPr>
            <p:ph type="sldNum" sz="quarter" idx="10"/>
          </p:nvPr>
        </p:nvSpPr>
        <p:spPr/>
        <p:txBody>
          <a:bodyPr/>
          <a:lstStyle/>
          <a:p>
            <a:fld id="{A55FD839-83AC-48BA-85B3-C4064274654D}" type="slidenum">
              <a:rPr kumimoji="1" lang="ja-JP" altLang="en-US" smtClean="0"/>
              <a:pPr/>
              <a:t>1</a:t>
            </a:fld>
            <a:endParaRPr kumimoji="1" lang="ja-JP" altLang="en-US"/>
          </a:p>
        </p:txBody>
      </p:sp>
      <p:sp>
        <p:nvSpPr>
          <p:cNvPr id="6" name="ノート プレースホルダー 5">
            <a:extLst>
              <a:ext uri="{FF2B5EF4-FFF2-40B4-BE49-F238E27FC236}">
                <a16:creationId xmlns:a16="http://schemas.microsoft.com/office/drawing/2014/main" id="{18346E95-FA0D-C182-00D1-754EEC9ED368}"/>
              </a:ext>
            </a:extLst>
          </p:cNvPr>
          <p:cNvSpPr>
            <a:spLocks noGrp="1"/>
          </p:cNvSpPr>
          <p:nvPr>
            <p:ph type="body" sz="quarter" idx="3"/>
          </p:nvPr>
        </p:nvSpPr>
        <p:spPr/>
        <p:txBody>
          <a:bodyPr/>
          <a:lstStyle/>
          <a:p>
            <a:endParaRPr lang="ja-JP" altLang="en-US"/>
          </a:p>
        </p:txBody>
      </p:sp>
    </p:spTree>
    <p:extLst>
      <p:ext uri="{BB962C8B-B14F-4D97-AF65-F5344CB8AC3E}">
        <p14:creationId xmlns:p14="http://schemas.microsoft.com/office/powerpoint/2010/main" val="9785555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sv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9792762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セクション見出し">
    <p:spTree>
      <p:nvGrpSpPr>
        <p:cNvPr id="1" name=""/>
        <p:cNvGrpSpPr/>
        <p:nvPr/>
      </p:nvGrpSpPr>
      <p:grpSpPr>
        <a:xfrm>
          <a:off x="0" y="0"/>
          <a:ext cx="0" cy="0"/>
          <a:chOff x="0" y="0"/>
          <a:chExt cx="0" cy="0"/>
        </a:xfrm>
      </p:grpSpPr>
      <p:sp>
        <p:nvSpPr>
          <p:cNvPr id="7" name="正方形/長方形 6"/>
          <p:cNvSpPr/>
          <p:nvPr userDrawn="1"/>
        </p:nvSpPr>
        <p:spPr>
          <a:xfrm>
            <a:off x="0" y="5895522"/>
            <a:ext cx="9906000" cy="962478"/>
          </a:xfrm>
          <a:prstGeom prst="rect">
            <a:avLst/>
          </a:prstGeom>
          <a:solidFill>
            <a:srgbClr val="F4E9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2" name="グラフィックス 1">
            <a:extLst>
              <a:ext uri="{FF2B5EF4-FFF2-40B4-BE49-F238E27FC236}">
                <a16:creationId xmlns:a16="http://schemas.microsoft.com/office/drawing/2014/main" id="{CEB28145-B0F9-46A8-B306-DD7E0427E53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855675" y="6125012"/>
            <a:ext cx="756594" cy="511961"/>
          </a:xfrm>
          <a:prstGeom prst="rect">
            <a:avLst/>
          </a:prstGeom>
        </p:spPr>
      </p:pic>
      <p:pic>
        <p:nvPicPr>
          <p:cNvPr id="3" name="グラフィックス 2">
            <a:extLst>
              <a:ext uri="{FF2B5EF4-FFF2-40B4-BE49-F238E27FC236}">
                <a16:creationId xmlns:a16="http://schemas.microsoft.com/office/drawing/2014/main" id="{E6A7191F-06AB-4D45-A011-B8383C6D3A4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12986" y="6068628"/>
            <a:ext cx="1279826" cy="621684"/>
          </a:xfrm>
          <a:prstGeom prst="rect">
            <a:avLst/>
          </a:prstGeom>
        </p:spPr>
      </p:pic>
      <p:pic>
        <p:nvPicPr>
          <p:cNvPr id="4" name="グラフィックス 3">
            <a:extLst>
              <a:ext uri="{FF2B5EF4-FFF2-40B4-BE49-F238E27FC236}">
                <a16:creationId xmlns:a16="http://schemas.microsoft.com/office/drawing/2014/main" id="{C96F71EE-2ABE-46CD-90C3-D0AECAFBC47E}"/>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2023033" y="6286600"/>
            <a:ext cx="2814630" cy="185737"/>
          </a:xfrm>
          <a:prstGeom prst="rect">
            <a:avLst/>
          </a:prstGeom>
        </p:spPr>
      </p:pic>
    </p:spTree>
    <p:extLst>
      <p:ext uri="{BB962C8B-B14F-4D97-AF65-F5344CB8AC3E}">
        <p14:creationId xmlns:p14="http://schemas.microsoft.com/office/powerpoint/2010/main" val="35718590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10" name="正方形/長方形 9"/>
          <p:cNvSpPr/>
          <p:nvPr/>
        </p:nvSpPr>
        <p:spPr>
          <a:xfrm>
            <a:off x="0" y="6506095"/>
            <a:ext cx="9906000" cy="354676"/>
          </a:xfrm>
          <a:prstGeom prst="rect">
            <a:avLst/>
          </a:prstGeom>
          <a:solidFill>
            <a:srgbClr val="F4E9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p:cNvSpPr txBox="1"/>
          <p:nvPr userDrawn="1"/>
        </p:nvSpPr>
        <p:spPr>
          <a:xfrm>
            <a:off x="9054353" y="6584909"/>
            <a:ext cx="794870" cy="215444"/>
          </a:xfrm>
          <a:prstGeom prst="rect">
            <a:avLst/>
          </a:prstGeom>
          <a:noFill/>
        </p:spPr>
        <p:txBody>
          <a:bodyPr wrap="square" rtlCol="0">
            <a:spAutoFit/>
          </a:bodyPr>
          <a:lstStyle/>
          <a:p>
            <a:pPr algn="r"/>
            <a:fld id="{153430F6-F9B1-43E8-B704-148CEDF9D3A1}" type="slidenum">
              <a:rPr kumimoji="1" lang="en-US" altLang="ja-JP" sz="800" smtClean="0"/>
              <a:pPr algn="r"/>
              <a:t>‹#›</a:t>
            </a:fld>
            <a:endParaRPr kumimoji="1" lang="ja-JP" altLang="en-US" sz="800" dirty="0"/>
          </a:p>
        </p:txBody>
      </p:sp>
      <p:pic>
        <p:nvPicPr>
          <p:cNvPr id="12" name="図 1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56226" y="6577333"/>
            <a:ext cx="439084" cy="214436"/>
          </a:xfrm>
          <a:prstGeom prst="rect">
            <a:avLst/>
          </a:prstGeom>
        </p:spPr>
      </p:pic>
      <p:pic>
        <p:nvPicPr>
          <p:cNvPr id="3" name="グラフィックス 2">
            <a:extLst>
              <a:ext uri="{FF2B5EF4-FFF2-40B4-BE49-F238E27FC236}">
                <a16:creationId xmlns:a16="http://schemas.microsoft.com/office/drawing/2014/main" id="{23638BC1-37FC-4F36-927F-B64D05FD2C0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51536" y="6647029"/>
            <a:ext cx="794870" cy="79487"/>
          </a:xfrm>
          <a:prstGeom prst="rect">
            <a:avLst/>
          </a:prstGeom>
        </p:spPr>
      </p:pic>
      <p:sp>
        <p:nvSpPr>
          <p:cNvPr id="2" name="正方形/長方形 1">
            <a:extLst>
              <a:ext uri="{FF2B5EF4-FFF2-40B4-BE49-F238E27FC236}">
                <a16:creationId xmlns:a16="http://schemas.microsoft.com/office/drawing/2014/main" id="{F056FD3A-ED20-BF94-0FB1-66B26C4481E0}"/>
              </a:ext>
            </a:extLst>
          </p:cNvPr>
          <p:cNvSpPr/>
          <p:nvPr userDrawn="1"/>
        </p:nvSpPr>
        <p:spPr>
          <a:xfrm>
            <a:off x="0" y="0"/>
            <a:ext cx="9906000" cy="312420"/>
          </a:xfrm>
          <a:prstGeom prst="rect">
            <a:avLst/>
          </a:prstGeom>
          <a:solidFill>
            <a:srgbClr val="F4E94A"/>
          </a:solidFill>
          <a:ln>
            <a:solidFill>
              <a:srgbClr val="F4E94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313214803"/>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10" name="正方形/長方形 9"/>
          <p:cNvSpPr/>
          <p:nvPr/>
        </p:nvSpPr>
        <p:spPr>
          <a:xfrm>
            <a:off x="0" y="6506095"/>
            <a:ext cx="9906000" cy="354676"/>
          </a:xfrm>
          <a:prstGeom prst="rect">
            <a:avLst/>
          </a:prstGeom>
          <a:solidFill>
            <a:srgbClr val="F4E9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図 1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56226" y="6577333"/>
            <a:ext cx="439084" cy="214436"/>
          </a:xfrm>
          <a:prstGeom prst="rect">
            <a:avLst/>
          </a:prstGeom>
        </p:spPr>
      </p:pic>
      <p:pic>
        <p:nvPicPr>
          <p:cNvPr id="3" name="グラフィックス 2">
            <a:extLst>
              <a:ext uri="{FF2B5EF4-FFF2-40B4-BE49-F238E27FC236}">
                <a16:creationId xmlns:a16="http://schemas.microsoft.com/office/drawing/2014/main" id="{23638BC1-37FC-4F36-927F-B64D05FD2C0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51536" y="6647029"/>
            <a:ext cx="794870" cy="79487"/>
          </a:xfrm>
          <a:prstGeom prst="rect">
            <a:avLst/>
          </a:prstGeom>
        </p:spPr>
      </p:pic>
    </p:spTree>
    <p:extLst>
      <p:ext uri="{BB962C8B-B14F-4D97-AF65-F5344CB8AC3E}">
        <p14:creationId xmlns:p14="http://schemas.microsoft.com/office/powerpoint/2010/main" val="3114992436"/>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681038" y="1825625"/>
            <a:ext cx="421005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5014913" y="1825625"/>
            <a:ext cx="421005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A8A47E6C-0212-4372-B82D-7ABB435F7E95}" type="datetime1">
              <a:rPr kumimoji="1" lang="ja-JP" altLang="en-US" smtClean="0"/>
              <a:pPr/>
              <a:t>2026/10/14</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86E4E361-8713-40B6-A100-2AF178479724}" type="slidenum">
              <a:rPr kumimoji="1" lang="ja-JP" altLang="en-US" smtClean="0"/>
              <a:pPr/>
              <a:t>‹#›</a:t>
            </a:fld>
            <a:endParaRPr kumimoji="1" lang="ja-JP" altLang="en-US"/>
          </a:p>
        </p:txBody>
      </p:sp>
    </p:spTree>
    <p:extLst>
      <p:ext uri="{BB962C8B-B14F-4D97-AF65-F5344CB8AC3E}">
        <p14:creationId xmlns:p14="http://schemas.microsoft.com/office/powerpoint/2010/main" val="381050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682328" y="365127"/>
            <a:ext cx="8543925" cy="1325563"/>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682329" y="1681163"/>
            <a:ext cx="419070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682329" y="2505075"/>
            <a:ext cx="4190702"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5014913" y="1681163"/>
            <a:ext cx="4211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5014913" y="2505075"/>
            <a:ext cx="4211340"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ED40E438-6206-45D4-9E7D-73689BD1EE2E}" type="datetime1">
              <a:rPr kumimoji="1" lang="ja-JP" altLang="en-US" smtClean="0"/>
              <a:pPr/>
              <a:t>2026/10/14</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86E4E361-8713-40B6-A100-2AF178479724}" type="slidenum">
              <a:rPr kumimoji="1" lang="ja-JP" altLang="en-US" smtClean="0"/>
              <a:pPr/>
              <a:t>‹#›</a:t>
            </a:fld>
            <a:endParaRPr kumimoji="1" lang="ja-JP" altLang="en-US"/>
          </a:p>
        </p:txBody>
      </p:sp>
    </p:spTree>
    <p:extLst>
      <p:ext uri="{BB962C8B-B14F-4D97-AF65-F5344CB8AC3E}">
        <p14:creationId xmlns:p14="http://schemas.microsoft.com/office/powerpoint/2010/main" val="2375768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Tree>
    <p:extLst>
      <p:ext uri="{BB962C8B-B14F-4D97-AF65-F5344CB8AC3E}">
        <p14:creationId xmlns:p14="http://schemas.microsoft.com/office/powerpoint/2010/main" val="4260295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62BDDE3-EBF6-4FA2-AC54-0EE1201806F3}" type="datetime1">
              <a:rPr kumimoji="1" lang="ja-JP" altLang="en-US" smtClean="0"/>
              <a:pPr/>
              <a:t>2026/10/14</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86E4E361-8713-40B6-A100-2AF178479724}" type="slidenum">
              <a:rPr kumimoji="1" lang="ja-JP" altLang="en-US" smtClean="0"/>
              <a:pPr/>
              <a:t>‹#›</a:t>
            </a:fld>
            <a:endParaRPr kumimoji="1" lang="ja-JP" altLang="en-US"/>
          </a:p>
        </p:txBody>
      </p:sp>
    </p:spTree>
    <p:extLst>
      <p:ext uri="{BB962C8B-B14F-4D97-AF65-F5344CB8AC3E}">
        <p14:creationId xmlns:p14="http://schemas.microsoft.com/office/powerpoint/2010/main" val="30066625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ja-JP" altLang="en-US"/>
              <a:t>マスター タイトルの書式設定</a:t>
            </a:r>
            <a:endParaRPr lang="en-US" dirty="0"/>
          </a:p>
        </p:txBody>
      </p:sp>
      <p:sp>
        <p:nvSpPr>
          <p:cNvPr id="3" name="Content Placeholder 2"/>
          <p:cNvSpPr>
            <a:spLocks noGrp="1"/>
          </p:cNvSpPr>
          <p:nvPr>
            <p:ph idx="1"/>
          </p:nvPr>
        </p:nvSpPr>
        <p:spPr>
          <a:xfrm>
            <a:off x="4211340" y="987427"/>
            <a:ext cx="501491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D7907B9C-3321-43D5-A6AB-834DC3297F2B}" type="datetime1">
              <a:rPr kumimoji="1" lang="ja-JP" altLang="en-US" smtClean="0"/>
              <a:pPr/>
              <a:t>2026/10/14</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86E4E361-8713-40B6-A100-2AF178479724}" type="slidenum">
              <a:rPr kumimoji="1" lang="ja-JP" altLang="en-US" smtClean="0"/>
              <a:pPr/>
              <a:t>‹#›</a:t>
            </a:fld>
            <a:endParaRPr kumimoji="1" lang="ja-JP" altLang="en-US"/>
          </a:p>
        </p:txBody>
      </p:sp>
    </p:spTree>
    <p:extLst>
      <p:ext uri="{BB962C8B-B14F-4D97-AF65-F5344CB8AC3E}">
        <p14:creationId xmlns:p14="http://schemas.microsoft.com/office/powerpoint/2010/main" val="658023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4211340" y="987427"/>
            <a:ext cx="5014913"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図を追加</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938A80E6-8F9F-4F6D-B5CB-F870B1E21ECA}" type="datetime1">
              <a:rPr kumimoji="1" lang="ja-JP" altLang="en-US" smtClean="0"/>
              <a:pPr/>
              <a:t>2026/10/14</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86E4E361-8713-40B6-A100-2AF178479724}" type="slidenum">
              <a:rPr kumimoji="1" lang="ja-JP" altLang="en-US" smtClean="0"/>
              <a:pPr/>
              <a:t>‹#›</a:t>
            </a:fld>
            <a:endParaRPr kumimoji="1" lang="ja-JP" altLang="en-US"/>
          </a:p>
        </p:txBody>
      </p:sp>
    </p:spTree>
    <p:extLst>
      <p:ext uri="{BB962C8B-B14F-4D97-AF65-F5344CB8AC3E}">
        <p14:creationId xmlns:p14="http://schemas.microsoft.com/office/powerpoint/2010/main" val="1298200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CD830B0-6D79-4FD5-A4C0-EF1475B25D88}" type="datetime1">
              <a:rPr kumimoji="1" lang="ja-JP" altLang="en-US" smtClean="0"/>
              <a:pPr/>
              <a:t>2026/10/14</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86E4E361-8713-40B6-A100-2AF178479724}" type="slidenum">
              <a:rPr kumimoji="1" lang="ja-JP" altLang="en-US" smtClean="0"/>
              <a:pPr/>
              <a:t>‹#›</a:t>
            </a:fld>
            <a:endParaRPr kumimoji="1" lang="ja-JP" altLang="en-US"/>
          </a:p>
        </p:txBody>
      </p:sp>
    </p:spTree>
    <p:extLst>
      <p:ext uri="{BB962C8B-B14F-4D97-AF65-F5344CB8AC3E}">
        <p14:creationId xmlns:p14="http://schemas.microsoft.com/office/powerpoint/2010/main" val="28154482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088982" y="365125"/>
            <a:ext cx="2135981" cy="5811838"/>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681038" y="365125"/>
            <a:ext cx="6284119" cy="5811838"/>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4979E9CC-AD96-4AD0-84B2-246C4B8E0998}" type="datetime1">
              <a:rPr kumimoji="1" lang="ja-JP" altLang="en-US" smtClean="0"/>
              <a:pPr/>
              <a:t>2026/10/14</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86E4E361-8713-40B6-A100-2AF178479724}" type="slidenum">
              <a:rPr kumimoji="1" lang="ja-JP" altLang="en-US" smtClean="0"/>
              <a:pPr/>
              <a:t>‹#›</a:t>
            </a:fld>
            <a:endParaRPr kumimoji="1" lang="ja-JP" altLang="en-US"/>
          </a:p>
        </p:txBody>
      </p:sp>
    </p:spTree>
    <p:extLst>
      <p:ext uri="{BB962C8B-B14F-4D97-AF65-F5344CB8AC3E}">
        <p14:creationId xmlns:p14="http://schemas.microsoft.com/office/powerpoint/2010/main" val="34142215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1038" y="365127"/>
            <a:ext cx="8543925" cy="1325563"/>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681038" y="6356352"/>
            <a:ext cx="222885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4709FE6-9F7F-4475-A799-F09E5B44CDB3}" type="datetime1">
              <a:rPr kumimoji="1" lang="ja-JP" altLang="en-US" smtClean="0"/>
              <a:pPr/>
              <a:t>2026/10/14</a:t>
            </a:fld>
            <a:endParaRPr kumimoji="1" lang="ja-JP" altLang="en-US"/>
          </a:p>
        </p:txBody>
      </p:sp>
      <p:sp>
        <p:nvSpPr>
          <p:cNvPr id="5" name="Footer Placeholder 4"/>
          <p:cNvSpPr>
            <a:spLocks noGrp="1"/>
          </p:cNvSpPr>
          <p:nvPr>
            <p:ph type="ftr" sz="quarter" idx="3"/>
          </p:nvPr>
        </p:nvSpPr>
        <p:spPr>
          <a:xfrm>
            <a:off x="3281363" y="6356352"/>
            <a:ext cx="334327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a:xfrm>
            <a:off x="6996113" y="6356352"/>
            <a:ext cx="222885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6E4E361-8713-40B6-A100-2AF178479724}" type="slidenum">
              <a:rPr kumimoji="1" lang="ja-JP" altLang="en-US" smtClean="0"/>
              <a:pPr/>
              <a:t>‹#›</a:t>
            </a:fld>
            <a:endParaRPr kumimoji="1" lang="ja-JP" altLang="en-US"/>
          </a:p>
        </p:txBody>
      </p:sp>
    </p:spTree>
    <p:extLst>
      <p:ext uri="{BB962C8B-B14F-4D97-AF65-F5344CB8AC3E}">
        <p14:creationId xmlns:p14="http://schemas.microsoft.com/office/powerpoint/2010/main" val="2466269765"/>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2" r:id="rId3"/>
    <p:sldLayoutId id="2147483672"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hyperlink" Target="https://iwanai-iju.jp/" TargetMode="Externa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hyperlink" Target="https://iwanai-iju.jp/" TargetMode="Externa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p:cNvSpPr txBox="1"/>
          <p:nvPr/>
        </p:nvSpPr>
        <p:spPr>
          <a:xfrm>
            <a:off x="528917" y="997714"/>
            <a:ext cx="8848164" cy="2308324"/>
          </a:xfrm>
          <a:prstGeom prst="rect">
            <a:avLst/>
          </a:prstGeom>
          <a:noFill/>
        </p:spPr>
        <p:txBody>
          <a:bodyPr wrap="square" rtlCol="0">
            <a:spAutoFit/>
          </a:bodyPr>
          <a:lstStyle/>
          <a:p>
            <a:pPr algn="ctr">
              <a:lnSpc>
                <a:spcPct val="150000"/>
              </a:lnSpc>
            </a:pPr>
            <a:endParaRPr kumimoji="1" lang="en-US" altLang="ja-JP" sz="3200" dirty="0">
              <a:latin typeface="メイリオ" panose="020B0604030504040204" pitchFamily="50" charset="-128"/>
              <a:ea typeface="メイリオ" panose="020B0604030504040204" pitchFamily="50" charset="-128"/>
            </a:endParaRPr>
          </a:p>
          <a:p>
            <a:pPr algn="ctr">
              <a:lnSpc>
                <a:spcPct val="100000"/>
              </a:lnSpc>
            </a:pPr>
            <a:r>
              <a:rPr lang="ja-JP" altLang="en-US" sz="3200" dirty="0"/>
              <a:t>蟹</a:t>
            </a:r>
            <a:r>
              <a:rPr lang="ja-JP" altLang="ja-JP" sz="3200" dirty="0"/>
              <a:t>工船様 </a:t>
            </a:r>
            <a:endParaRPr lang="en-US" altLang="ja-JP" sz="3200" dirty="0"/>
          </a:p>
          <a:p>
            <a:pPr algn="ctr">
              <a:lnSpc>
                <a:spcPct val="100000"/>
              </a:lnSpc>
            </a:pPr>
            <a:r>
              <a:rPr lang="ja-JP" altLang="ja-JP" sz="3200" dirty="0"/>
              <a:t>LINE公式アカウント </a:t>
            </a:r>
            <a:endParaRPr lang="en-US" altLang="ja-JP" sz="3200" dirty="0"/>
          </a:p>
          <a:p>
            <a:pPr algn="ctr">
              <a:lnSpc>
                <a:spcPct val="100000"/>
              </a:lnSpc>
            </a:pPr>
            <a:r>
              <a:rPr lang="ja-JP" altLang="ja-JP" sz="3200" dirty="0"/>
              <a:t>運用・特典のご提案</a:t>
            </a:r>
            <a:endParaRPr kumimoji="1" lang="en-US" altLang="ja-JP" sz="3200" dirty="0">
              <a:latin typeface="メイリオ" panose="020B0604030504040204" pitchFamily="50" charset="-128"/>
              <a:ea typeface="メイリオ" panose="020B0604030504040204" pitchFamily="50" charset="-128"/>
            </a:endParaRPr>
          </a:p>
        </p:txBody>
      </p:sp>
      <p:sp>
        <p:nvSpPr>
          <p:cNvPr id="4" name="テキスト ボックス 3"/>
          <p:cNvSpPr txBox="1"/>
          <p:nvPr/>
        </p:nvSpPr>
        <p:spPr>
          <a:xfrm>
            <a:off x="4023351" y="5176887"/>
            <a:ext cx="1859297" cy="276999"/>
          </a:xfrm>
          <a:prstGeom prst="rect">
            <a:avLst/>
          </a:prstGeom>
          <a:noFill/>
        </p:spPr>
        <p:txBody>
          <a:bodyPr wrap="square" rtlCol="0">
            <a:spAutoFit/>
          </a:bodyPr>
          <a:lstStyle/>
          <a:p>
            <a:pPr algn="ctr"/>
            <a:r>
              <a:rPr kumimoji="1" lang="en-US" altLang="ja-JP" sz="1200" dirty="0">
                <a:latin typeface="メイリオ" panose="020B0604030504040204" pitchFamily="50" charset="-128"/>
                <a:ea typeface="メイリオ" panose="020B0604030504040204" pitchFamily="50" charset="-128"/>
              </a:rPr>
              <a:t>2026</a:t>
            </a:r>
            <a:r>
              <a:rPr kumimoji="1" lang="ja-JP" altLang="en-US" sz="1200" dirty="0">
                <a:latin typeface="メイリオ" panose="020B0604030504040204" pitchFamily="50" charset="-128"/>
                <a:ea typeface="メイリオ" panose="020B0604030504040204" pitchFamily="50" charset="-128"/>
              </a:rPr>
              <a:t>年</a:t>
            </a:r>
            <a:r>
              <a:rPr kumimoji="1" lang="en-US" altLang="ja-JP" sz="1200" dirty="0">
                <a:latin typeface="メイリオ" panose="020B0604030504040204" pitchFamily="50" charset="-128"/>
                <a:ea typeface="メイリオ" panose="020B0604030504040204" pitchFamily="50" charset="-128"/>
              </a:rPr>
              <a:t>10</a:t>
            </a:r>
            <a:r>
              <a:rPr kumimoji="1" lang="ja-JP" altLang="en-US" sz="1200" dirty="0">
                <a:latin typeface="メイリオ" panose="020B0604030504040204" pitchFamily="50" charset="-128"/>
                <a:ea typeface="メイリオ" panose="020B0604030504040204" pitchFamily="50" charset="-128"/>
              </a:rPr>
              <a:t>月</a:t>
            </a:r>
            <a:r>
              <a:rPr kumimoji="1" lang="en-US" altLang="ja-JP" sz="1200" dirty="0">
                <a:latin typeface="メイリオ" panose="020B0604030504040204" pitchFamily="50" charset="-128"/>
                <a:ea typeface="メイリオ" panose="020B0604030504040204" pitchFamily="50" charset="-128"/>
              </a:rPr>
              <a:t>14</a:t>
            </a:r>
            <a:r>
              <a:rPr kumimoji="1" lang="ja-JP" altLang="en-US" sz="1200" dirty="0">
                <a:latin typeface="メイリオ" panose="020B0604030504040204" pitchFamily="50" charset="-128"/>
                <a:ea typeface="メイリオ" panose="020B0604030504040204" pitchFamily="50" charset="-128"/>
              </a:rPr>
              <a:t>日</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2520738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DC7A2F28-4005-593B-03BB-74DC98A1A5EB}"/>
              </a:ext>
            </a:extLst>
          </p:cNvPr>
          <p:cNvSpPr txBox="1"/>
          <p:nvPr/>
        </p:nvSpPr>
        <p:spPr>
          <a:xfrm>
            <a:off x="227573" y="44659"/>
            <a:ext cx="4559261" cy="307777"/>
          </a:xfrm>
          <a:prstGeom prst="rect">
            <a:avLst/>
          </a:prstGeom>
          <a:noFill/>
        </p:spPr>
        <p:txBody>
          <a:bodyPr wrap="none" rtlCol="0">
            <a:spAutoFit/>
          </a:bodyPr>
          <a:lstStyle/>
          <a:p>
            <a:r>
              <a:rPr kumimoji="1" lang="en-US" altLang="ja-JP" sz="1400" b="1" dirty="0"/>
              <a:t>1. </a:t>
            </a:r>
            <a:r>
              <a:rPr lang="ja-JP" altLang="en-US" sz="1400" b="1" dirty="0"/>
              <a:t>既存</a:t>
            </a:r>
            <a:r>
              <a:rPr lang="en-US" altLang="ja-JP" sz="1400" b="1" dirty="0"/>
              <a:t>SNS</a:t>
            </a:r>
            <a:r>
              <a:rPr lang="ja-JP" altLang="en-US" sz="1400" b="1" dirty="0"/>
              <a:t>・他媒体との差別化と、特典内容のご提案</a:t>
            </a:r>
          </a:p>
        </p:txBody>
      </p:sp>
      <p:sp>
        <p:nvSpPr>
          <p:cNvPr id="111" name="テキスト ボックス 110">
            <a:extLst>
              <a:ext uri="{FF2B5EF4-FFF2-40B4-BE49-F238E27FC236}">
                <a16:creationId xmlns:a16="http://schemas.microsoft.com/office/drawing/2014/main" id="{3AAF62DF-639E-D74B-2597-7BC518891F24}"/>
              </a:ext>
            </a:extLst>
          </p:cNvPr>
          <p:cNvSpPr txBox="1"/>
          <p:nvPr/>
        </p:nvSpPr>
        <p:spPr>
          <a:xfrm>
            <a:off x="227573" y="474392"/>
            <a:ext cx="9284302" cy="617861"/>
          </a:xfrm>
          <a:prstGeom prst="rect">
            <a:avLst/>
          </a:prstGeom>
          <a:noFill/>
        </p:spPr>
        <p:txBody>
          <a:bodyPr wrap="square">
            <a:spAutoFit/>
          </a:bodyPr>
          <a:lstStyle/>
          <a:p>
            <a:pPr>
              <a:lnSpc>
                <a:spcPct val="120000"/>
              </a:lnSpc>
              <a:defRPr sz="1300" b="0">
                <a:solidFill>
                  <a:srgbClr val="2B2B2B"/>
                </a:solidFill>
                <a:latin typeface="Meiryo"/>
              </a:defRPr>
            </a:pPr>
            <a:r>
              <a:rPr lang="ja-JP" altLang="en-US" sz="1300" b="0" i="0" u="none" strike="noStrike" baseline="0" dirty="0">
                <a:solidFill>
                  <a:srgbClr val="000000"/>
                </a:solidFill>
                <a:latin typeface="メイリオ" panose="020B0604030504040204" pitchFamily="50" charset="-128"/>
                <a:ea typeface="メイリオ" panose="020B0604030504040204" pitchFamily="50" charset="-128"/>
              </a:rPr>
              <a:t>■</a:t>
            </a:r>
            <a:r>
              <a:rPr lang="ja-JP" altLang="en-US" sz="1300" dirty="0"/>
              <a:t>基本コンセプト</a:t>
            </a:r>
            <a:r>
              <a:rPr lang="ja-JP" altLang="en-US" sz="1600" dirty="0"/>
              <a:t>：</a:t>
            </a:r>
            <a:r>
              <a:rPr lang="ja-JP" altLang="en-US" sz="1300" dirty="0"/>
              <a:t>既存の</a:t>
            </a:r>
            <a:r>
              <a:rPr lang="en-US" altLang="ja-JP" sz="1300" dirty="0"/>
              <a:t>SNS</a:t>
            </a:r>
            <a:r>
              <a:rPr lang="ja-JP" altLang="en-US" sz="1300" dirty="0"/>
              <a:t>特典（ </a:t>
            </a:r>
            <a:r>
              <a:rPr lang="en-US" altLang="ja-JP" sz="1300" dirty="0"/>
              <a:t>https://www.sapporokanikosen.com/freegift </a:t>
            </a:r>
            <a:r>
              <a:rPr lang="ja-JP" altLang="en-US" sz="1300" dirty="0"/>
              <a:t>）の「食後のデザート系」とは別の特典として、</a:t>
            </a:r>
            <a:r>
              <a:rPr lang="en-US" altLang="ja-JP" sz="1300" b="1" dirty="0"/>
              <a:t>LINE</a:t>
            </a:r>
            <a:r>
              <a:rPr lang="ja-JP" altLang="en-US" sz="1300" b="1" dirty="0"/>
              <a:t>では「海鮮丼を食べる方」や「お土産を買う方」に喜んでいただける</a:t>
            </a:r>
            <a:r>
              <a:rPr lang="ja-JP" altLang="en-US" sz="1300" dirty="0"/>
              <a:t>内容を考えました。</a:t>
            </a:r>
          </a:p>
        </p:txBody>
      </p:sp>
      <p:sp>
        <p:nvSpPr>
          <p:cNvPr id="115" name="Rounded Rectangle 10">
            <a:extLst>
              <a:ext uri="{FF2B5EF4-FFF2-40B4-BE49-F238E27FC236}">
                <a16:creationId xmlns:a16="http://schemas.microsoft.com/office/drawing/2014/main" id="{F041B8DC-9F08-63A4-85FB-02BBF6604CFB}"/>
              </a:ext>
            </a:extLst>
          </p:cNvPr>
          <p:cNvSpPr/>
          <p:nvPr/>
        </p:nvSpPr>
        <p:spPr>
          <a:xfrm>
            <a:off x="227572" y="1466101"/>
            <a:ext cx="4495800" cy="4608576"/>
          </a:xfrm>
          <a:prstGeom prst="roundRect">
            <a:avLst/>
          </a:prstGeom>
          <a:solidFill>
            <a:srgbClr val="FFFFFF"/>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Rounded Rectangle 10">
            <a:extLst>
              <a:ext uri="{FF2B5EF4-FFF2-40B4-BE49-F238E27FC236}">
                <a16:creationId xmlns:a16="http://schemas.microsoft.com/office/drawing/2014/main" id="{E28D3BD8-9B8A-77AF-0EDC-73E0C4FF0D4C}"/>
              </a:ext>
            </a:extLst>
          </p:cNvPr>
          <p:cNvSpPr/>
          <p:nvPr/>
        </p:nvSpPr>
        <p:spPr>
          <a:xfrm>
            <a:off x="5182627" y="1466101"/>
            <a:ext cx="4495800" cy="4608576"/>
          </a:xfrm>
          <a:prstGeom prst="roundRect">
            <a:avLst/>
          </a:prstGeom>
          <a:solidFill>
            <a:srgbClr val="FFFFFF"/>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Rectangle 11">
            <a:extLst>
              <a:ext uri="{FF2B5EF4-FFF2-40B4-BE49-F238E27FC236}">
                <a16:creationId xmlns:a16="http://schemas.microsoft.com/office/drawing/2014/main" id="{0D25FF01-7369-3DB5-E959-8292127813B9}"/>
              </a:ext>
            </a:extLst>
          </p:cNvPr>
          <p:cNvSpPr/>
          <p:nvPr/>
        </p:nvSpPr>
        <p:spPr>
          <a:xfrm>
            <a:off x="227573" y="1466101"/>
            <a:ext cx="4495800" cy="719750"/>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nSpc>
                <a:spcPct val="125000"/>
              </a:lnSpc>
              <a:defRPr sz="1400" b="1">
                <a:solidFill>
                  <a:srgbClr val="FFFFFF"/>
                </a:solidFill>
                <a:latin typeface="Meiryo"/>
              </a:defRPr>
            </a:pPr>
            <a:r>
              <a:rPr lang="ja-JP" altLang="en-US" dirty="0"/>
              <a:t>特典①：友だち追加特典</a:t>
            </a:r>
            <a:endParaRPr lang="en-US" altLang="ja-JP" dirty="0"/>
          </a:p>
          <a:p>
            <a:pPr>
              <a:lnSpc>
                <a:spcPct val="125000"/>
              </a:lnSpc>
              <a:defRPr sz="1400" b="1">
                <a:solidFill>
                  <a:srgbClr val="FFFFFF"/>
                </a:solidFill>
                <a:latin typeface="Meiryo"/>
              </a:defRPr>
            </a:pPr>
            <a:r>
              <a:rPr lang="ja-JP" altLang="en-US" dirty="0"/>
              <a:t>　　　（とりあえず登録してもらうきっかけ用）</a:t>
            </a:r>
          </a:p>
        </p:txBody>
      </p:sp>
      <p:sp>
        <p:nvSpPr>
          <p:cNvPr id="129" name="Rectangle 11">
            <a:extLst>
              <a:ext uri="{FF2B5EF4-FFF2-40B4-BE49-F238E27FC236}">
                <a16:creationId xmlns:a16="http://schemas.microsoft.com/office/drawing/2014/main" id="{5AC800A9-DA82-5B23-F9F9-7ED6EDCEF5EF}"/>
              </a:ext>
            </a:extLst>
          </p:cNvPr>
          <p:cNvSpPr/>
          <p:nvPr/>
        </p:nvSpPr>
        <p:spPr>
          <a:xfrm>
            <a:off x="5182627" y="1466101"/>
            <a:ext cx="4495800" cy="719750"/>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nSpc>
                <a:spcPct val="125000"/>
              </a:lnSpc>
              <a:defRPr sz="1400" b="1">
                <a:solidFill>
                  <a:srgbClr val="FFFFFF"/>
                </a:solidFill>
                <a:latin typeface="Meiryo"/>
              </a:defRPr>
            </a:pPr>
            <a:r>
              <a:rPr lang="ja-JP" altLang="en-US" dirty="0"/>
              <a:t>特典②：</a:t>
            </a:r>
            <a:r>
              <a:rPr lang="en-US" altLang="ja-JP" dirty="0"/>
              <a:t>LINE</a:t>
            </a:r>
            <a:r>
              <a:rPr lang="ja-JP" altLang="en-US" dirty="0"/>
              <a:t>ショップカード</a:t>
            </a:r>
            <a:endParaRPr lang="en-US" altLang="ja-JP" dirty="0"/>
          </a:p>
          <a:p>
            <a:pPr>
              <a:lnSpc>
                <a:spcPct val="100000"/>
              </a:lnSpc>
              <a:defRPr sz="1400" b="1">
                <a:solidFill>
                  <a:srgbClr val="FFFFFF"/>
                </a:solidFill>
                <a:latin typeface="Meiryo"/>
              </a:defRPr>
            </a:pPr>
            <a:r>
              <a:rPr lang="ja-JP" altLang="en-US" dirty="0"/>
              <a:t>　　　</a:t>
            </a:r>
            <a:r>
              <a:rPr lang="ja-JP" altLang="ja-JP" sz="1400" b="1" dirty="0">
                <a:solidFill>
                  <a:srgbClr val="FFFFFF"/>
                </a:solidFill>
                <a:latin typeface="Meiryo"/>
              </a:rPr>
              <a:t>（リピートして</a:t>
            </a:r>
            <a:r>
              <a:rPr lang="ja-JP" altLang="en-US" sz="1400" b="1" dirty="0">
                <a:solidFill>
                  <a:srgbClr val="FFFFFF"/>
                </a:solidFill>
                <a:latin typeface="Meiryo"/>
              </a:rPr>
              <a:t>いただく</a:t>
            </a:r>
            <a:r>
              <a:rPr lang="ja-JP" altLang="ja-JP" sz="1400" b="1" dirty="0">
                <a:solidFill>
                  <a:srgbClr val="FFFFFF"/>
                </a:solidFill>
                <a:latin typeface="Meiryo"/>
              </a:rPr>
              <a:t>用）</a:t>
            </a:r>
            <a:endParaRPr lang="ja-JP" altLang="en-US" dirty="0"/>
          </a:p>
        </p:txBody>
      </p:sp>
      <p:sp>
        <p:nvSpPr>
          <p:cNvPr id="131" name="Rounded Rectangle 13">
            <a:extLst>
              <a:ext uri="{FF2B5EF4-FFF2-40B4-BE49-F238E27FC236}">
                <a16:creationId xmlns:a16="http://schemas.microsoft.com/office/drawing/2014/main" id="{171D8F02-47EC-A3DB-F904-DB8FA78C494C}"/>
              </a:ext>
            </a:extLst>
          </p:cNvPr>
          <p:cNvSpPr/>
          <p:nvPr/>
        </p:nvSpPr>
        <p:spPr>
          <a:xfrm>
            <a:off x="394124" y="2306167"/>
            <a:ext cx="4162697" cy="863753"/>
          </a:xfrm>
          <a:prstGeom prst="roundRect">
            <a:avLst/>
          </a:prstGeom>
          <a:solidFill>
            <a:schemeClr val="bg1">
              <a:lumMod val="95000"/>
            </a:schemeClr>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ltLang="ja-JP" dirty="0">
              <a:solidFill>
                <a:schemeClr val="tx1"/>
              </a:solidFill>
            </a:endParaRPr>
          </a:p>
        </p:txBody>
      </p:sp>
      <p:sp>
        <p:nvSpPr>
          <p:cNvPr id="133" name="Rounded Rectangle 13">
            <a:extLst>
              <a:ext uri="{FF2B5EF4-FFF2-40B4-BE49-F238E27FC236}">
                <a16:creationId xmlns:a16="http://schemas.microsoft.com/office/drawing/2014/main" id="{E85F0A1B-8AE9-E0B0-AF89-F030FB464320}"/>
              </a:ext>
            </a:extLst>
          </p:cNvPr>
          <p:cNvSpPr/>
          <p:nvPr/>
        </p:nvSpPr>
        <p:spPr>
          <a:xfrm>
            <a:off x="5349178" y="2306167"/>
            <a:ext cx="4162697" cy="863753"/>
          </a:xfrm>
          <a:prstGeom prst="roundRect">
            <a:avLst/>
          </a:prstGeom>
          <a:solidFill>
            <a:schemeClr val="bg1">
              <a:lumMod val="95000"/>
            </a:schemeClr>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テキスト ボックス 133">
            <a:extLst>
              <a:ext uri="{FF2B5EF4-FFF2-40B4-BE49-F238E27FC236}">
                <a16:creationId xmlns:a16="http://schemas.microsoft.com/office/drawing/2014/main" id="{8A4F4F9D-18AC-75A1-7513-01FB2F85F24E}"/>
              </a:ext>
            </a:extLst>
          </p:cNvPr>
          <p:cNvSpPr txBox="1"/>
          <p:nvPr/>
        </p:nvSpPr>
        <p:spPr>
          <a:xfrm>
            <a:off x="676864" y="2384100"/>
            <a:ext cx="3597215" cy="707886"/>
          </a:xfrm>
          <a:prstGeom prst="rect">
            <a:avLst/>
          </a:prstGeom>
          <a:noFill/>
        </p:spPr>
        <p:txBody>
          <a:bodyPr wrap="square" rtlCol="0">
            <a:spAutoFit/>
          </a:bodyPr>
          <a:lstStyle/>
          <a:p>
            <a:r>
              <a:rPr lang="ja-JP" altLang="en-US" sz="800" dirty="0"/>
              <a:t>  友達追加で、無料でもらえる</a:t>
            </a:r>
            <a:br>
              <a:rPr lang="en-US" altLang="ja-JP" sz="800" dirty="0"/>
            </a:br>
            <a:endParaRPr lang="en-US" altLang="ja-JP" sz="800" dirty="0"/>
          </a:p>
          <a:p>
            <a:r>
              <a:rPr lang="ja-JP" altLang="en-US" sz="1200" dirty="0"/>
              <a:t>「いくらの小盛り」または</a:t>
            </a:r>
            <a:br>
              <a:rPr lang="ja-JP" altLang="en-US" sz="1200" dirty="0"/>
            </a:br>
            <a:r>
              <a:rPr lang="ja-JP" altLang="en-US" sz="1200" dirty="0"/>
              <a:t>「カニの身ちょい足し」トッピング無料サービス</a:t>
            </a:r>
          </a:p>
        </p:txBody>
      </p:sp>
      <p:sp>
        <p:nvSpPr>
          <p:cNvPr id="137" name="テキスト ボックス 136">
            <a:extLst>
              <a:ext uri="{FF2B5EF4-FFF2-40B4-BE49-F238E27FC236}">
                <a16:creationId xmlns:a16="http://schemas.microsoft.com/office/drawing/2014/main" id="{945A87BA-6D9D-91F0-E7A0-DC357EBA5E7A}"/>
              </a:ext>
            </a:extLst>
          </p:cNvPr>
          <p:cNvSpPr txBox="1"/>
          <p:nvPr/>
        </p:nvSpPr>
        <p:spPr>
          <a:xfrm>
            <a:off x="394122" y="3542189"/>
            <a:ext cx="4162697" cy="1954381"/>
          </a:xfrm>
          <a:prstGeom prst="rect">
            <a:avLst/>
          </a:prstGeom>
          <a:noFill/>
        </p:spPr>
        <p:txBody>
          <a:bodyPr wrap="square" rtlCol="0">
            <a:spAutoFit/>
          </a:bodyPr>
          <a:lstStyle/>
          <a:p>
            <a:r>
              <a:rPr lang="ja-JP" altLang="en-US" sz="1100" dirty="0"/>
              <a:t>●施策の狙いとメリット</a:t>
            </a:r>
            <a:br>
              <a:rPr lang="en-US" altLang="ja-JP" sz="1100" dirty="0"/>
            </a:br>
            <a:endParaRPr lang="ja-JP" altLang="en-US" sz="1100" dirty="0"/>
          </a:p>
          <a:p>
            <a:r>
              <a:rPr lang="ja-JP" altLang="ja-JP" sz="1100" dirty="0"/>
              <a:t>・気軽にご登録いただくための工夫：</a:t>
            </a:r>
            <a:endParaRPr lang="en-US" altLang="ja-JP" sz="1100" dirty="0"/>
          </a:p>
          <a:p>
            <a:r>
              <a:rPr lang="ja-JP" altLang="ja-JP" sz="1100" dirty="0"/>
              <a:t>次回以降のクーポンだけでなく、「今すぐ目の前のお食事</a:t>
            </a:r>
            <a:r>
              <a:rPr lang="ja-JP" altLang="en-US" sz="1100" dirty="0"/>
              <a:t>が</a:t>
            </a:r>
            <a:r>
              <a:rPr lang="ja-JP" altLang="ja-JP" sz="1100" dirty="0"/>
              <a:t>お得になる」というメリットをご提供することで、より多くのお客様にご登録いただきやすくなります。</a:t>
            </a:r>
            <a:endParaRPr lang="en-US" altLang="ja-JP" sz="1100" dirty="0"/>
          </a:p>
          <a:p>
            <a:endParaRPr kumimoji="1" lang="ja-JP" altLang="en-US" sz="1100" dirty="0"/>
          </a:p>
          <a:p>
            <a:r>
              <a:rPr kumimoji="1" lang="ja-JP" altLang="en-US" sz="1100" dirty="0"/>
              <a:t>・既存の</a:t>
            </a:r>
            <a:r>
              <a:rPr kumimoji="1" lang="en-US" altLang="ja-JP" sz="1100" dirty="0"/>
              <a:t>SNS</a:t>
            </a:r>
            <a:r>
              <a:rPr kumimoji="1" lang="ja-JP" altLang="en-US" sz="1100" dirty="0"/>
              <a:t>特典と内容が重ならない：</a:t>
            </a:r>
          </a:p>
          <a:p>
            <a:r>
              <a:rPr kumimoji="1" lang="ja-JP" altLang="en-US" sz="1100" dirty="0"/>
              <a:t>既存の</a:t>
            </a:r>
            <a:r>
              <a:rPr kumimoji="1" lang="en-US" altLang="ja-JP" sz="1100" dirty="0"/>
              <a:t>SNS</a:t>
            </a:r>
            <a:r>
              <a:rPr kumimoji="1" lang="ja-JP" altLang="en-US" sz="1100" dirty="0"/>
              <a:t>特典はデザート系なので、</a:t>
            </a:r>
            <a:r>
              <a:rPr kumimoji="1" lang="en-US" altLang="ja-JP" sz="1100" dirty="0"/>
              <a:t>LINE</a:t>
            </a:r>
            <a:r>
              <a:rPr kumimoji="1" lang="ja-JP" altLang="en-US" sz="1100" dirty="0"/>
              <a:t>では海鮮丼などに追加できるトッピングにすることで、お食事を楽しみに来店されたお客様に喜んでいただけます。</a:t>
            </a:r>
          </a:p>
        </p:txBody>
      </p:sp>
      <p:sp>
        <p:nvSpPr>
          <p:cNvPr id="139" name="テキスト ボックス 138">
            <a:extLst>
              <a:ext uri="{FF2B5EF4-FFF2-40B4-BE49-F238E27FC236}">
                <a16:creationId xmlns:a16="http://schemas.microsoft.com/office/drawing/2014/main" id="{3922708C-6B64-9FE4-91A4-B362FFCF7EB6}"/>
              </a:ext>
            </a:extLst>
          </p:cNvPr>
          <p:cNvSpPr txBox="1"/>
          <p:nvPr/>
        </p:nvSpPr>
        <p:spPr>
          <a:xfrm>
            <a:off x="5545759" y="2384100"/>
            <a:ext cx="3769534" cy="707886"/>
          </a:xfrm>
          <a:prstGeom prst="rect">
            <a:avLst/>
          </a:prstGeom>
          <a:noFill/>
        </p:spPr>
        <p:txBody>
          <a:bodyPr wrap="square" rtlCol="0">
            <a:spAutoFit/>
          </a:bodyPr>
          <a:lstStyle/>
          <a:p>
            <a:r>
              <a:rPr lang="ja-JP" altLang="en-US" sz="800" dirty="0"/>
              <a:t>スマホがそのままスタンプカードに</a:t>
            </a:r>
            <a:br>
              <a:rPr lang="en-US" altLang="ja-JP" sz="800" dirty="0"/>
            </a:br>
            <a:endParaRPr lang="en-US" altLang="ja-JP" sz="800" dirty="0"/>
          </a:p>
          <a:p>
            <a:r>
              <a:rPr lang="ja-JP" altLang="en-US" sz="1200" dirty="0"/>
              <a:t>お会計</a:t>
            </a:r>
            <a:r>
              <a:rPr lang="en-US" altLang="ja-JP" sz="1200" dirty="0"/>
              <a:t>1,000</a:t>
            </a:r>
            <a:r>
              <a:rPr lang="ja-JP" altLang="en-US" sz="1200" dirty="0"/>
              <a:t>円ごとにスタンプ</a:t>
            </a:r>
            <a:r>
              <a:rPr lang="en-US" altLang="ja-JP" sz="1200" dirty="0"/>
              <a:t>1</a:t>
            </a:r>
            <a:r>
              <a:rPr lang="ja-JP" altLang="en-US" sz="1200" dirty="0"/>
              <a:t>個付与</a:t>
            </a:r>
          </a:p>
          <a:p>
            <a:r>
              <a:rPr lang="ja-JP" altLang="en-US" sz="1200" dirty="0"/>
              <a:t>カード</a:t>
            </a:r>
            <a:r>
              <a:rPr lang="en-US" altLang="ja-JP" sz="1200" dirty="0"/>
              <a:t>1</a:t>
            </a:r>
            <a:r>
              <a:rPr lang="ja-JP" altLang="en-US" sz="1200" dirty="0"/>
              <a:t>枚（</a:t>
            </a:r>
            <a:r>
              <a:rPr lang="en-US" altLang="ja-JP" sz="1200" dirty="0"/>
              <a:t>10</a:t>
            </a:r>
            <a:r>
              <a:rPr lang="ja-JP" altLang="en-US" sz="1200" dirty="0"/>
              <a:t>個）たまるとお会計から </a:t>
            </a:r>
            <a:r>
              <a:rPr lang="en-US" altLang="ja-JP" sz="1200" dirty="0"/>
              <a:t>500</a:t>
            </a:r>
            <a:r>
              <a:rPr lang="ja-JP" altLang="en-US" sz="1200" dirty="0"/>
              <a:t>円引き</a:t>
            </a:r>
          </a:p>
        </p:txBody>
      </p:sp>
      <p:sp>
        <p:nvSpPr>
          <p:cNvPr id="141" name="テキスト ボックス 140">
            <a:extLst>
              <a:ext uri="{FF2B5EF4-FFF2-40B4-BE49-F238E27FC236}">
                <a16:creationId xmlns:a16="http://schemas.microsoft.com/office/drawing/2014/main" id="{04B3AEB5-628D-F6B9-E936-4483E461D46E}"/>
              </a:ext>
            </a:extLst>
          </p:cNvPr>
          <p:cNvSpPr txBox="1"/>
          <p:nvPr/>
        </p:nvSpPr>
        <p:spPr>
          <a:xfrm>
            <a:off x="5349178" y="3542189"/>
            <a:ext cx="4162697" cy="2292935"/>
          </a:xfrm>
          <a:prstGeom prst="rect">
            <a:avLst/>
          </a:prstGeom>
          <a:noFill/>
        </p:spPr>
        <p:txBody>
          <a:bodyPr wrap="square" rtlCol="0">
            <a:spAutoFit/>
          </a:bodyPr>
          <a:lstStyle/>
          <a:p>
            <a:r>
              <a:rPr lang="ja-JP" altLang="en-US" sz="1100" dirty="0"/>
              <a:t>●</a:t>
            </a:r>
            <a:r>
              <a:rPr lang="ja-JP" altLang="ja-JP" sz="1100" dirty="0"/>
              <a:t>ホットペッパーグルメ（1万円以上で5%OFF）との違い</a:t>
            </a:r>
            <a:br>
              <a:rPr lang="en-US" altLang="ja-JP" sz="1100" dirty="0"/>
            </a:br>
            <a:endParaRPr lang="ja-JP" altLang="en-US" sz="1100" dirty="0"/>
          </a:p>
          <a:p>
            <a:r>
              <a:rPr lang="ja-JP" altLang="ja-JP" sz="1100" dirty="0"/>
              <a:t>割引額（1万円で500円相当）は同じですが、対象となるお客様と目的が異なります。</a:t>
            </a:r>
            <a:endParaRPr lang="en-US" altLang="ja-JP" sz="1100" dirty="0"/>
          </a:p>
          <a:p>
            <a:endParaRPr kumimoji="1" lang="en-US" altLang="ja-JP" sz="1100" dirty="0"/>
          </a:p>
          <a:p>
            <a:r>
              <a:rPr kumimoji="1" lang="ja-JP" altLang="en-US" sz="1100" dirty="0"/>
              <a:t>・</a:t>
            </a:r>
            <a:r>
              <a:rPr lang="ja-JP" altLang="ja-JP" sz="1100" dirty="0"/>
              <a:t>ホットペッパー：1回のお会計で1万円以上使う</a:t>
            </a:r>
            <a:endParaRPr lang="en-US" altLang="ja-JP" sz="1100" dirty="0"/>
          </a:p>
          <a:p>
            <a:r>
              <a:rPr lang="ja-JP" altLang="ja-JP" sz="1100" dirty="0"/>
              <a:t>【まとめ買い】用</a:t>
            </a:r>
            <a:br>
              <a:rPr kumimoji="1" lang="en-US" altLang="ja-JP" sz="1100" dirty="0"/>
            </a:br>
            <a:endParaRPr kumimoji="1" lang="ja-JP" altLang="en-US" sz="1100" dirty="0"/>
          </a:p>
          <a:p>
            <a:r>
              <a:rPr kumimoji="1" lang="ja-JP" altLang="en-US" sz="1100" b="1" dirty="0"/>
              <a:t>・</a:t>
            </a:r>
            <a:r>
              <a:rPr lang="ja-JP" altLang="ja-JP" sz="1100" b="1" dirty="0"/>
              <a:t>LINEスタンプ：1,000円〜数千円のお会計で、</a:t>
            </a:r>
            <a:endParaRPr lang="en-US" altLang="ja-JP" sz="1100" b="1" dirty="0"/>
          </a:p>
          <a:p>
            <a:r>
              <a:rPr lang="ja-JP" altLang="ja-JP" sz="1100" b="1" dirty="0"/>
              <a:t>【何度もお店に通ってもらう】用</a:t>
            </a:r>
            <a:br>
              <a:rPr kumimoji="1" lang="en-US" altLang="ja-JP" sz="1100" dirty="0"/>
            </a:br>
            <a:endParaRPr kumimoji="1" lang="ja-JP" altLang="en-US" sz="1100" dirty="0"/>
          </a:p>
          <a:p>
            <a:r>
              <a:rPr kumimoji="1" lang="ja-JP" altLang="en-US" sz="1100" dirty="0"/>
              <a:t>⇒ </a:t>
            </a:r>
            <a:r>
              <a:rPr lang="ja-JP" altLang="ja-JP" sz="1100" dirty="0"/>
              <a:t>1回でのまとめ買いと、普段のお食事・お土産でのリピート来店、どちらのお客様にも喜んでいただける組み合わせです。</a:t>
            </a:r>
            <a:endParaRPr kumimoji="1" lang="ja-JP" altLang="en-US" sz="1100" dirty="0"/>
          </a:p>
        </p:txBody>
      </p:sp>
    </p:spTree>
    <p:extLst>
      <p:ext uri="{BB962C8B-B14F-4D97-AF65-F5344CB8AC3E}">
        <p14:creationId xmlns:p14="http://schemas.microsoft.com/office/powerpoint/2010/main" val="21533435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DE724B-AECB-AEF5-11AD-8DA813D0FE60}"/>
            </a:ext>
          </a:extLst>
        </p:cNvPr>
        <p:cNvGrpSpPr/>
        <p:nvPr/>
      </p:nvGrpSpPr>
      <p:grpSpPr>
        <a:xfrm>
          <a:off x="0" y="0"/>
          <a:ext cx="0" cy="0"/>
          <a:chOff x="0" y="0"/>
          <a:chExt cx="0" cy="0"/>
        </a:xfrm>
      </p:grpSpPr>
      <p:sp>
        <p:nvSpPr>
          <p:cNvPr id="8" name="Rounded Rectangle 13">
            <a:extLst>
              <a:ext uri="{FF2B5EF4-FFF2-40B4-BE49-F238E27FC236}">
                <a16:creationId xmlns:a16="http://schemas.microsoft.com/office/drawing/2014/main" id="{0C82B194-D335-59B0-0039-5CE55EE3FCA0}"/>
              </a:ext>
            </a:extLst>
          </p:cNvPr>
          <p:cNvSpPr/>
          <p:nvPr/>
        </p:nvSpPr>
        <p:spPr>
          <a:xfrm>
            <a:off x="227571" y="521385"/>
            <a:ext cx="9450855" cy="1812232"/>
          </a:xfrm>
          <a:prstGeom prst="roundRect">
            <a:avLst/>
          </a:prstGeom>
          <a:solidFill>
            <a:schemeClr val="bg1">
              <a:lumMod val="95000"/>
            </a:schemeClr>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ltLang="ja-JP" dirty="0">
              <a:solidFill>
                <a:schemeClr val="tx1"/>
              </a:solidFill>
            </a:endParaRPr>
          </a:p>
        </p:txBody>
      </p:sp>
      <p:sp>
        <p:nvSpPr>
          <p:cNvPr id="3" name="テキスト ボックス 2">
            <a:extLst>
              <a:ext uri="{FF2B5EF4-FFF2-40B4-BE49-F238E27FC236}">
                <a16:creationId xmlns:a16="http://schemas.microsoft.com/office/drawing/2014/main" id="{B125DF36-CBFD-71D7-7C04-DC1A60F0AA76}"/>
              </a:ext>
            </a:extLst>
          </p:cNvPr>
          <p:cNvSpPr txBox="1"/>
          <p:nvPr/>
        </p:nvSpPr>
        <p:spPr>
          <a:xfrm>
            <a:off x="227573" y="44659"/>
            <a:ext cx="4302781" cy="307777"/>
          </a:xfrm>
          <a:prstGeom prst="rect">
            <a:avLst/>
          </a:prstGeom>
          <a:noFill/>
        </p:spPr>
        <p:txBody>
          <a:bodyPr wrap="none" rtlCol="0">
            <a:spAutoFit/>
          </a:bodyPr>
          <a:lstStyle/>
          <a:p>
            <a:r>
              <a:rPr kumimoji="1" lang="en-US" altLang="ja-JP" sz="1400" b="1" dirty="0"/>
              <a:t>1. </a:t>
            </a:r>
            <a:r>
              <a:rPr lang="en-US" altLang="ja-JP" sz="1400" b="1" dirty="0"/>
              <a:t>LINE</a:t>
            </a:r>
            <a:r>
              <a:rPr lang="ja-JP" altLang="en-US" sz="1400" b="1" dirty="0"/>
              <a:t>ならではの配信内容と、運用体制のご提案</a:t>
            </a:r>
          </a:p>
        </p:txBody>
      </p:sp>
      <p:sp>
        <p:nvSpPr>
          <p:cNvPr id="111" name="テキスト ボックス 110">
            <a:extLst>
              <a:ext uri="{FF2B5EF4-FFF2-40B4-BE49-F238E27FC236}">
                <a16:creationId xmlns:a16="http://schemas.microsoft.com/office/drawing/2014/main" id="{1D0671FD-7201-2844-A1E3-35279731D9FF}"/>
              </a:ext>
            </a:extLst>
          </p:cNvPr>
          <p:cNvSpPr txBox="1"/>
          <p:nvPr/>
        </p:nvSpPr>
        <p:spPr>
          <a:xfrm>
            <a:off x="394121" y="630866"/>
            <a:ext cx="4725427" cy="322396"/>
          </a:xfrm>
          <a:prstGeom prst="rect">
            <a:avLst/>
          </a:prstGeom>
          <a:noFill/>
        </p:spPr>
        <p:txBody>
          <a:bodyPr wrap="square">
            <a:spAutoFit/>
          </a:bodyPr>
          <a:lstStyle/>
          <a:p>
            <a:pPr>
              <a:lnSpc>
                <a:spcPct val="120000"/>
              </a:lnSpc>
              <a:defRPr sz="1300" b="0">
                <a:solidFill>
                  <a:srgbClr val="2B2B2B"/>
                </a:solidFill>
                <a:latin typeface="Meiryo"/>
              </a:defRPr>
            </a:pPr>
            <a:r>
              <a:rPr lang="ja-JP" altLang="en-US" sz="1300" b="0" i="0" u="none" strike="noStrike" baseline="0" dirty="0">
                <a:solidFill>
                  <a:srgbClr val="000000"/>
                </a:solidFill>
                <a:latin typeface="メイリオ" panose="020B0604030504040204" pitchFamily="50" charset="-128"/>
                <a:ea typeface="メイリオ" panose="020B0604030504040204" pitchFamily="50" charset="-128"/>
              </a:rPr>
              <a:t>■</a:t>
            </a:r>
            <a:r>
              <a:rPr lang="ja-JP" altLang="en-US" dirty="0"/>
              <a:t>海鮮業態ならではの「ライブ感」を活かした</a:t>
            </a:r>
            <a:r>
              <a:rPr lang="en-US" altLang="ja-JP" dirty="0"/>
              <a:t>LINE</a:t>
            </a:r>
            <a:r>
              <a:rPr lang="ja-JP" altLang="en-US" dirty="0"/>
              <a:t>限定配信</a:t>
            </a:r>
            <a:endParaRPr lang="ja-JP" altLang="en-US" sz="1300" dirty="0"/>
          </a:p>
        </p:txBody>
      </p:sp>
      <p:sp>
        <p:nvSpPr>
          <p:cNvPr id="115" name="Rounded Rectangle 10">
            <a:extLst>
              <a:ext uri="{FF2B5EF4-FFF2-40B4-BE49-F238E27FC236}">
                <a16:creationId xmlns:a16="http://schemas.microsoft.com/office/drawing/2014/main" id="{D6A0F623-652F-947E-41EA-CD61B9FA1FAA}"/>
              </a:ext>
            </a:extLst>
          </p:cNvPr>
          <p:cNvSpPr/>
          <p:nvPr/>
        </p:nvSpPr>
        <p:spPr>
          <a:xfrm>
            <a:off x="227571" y="2911724"/>
            <a:ext cx="4495800" cy="3315410"/>
          </a:xfrm>
          <a:prstGeom prst="roundRect">
            <a:avLst/>
          </a:prstGeom>
          <a:solidFill>
            <a:srgbClr val="FFFFFF"/>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Rounded Rectangle 10">
            <a:extLst>
              <a:ext uri="{FF2B5EF4-FFF2-40B4-BE49-F238E27FC236}">
                <a16:creationId xmlns:a16="http://schemas.microsoft.com/office/drawing/2014/main" id="{7F6452D0-13C1-5E7D-483A-353169A94A05}"/>
              </a:ext>
            </a:extLst>
          </p:cNvPr>
          <p:cNvSpPr/>
          <p:nvPr/>
        </p:nvSpPr>
        <p:spPr>
          <a:xfrm>
            <a:off x="5182626" y="2911725"/>
            <a:ext cx="4495800" cy="3315410"/>
          </a:xfrm>
          <a:prstGeom prst="roundRect">
            <a:avLst/>
          </a:prstGeom>
          <a:solidFill>
            <a:srgbClr val="FFFFFF"/>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Rectangle 11">
            <a:extLst>
              <a:ext uri="{FF2B5EF4-FFF2-40B4-BE49-F238E27FC236}">
                <a16:creationId xmlns:a16="http://schemas.microsoft.com/office/drawing/2014/main" id="{4D93FF22-7335-CD39-A7E1-5D5E71CBA508}"/>
              </a:ext>
            </a:extLst>
          </p:cNvPr>
          <p:cNvSpPr/>
          <p:nvPr/>
        </p:nvSpPr>
        <p:spPr>
          <a:xfrm>
            <a:off x="227572" y="2911724"/>
            <a:ext cx="4495800" cy="719750"/>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nSpc>
                <a:spcPct val="125000"/>
              </a:lnSpc>
              <a:defRPr sz="1400" b="1">
                <a:solidFill>
                  <a:srgbClr val="FFFFFF"/>
                </a:solidFill>
                <a:latin typeface="Meiryo"/>
              </a:defRPr>
            </a:pPr>
            <a:r>
              <a:rPr lang="ja-JP" altLang="en-US" dirty="0"/>
              <a:t>パターン①：</a:t>
            </a:r>
            <a:endParaRPr lang="en-US" altLang="ja-JP" dirty="0"/>
          </a:p>
          <a:p>
            <a:pPr>
              <a:lnSpc>
                <a:spcPct val="125000"/>
              </a:lnSpc>
              <a:defRPr sz="1400" b="1">
                <a:solidFill>
                  <a:srgbClr val="FFFFFF"/>
                </a:solidFill>
                <a:latin typeface="Meiryo"/>
              </a:defRPr>
            </a:pPr>
            <a:r>
              <a:rPr lang="ja-JP" altLang="en-US" dirty="0"/>
              <a:t>お店のスタッフ様（店長様など）が配るケース</a:t>
            </a:r>
          </a:p>
        </p:txBody>
      </p:sp>
      <p:sp>
        <p:nvSpPr>
          <p:cNvPr id="129" name="Rectangle 11">
            <a:extLst>
              <a:ext uri="{FF2B5EF4-FFF2-40B4-BE49-F238E27FC236}">
                <a16:creationId xmlns:a16="http://schemas.microsoft.com/office/drawing/2014/main" id="{36A7B8B6-430F-5FA4-9AA7-5F6D60238971}"/>
              </a:ext>
            </a:extLst>
          </p:cNvPr>
          <p:cNvSpPr/>
          <p:nvPr/>
        </p:nvSpPr>
        <p:spPr>
          <a:xfrm>
            <a:off x="5182626" y="2906541"/>
            <a:ext cx="4495800" cy="719750"/>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nSpc>
                <a:spcPct val="125000"/>
              </a:lnSpc>
              <a:defRPr sz="1400" b="1">
                <a:solidFill>
                  <a:srgbClr val="FFFFFF"/>
                </a:solidFill>
                <a:latin typeface="Meiryo"/>
              </a:defRPr>
            </a:pPr>
            <a:r>
              <a:rPr lang="ja-JP" altLang="en-US" dirty="0"/>
              <a:t>パターン②：</a:t>
            </a:r>
            <a:endParaRPr lang="en-US" altLang="ja-JP" dirty="0"/>
          </a:p>
          <a:p>
            <a:pPr>
              <a:lnSpc>
                <a:spcPct val="125000"/>
              </a:lnSpc>
              <a:defRPr sz="1400" b="1">
                <a:solidFill>
                  <a:srgbClr val="FFFFFF"/>
                </a:solidFill>
                <a:latin typeface="Meiryo"/>
              </a:defRPr>
            </a:pPr>
            <a:r>
              <a:rPr lang="en-US" altLang="ja-JP" dirty="0"/>
              <a:t>Web</a:t>
            </a:r>
            <a:r>
              <a:rPr lang="ja-JP" altLang="en-US" dirty="0"/>
              <a:t>運用担当者（弊社）が配るケース</a:t>
            </a:r>
          </a:p>
        </p:txBody>
      </p:sp>
      <p:sp>
        <p:nvSpPr>
          <p:cNvPr id="133" name="Rounded Rectangle 13">
            <a:extLst>
              <a:ext uri="{FF2B5EF4-FFF2-40B4-BE49-F238E27FC236}">
                <a16:creationId xmlns:a16="http://schemas.microsoft.com/office/drawing/2014/main" id="{1749A59A-3E37-68CC-118F-DF545593D511}"/>
              </a:ext>
            </a:extLst>
          </p:cNvPr>
          <p:cNvSpPr/>
          <p:nvPr/>
        </p:nvSpPr>
        <p:spPr>
          <a:xfrm>
            <a:off x="5182626" y="1235627"/>
            <a:ext cx="4162697" cy="950224"/>
          </a:xfrm>
          <a:prstGeom prst="roundRect">
            <a:avLst/>
          </a:prstGeom>
          <a:solidFill>
            <a:schemeClr val="bg1"/>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テキスト ボックス 136">
            <a:extLst>
              <a:ext uri="{FF2B5EF4-FFF2-40B4-BE49-F238E27FC236}">
                <a16:creationId xmlns:a16="http://schemas.microsoft.com/office/drawing/2014/main" id="{C1086B1B-C4C8-569E-189A-42F7A4860298}"/>
              </a:ext>
            </a:extLst>
          </p:cNvPr>
          <p:cNvSpPr txBox="1"/>
          <p:nvPr/>
        </p:nvSpPr>
        <p:spPr>
          <a:xfrm>
            <a:off x="394122" y="3967331"/>
            <a:ext cx="4162697" cy="1954381"/>
          </a:xfrm>
          <a:prstGeom prst="rect">
            <a:avLst/>
          </a:prstGeom>
          <a:noFill/>
        </p:spPr>
        <p:txBody>
          <a:bodyPr wrap="square" rtlCol="0">
            <a:spAutoFit/>
          </a:bodyPr>
          <a:lstStyle/>
          <a:p>
            <a:r>
              <a:rPr lang="ja-JP" altLang="en-US" sz="1100" dirty="0"/>
              <a:t>●施策の狙いとメリット</a:t>
            </a:r>
            <a:br>
              <a:rPr lang="en-US" altLang="ja-JP" sz="1100" dirty="0"/>
            </a:br>
            <a:endParaRPr lang="ja-JP" altLang="en-US" sz="1100" dirty="0"/>
          </a:p>
          <a:p>
            <a:r>
              <a:rPr lang="ja-JP" altLang="ja-JP" sz="1100" dirty="0"/>
              <a:t>・気軽にご登録いただくための工夫：</a:t>
            </a:r>
            <a:endParaRPr lang="en-US" altLang="ja-JP" sz="1100" dirty="0"/>
          </a:p>
          <a:p>
            <a:r>
              <a:rPr lang="ja-JP" altLang="ja-JP" sz="1100" dirty="0"/>
              <a:t>次回以降のクーポンだけでなく、「今すぐ目の前のお食事</a:t>
            </a:r>
            <a:r>
              <a:rPr lang="ja-JP" altLang="en-US" sz="1100" dirty="0"/>
              <a:t>が</a:t>
            </a:r>
            <a:r>
              <a:rPr lang="ja-JP" altLang="ja-JP" sz="1100" dirty="0"/>
              <a:t>お得になる」というメリットをご提供することで、より多くのお客様にご登録いただきやすくなります。</a:t>
            </a:r>
            <a:endParaRPr lang="en-US" altLang="ja-JP" sz="1100" dirty="0"/>
          </a:p>
          <a:p>
            <a:endParaRPr kumimoji="1" lang="ja-JP" altLang="en-US" sz="1100" dirty="0"/>
          </a:p>
          <a:p>
            <a:r>
              <a:rPr kumimoji="1" lang="ja-JP" altLang="en-US" sz="1100" dirty="0"/>
              <a:t>・既存の</a:t>
            </a:r>
            <a:r>
              <a:rPr kumimoji="1" lang="en-US" altLang="ja-JP" sz="1100" dirty="0"/>
              <a:t>SNS</a:t>
            </a:r>
            <a:r>
              <a:rPr kumimoji="1" lang="ja-JP" altLang="en-US" sz="1100" dirty="0"/>
              <a:t>特典と内容が重ならない：</a:t>
            </a:r>
          </a:p>
          <a:p>
            <a:r>
              <a:rPr kumimoji="1" lang="ja-JP" altLang="en-US" sz="1100" dirty="0"/>
              <a:t>既存の</a:t>
            </a:r>
            <a:r>
              <a:rPr kumimoji="1" lang="en-US" altLang="ja-JP" sz="1100" dirty="0"/>
              <a:t>SNS</a:t>
            </a:r>
            <a:r>
              <a:rPr kumimoji="1" lang="ja-JP" altLang="en-US" sz="1100" dirty="0"/>
              <a:t>特典はデザート系なので、</a:t>
            </a:r>
            <a:r>
              <a:rPr kumimoji="1" lang="en-US" altLang="ja-JP" sz="1100" dirty="0"/>
              <a:t>LINE</a:t>
            </a:r>
            <a:r>
              <a:rPr kumimoji="1" lang="ja-JP" altLang="en-US" sz="1100" dirty="0"/>
              <a:t>では海鮮丼などに追加できるトッピングにすることで、お食事を楽しみに来店されたお客様に喜んでいただけます。</a:t>
            </a:r>
          </a:p>
        </p:txBody>
      </p:sp>
      <p:sp>
        <p:nvSpPr>
          <p:cNvPr id="139" name="テキスト ボックス 138">
            <a:extLst>
              <a:ext uri="{FF2B5EF4-FFF2-40B4-BE49-F238E27FC236}">
                <a16:creationId xmlns:a16="http://schemas.microsoft.com/office/drawing/2014/main" id="{9962DAD4-F5C5-DE11-03AB-8D5298DE9727}"/>
              </a:ext>
            </a:extLst>
          </p:cNvPr>
          <p:cNvSpPr txBox="1"/>
          <p:nvPr/>
        </p:nvSpPr>
        <p:spPr>
          <a:xfrm>
            <a:off x="5379207" y="1318324"/>
            <a:ext cx="3769534" cy="784830"/>
          </a:xfrm>
          <a:prstGeom prst="rect">
            <a:avLst/>
          </a:prstGeom>
          <a:noFill/>
        </p:spPr>
        <p:txBody>
          <a:bodyPr wrap="square" rtlCol="0">
            <a:spAutoFit/>
          </a:bodyPr>
          <a:lstStyle/>
          <a:p>
            <a:r>
              <a:rPr lang="ja-JP" altLang="en-US" sz="1000" b="1" dirty="0"/>
              <a:t>② 「本日の特別な仕入れ」のお知らせ</a:t>
            </a:r>
            <a:endParaRPr lang="ja-JP" altLang="en-US" sz="800" dirty="0"/>
          </a:p>
          <a:p>
            <a:pPr>
              <a:lnSpc>
                <a:spcPct val="150000"/>
              </a:lnSpc>
            </a:pPr>
            <a:r>
              <a:rPr lang="ja-JP" altLang="en-US" sz="800" dirty="0"/>
              <a:t>その日の市場の仕入れ状況や、早く売り切りたいおすすめ食材に合わせて鮮度の高いお得情報をリアルタイム配信。お客様の来店動機を作ると同時に食材ロス削減にも貢献します。</a:t>
            </a:r>
            <a:endParaRPr lang="ja-JP" altLang="en-US" sz="1200" dirty="0"/>
          </a:p>
        </p:txBody>
      </p:sp>
      <p:sp>
        <p:nvSpPr>
          <p:cNvPr id="141" name="テキスト ボックス 140">
            <a:extLst>
              <a:ext uri="{FF2B5EF4-FFF2-40B4-BE49-F238E27FC236}">
                <a16:creationId xmlns:a16="http://schemas.microsoft.com/office/drawing/2014/main" id="{00FF9B34-B42A-754A-FBB3-D23799A902DB}"/>
              </a:ext>
            </a:extLst>
          </p:cNvPr>
          <p:cNvSpPr txBox="1"/>
          <p:nvPr/>
        </p:nvSpPr>
        <p:spPr>
          <a:xfrm>
            <a:off x="5288217" y="3643708"/>
            <a:ext cx="4162697" cy="2292935"/>
          </a:xfrm>
          <a:prstGeom prst="rect">
            <a:avLst/>
          </a:prstGeom>
          <a:noFill/>
        </p:spPr>
        <p:txBody>
          <a:bodyPr wrap="square" rtlCol="0">
            <a:spAutoFit/>
          </a:bodyPr>
          <a:lstStyle/>
          <a:p>
            <a:r>
              <a:rPr lang="ja-JP" altLang="en-US" sz="1100" dirty="0"/>
              <a:t>●</a:t>
            </a:r>
            <a:r>
              <a:rPr lang="ja-JP" altLang="ja-JP" sz="1100" dirty="0"/>
              <a:t>ホットペッパーグルメ（1万円以上で5%OFF）との違い</a:t>
            </a:r>
            <a:br>
              <a:rPr lang="en-US" altLang="ja-JP" sz="1100" dirty="0"/>
            </a:br>
            <a:endParaRPr lang="ja-JP" altLang="en-US" sz="1100" dirty="0"/>
          </a:p>
          <a:p>
            <a:r>
              <a:rPr lang="ja-JP" altLang="ja-JP" sz="1100" dirty="0"/>
              <a:t>割引額（1万円で500円相当）は同じですが、対象となるお客様と目的が異なります。</a:t>
            </a:r>
            <a:endParaRPr lang="en-US" altLang="ja-JP" sz="1100" dirty="0"/>
          </a:p>
          <a:p>
            <a:endParaRPr kumimoji="1" lang="en-US" altLang="ja-JP" sz="1100" dirty="0"/>
          </a:p>
          <a:p>
            <a:r>
              <a:rPr kumimoji="1" lang="ja-JP" altLang="en-US" sz="1100" dirty="0"/>
              <a:t>・</a:t>
            </a:r>
            <a:r>
              <a:rPr lang="ja-JP" altLang="ja-JP" sz="1100" dirty="0"/>
              <a:t>ホットペッパー：1回のお会計で1万円以上使う</a:t>
            </a:r>
            <a:endParaRPr lang="en-US" altLang="ja-JP" sz="1100" dirty="0"/>
          </a:p>
          <a:p>
            <a:r>
              <a:rPr lang="ja-JP" altLang="ja-JP" sz="1100" dirty="0"/>
              <a:t>【まとめ買い】用</a:t>
            </a:r>
            <a:br>
              <a:rPr kumimoji="1" lang="en-US" altLang="ja-JP" sz="1100" dirty="0"/>
            </a:br>
            <a:endParaRPr kumimoji="1" lang="ja-JP" altLang="en-US" sz="1100" dirty="0"/>
          </a:p>
          <a:p>
            <a:r>
              <a:rPr kumimoji="1" lang="ja-JP" altLang="en-US" sz="1100" b="1" dirty="0"/>
              <a:t>・</a:t>
            </a:r>
            <a:r>
              <a:rPr lang="ja-JP" altLang="ja-JP" sz="1100" b="1" dirty="0"/>
              <a:t>LINEスタンプ：1,000円〜数千円のお会計で、</a:t>
            </a:r>
            <a:endParaRPr lang="en-US" altLang="ja-JP" sz="1100" b="1" dirty="0"/>
          </a:p>
          <a:p>
            <a:r>
              <a:rPr lang="ja-JP" altLang="ja-JP" sz="1100" b="1" dirty="0"/>
              <a:t>【何度もお店に通ってもらう】用</a:t>
            </a:r>
            <a:br>
              <a:rPr kumimoji="1" lang="en-US" altLang="ja-JP" sz="1100" dirty="0"/>
            </a:br>
            <a:endParaRPr kumimoji="1" lang="ja-JP" altLang="en-US" sz="1100" dirty="0"/>
          </a:p>
          <a:p>
            <a:r>
              <a:rPr kumimoji="1" lang="ja-JP" altLang="en-US" sz="1100" dirty="0"/>
              <a:t>⇒ </a:t>
            </a:r>
            <a:r>
              <a:rPr lang="ja-JP" altLang="ja-JP" sz="1100" dirty="0"/>
              <a:t>1回でのまとめ買いと、普段のお食事・お土産でのリピート来店、どちらのお客様にも喜んでいただける組み合わせです。</a:t>
            </a:r>
            <a:endParaRPr kumimoji="1" lang="ja-JP" altLang="en-US" sz="1100" dirty="0"/>
          </a:p>
        </p:txBody>
      </p:sp>
      <p:sp>
        <p:nvSpPr>
          <p:cNvPr id="6" name="テキスト ボックス 5">
            <a:extLst>
              <a:ext uri="{FF2B5EF4-FFF2-40B4-BE49-F238E27FC236}">
                <a16:creationId xmlns:a16="http://schemas.microsoft.com/office/drawing/2014/main" id="{C8483E90-56C0-96EF-41E2-0DD1DCADAED8}"/>
              </a:ext>
            </a:extLst>
          </p:cNvPr>
          <p:cNvSpPr txBox="1"/>
          <p:nvPr/>
        </p:nvSpPr>
        <p:spPr>
          <a:xfrm>
            <a:off x="474615" y="921357"/>
            <a:ext cx="9203811" cy="246221"/>
          </a:xfrm>
          <a:prstGeom prst="rect">
            <a:avLst/>
          </a:prstGeom>
          <a:noFill/>
        </p:spPr>
        <p:txBody>
          <a:bodyPr wrap="square">
            <a:spAutoFit/>
          </a:bodyPr>
          <a:lstStyle/>
          <a:p>
            <a:r>
              <a:rPr lang="ja-JP" altLang="en-US" sz="1000" dirty="0"/>
              <a:t>LINEの強みである「リアルタイム通知」を活かし、他媒体（朝10時までの来店特典など）と被らない、市場のようなワクワク感を配信します。</a:t>
            </a:r>
          </a:p>
        </p:txBody>
      </p:sp>
      <p:sp>
        <p:nvSpPr>
          <p:cNvPr id="10" name="Rounded Rectangle 13">
            <a:extLst>
              <a:ext uri="{FF2B5EF4-FFF2-40B4-BE49-F238E27FC236}">
                <a16:creationId xmlns:a16="http://schemas.microsoft.com/office/drawing/2014/main" id="{54C0CCD0-F2E3-FFEE-DE82-5FCA6AD690D6}"/>
              </a:ext>
            </a:extLst>
          </p:cNvPr>
          <p:cNvSpPr/>
          <p:nvPr/>
        </p:nvSpPr>
        <p:spPr>
          <a:xfrm>
            <a:off x="560674" y="1235627"/>
            <a:ext cx="4162697" cy="950224"/>
          </a:xfrm>
          <a:prstGeom prst="roundRect">
            <a:avLst/>
          </a:prstGeom>
          <a:solidFill>
            <a:schemeClr val="bg1"/>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テキスト ボックス 11">
            <a:extLst>
              <a:ext uri="{FF2B5EF4-FFF2-40B4-BE49-F238E27FC236}">
                <a16:creationId xmlns:a16="http://schemas.microsoft.com/office/drawing/2014/main" id="{111B7656-880C-4702-35B9-EE82EFE080F7}"/>
              </a:ext>
            </a:extLst>
          </p:cNvPr>
          <p:cNvSpPr txBox="1"/>
          <p:nvPr/>
        </p:nvSpPr>
        <p:spPr>
          <a:xfrm>
            <a:off x="760820" y="1329543"/>
            <a:ext cx="3769534" cy="784830"/>
          </a:xfrm>
          <a:prstGeom prst="rect">
            <a:avLst/>
          </a:prstGeom>
          <a:noFill/>
        </p:spPr>
        <p:txBody>
          <a:bodyPr wrap="square" rtlCol="0">
            <a:spAutoFit/>
          </a:bodyPr>
          <a:lstStyle/>
          <a:p>
            <a:r>
              <a:rPr lang="ja-JP" altLang="en-US" sz="1000" b="1" dirty="0"/>
              <a:t>① 既存特典のゲリラアップグレード</a:t>
            </a:r>
            <a:endParaRPr lang="ja-JP" altLang="en-US" sz="800" dirty="0"/>
          </a:p>
          <a:p>
            <a:pPr>
              <a:lnSpc>
                <a:spcPct val="150000"/>
              </a:lnSpc>
            </a:pPr>
            <a:r>
              <a:rPr lang="ja-JP" altLang="en-US" sz="800" dirty="0"/>
              <a:t>「本日は</a:t>
            </a:r>
            <a:r>
              <a:rPr lang="en-US" altLang="ja-JP" sz="800" dirty="0"/>
              <a:t>LINE</a:t>
            </a:r>
            <a:r>
              <a:rPr lang="ja-JP" altLang="en-US" sz="800" dirty="0"/>
              <a:t>友だち限定で、カニ身ちょい足しを</a:t>
            </a:r>
            <a:r>
              <a:rPr lang="en-US" altLang="ja-JP" sz="800" dirty="0"/>
              <a:t>【</a:t>
            </a:r>
            <a:r>
              <a:rPr lang="ja-JP" altLang="en-US" sz="800" dirty="0"/>
              <a:t>倍量</a:t>
            </a:r>
            <a:r>
              <a:rPr lang="en-US" altLang="ja-JP" sz="800" dirty="0"/>
              <a:t>】</a:t>
            </a:r>
            <a:r>
              <a:rPr lang="ja-JP" altLang="en-US" sz="800" dirty="0"/>
              <a:t>にします！」など、すでに店舗にあるトッピング食材を活かして特別感を演出。新たな食材準備なしで即実行できます。</a:t>
            </a:r>
            <a:endParaRPr lang="ja-JP" altLang="en-US" sz="1200" dirty="0"/>
          </a:p>
        </p:txBody>
      </p:sp>
      <p:sp>
        <p:nvSpPr>
          <p:cNvPr id="16" name="テキスト ボックス 15">
            <a:extLst>
              <a:ext uri="{FF2B5EF4-FFF2-40B4-BE49-F238E27FC236}">
                <a16:creationId xmlns:a16="http://schemas.microsoft.com/office/drawing/2014/main" id="{702686F7-B47B-0DF5-F6ED-D3212C9C0E4B}"/>
              </a:ext>
            </a:extLst>
          </p:cNvPr>
          <p:cNvSpPr txBox="1"/>
          <p:nvPr/>
        </p:nvSpPr>
        <p:spPr>
          <a:xfrm>
            <a:off x="227571" y="2461472"/>
            <a:ext cx="4772754" cy="322396"/>
          </a:xfrm>
          <a:prstGeom prst="rect">
            <a:avLst/>
          </a:prstGeom>
          <a:noFill/>
        </p:spPr>
        <p:txBody>
          <a:bodyPr wrap="square">
            <a:spAutoFit/>
          </a:bodyPr>
          <a:lstStyle/>
          <a:p>
            <a:pPr>
              <a:lnSpc>
                <a:spcPct val="120000"/>
              </a:lnSpc>
              <a:defRPr sz="1300" b="0">
                <a:solidFill>
                  <a:srgbClr val="2B2B2B"/>
                </a:solidFill>
                <a:latin typeface="Meiryo"/>
              </a:defRPr>
            </a:pPr>
            <a:r>
              <a:rPr lang="ja-JP" altLang="en-US" sz="1300" b="0" i="0" u="none" strike="noStrike" baseline="0" dirty="0">
                <a:solidFill>
                  <a:srgbClr val="000000"/>
                </a:solidFill>
                <a:latin typeface="メイリオ" panose="020B0604030504040204" pitchFamily="50" charset="-128"/>
                <a:ea typeface="メイリオ" panose="020B0604030504040204" pitchFamily="50" charset="-128"/>
              </a:rPr>
              <a:t>■</a:t>
            </a:r>
            <a:r>
              <a:rPr lang="ja-JP" altLang="en-US" dirty="0"/>
              <a:t>クーポン・お得情報の配布方法と「</a:t>
            </a:r>
            <a:r>
              <a:rPr lang="en-US" altLang="ja-JP" dirty="0"/>
              <a:t>2</a:t>
            </a:r>
            <a:r>
              <a:rPr lang="ja-JP" altLang="en-US" dirty="0"/>
              <a:t>パターンの役割分担」</a:t>
            </a:r>
            <a:endParaRPr lang="ja-JP" altLang="en-US" sz="1300" dirty="0"/>
          </a:p>
        </p:txBody>
      </p:sp>
      <p:sp>
        <p:nvSpPr>
          <p:cNvPr id="20" name="テキスト ボックス 19">
            <a:extLst>
              <a:ext uri="{FF2B5EF4-FFF2-40B4-BE49-F238E27FC236}">
                <a16:creationId xmlns:a16="http://schemas.microsoft.com/office/drawing/2014/main" id="{B180B7BD-BD6E-6620-E1E1-8CF47694BB95}"/>
              </a:ext>
            </a:extLst>
          </p:cNvPr>
          <p:cNvSpPr txBox="1"/>
          <p:nvPr/>
        </p:nvSpPr>
        <p:spPr>
          <a:xfrm>
            <a:off x="224863" y="2730013"/>
            <a:ext cx="8923877" cy="246221"/>
          </a:xfrm>
          <a:prstGeom prst="rect">
            <a:avLst/>
          </a:prstGeom>
          <a:noFill/>
        </p:spPr>
        <p:txBody>
          <a:bodyPr wrap="square">
            <a:spAutoFit/>
          </a:bodyPr>
          <a:lstStyle/>
          <a:p>
            <a:r>
              <a:rPr lang="ja-JP" altLang="en-US" sz="1000" dirty="0"/>
              <a:t>友だち追加特典やスタンプ満了特典はシステムから【自動配布】されますが、日頃の配信は内容に応じて店舗様と弊社で分担するのが最もスムーズです。</a:t>
            </a:r>
          </a:p>
        </p:txBody>
      </p:sp>
    </p:spTree>
    <p:extLst>
      <p:ext uri="{BB962C8B-B14F-4D97-AF65-F5344CB8AC3E}">
        <p14:creationId xmlns:p14="http://schemas.microsoft.com/office/powerpoint/2010/main" val="14624248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FE3393-CD6E-CDC8-E29C-11FEC583CA7D}"/>
            </a:ext>
          </a:extLst>
        </p:cNvPr>
        <p:cNvGrpSpPr/>
        <p:nvPr/>
      </p:nvGrpSpPr>
      <p:grpSpPr>
        <a:xfrm>
          <a:off x="0" y="0"/>
          <a:ext cx="0" cy="0"/>
          <a:chOff x="0" y="0"/>
          <a:chExt cx="0" cy="0"/>
        </a:xfrm>
      </p:grpSpPr>
      <p:sp>
        <p:nvSpPr>
          <p:cNvPr id="2" name="テキスト ボックス 4">
            <a:extLst>
              <a:ext uri="{FF2B5EF4-FFF2-40B4-BE49-F238E27FC236}">
                <a16:creationId xmlns:a16="http://schemas.microsoft.com/office/drawing/2014/main" id="{895E2A62-3748-50DF-FD28-C9879060EAFA}"/>
              </a:ext>
            </a:extLst>
          </p:cNvPr>
          <p:cNvSpPr txBox="1"/>
          <p:nvPr/>
        </p:nvSpPr>
        <p:spPr>
          <a:xfrm>
            <a:off x="403412" y="512817"/>
            <a:ext cx="9099176" cy="5232202"/>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nSpc>
                <a:spcPct val="150000"/>
              </a:lnSpc>
            </a:pPr>
            <a:r>
              <a:rPr lang="ja-JP" altLang="en-US" sz="1600" b="0" i="0" u="none" strike="noStrike" baseline="0" dirty="0">
                <a:solidFill>
                  <a:srgbClr val="000000"/>
                </a:solidFill>
                <a:latin typeface="メイリオ" panose="020B0604030504040204" pitchFamily="50" charset="-128"/>
                <a:ea typeface="メイリオ" panose="020B0604030504040204" pitchFamily="50" charset="-128"/>
              </a:rPr>
              <a:t>■</a:t>
            </a:r>
            <a:r>
              <a:rPr lang="ja-JP" altLang="en-US" sz="1600" dirty="0">
                <a:solidFill>
                  <a:srgbClr val="000000"/>
                </a:solidFill>
                <a:latin typeface="メイリオ" panose="020B0604030504040204" pitchFamily="50" charset="-128"/>
                <a:ea typeface="メイリオ" panose="020B0604030504040204" pitchFamily="50" charset="-128"/>
              </a:rPr>
              <a:t>診断基準と適合レベル</a:t>
            </a:r>
            <a:endParaRPr lang="en-US" altLang="ja-JP" sz="1600" dirty="0">
              <a:solidFill>
                <a:srgbClr val="000000"/>
              </a:solidFill>
              <a:latin typeface="メイリオ" panose="020B0604030504040204" pitchFamily="50" charset="-128"/>
              <a:ea typeface="メイリオ" panose="020B0604030504040204" pitchFamily="50" charset="-128"/>
            </a:endParaRPr>
          </a:p>
          <a:p>
            <a:pPr>
              <a:lnSpc>
                <a:spcPct val="150000"/>
              </a:lnSpc>
            </a:pPr>
            <a:r>
              <a:rPr lang="en-US" altLang="ja-JP" sz="1400" b="0" i="0" u="none" strike="noStrike" baseline="0" dirty="0">
                <a:solidFill>
                  <a:srgbClr val="000000"/>
                </a:solidFill>
                <a:latin typeface="メイリオ" panose="020B0604030504040204" pitchFamily="50" charset="-128"/>
                <a:ea typeface="メイリオ" panose="020B0604030504040204" pitchFamily="50" charset="-128"/>
              </a:rPr>
              <a:t>WCAG2.2</a:t>
            </a:r>
            <a:r>
              <a:rPr lang="ja-JP" altLang="en-US" sz="1400" dirty="0">
                <a:solidFill>
                  <a:srgbClr val="000000"/>
                </a:solidFill>
                <a:latin typeface="メイリオ" panose="020B0604030504040204" pitchFamily="50" charset="-128"/>
                <a:ea typeface="メイリオ" panose="020B0604030504040204" pitchFamily="50" charset="-128"/>
              </a:rPr>
              <a:t>　適合レベル</a:t>
            </a:r>
            <a:r>
              <a:rPr lang="en-US" altLang="ja-JP" sz="1400" dirty="0">
                <a:solidFill>
                  <a:srgbClr val="000000"/>
                </a:solidFill>
                <a:latin typeface="メイリオ" panose="020B0604030504040204" pitchFamily="50" charset="-128"/>
                <a:ea typeface="メイリオ" panose="020B0604030504040204" pitchFamily="50" charset="-128"/>
              </a:rPr>
              <a:t>A</a:t>
            </a:r>
            <a:r>
              <a:rPr lang="ja-JP" altLang="en-US" sz="1400" dirty="0">
                <a:solidFill>
                  <a:srgbClr val="000000"/>
                </a:solidFill>
                <a:latin typeface="メイリオ" panose="020B0604030504040204" pitchFamily="50" charset="-128"/>
                <a:ea typeface="メイリオ" panose="020B0604030504040204" pitchFamily="50" charset="-128"/>
              </a:rPr>
              <a:t>および</a:t>
            </a:r>
            <a:r>
              <a:rPr lang="en-US" altLang="ja-JP" sz="1400" dirty="0">
                <a:solidFill>
                  <a:srgbClr val="000000"/>
                </a:solidFill>
                <a:latin typeface="メイリオ" panose="020B0604030504040204" pitchFamily="50" charset="-128"/>
                <a:ea typeface="メイリオ" panose="020B0604030504040204" pitchFamily="50" charset="-128"/>
              </a:rPr>
              <a:t>AA</a:t>
            </a:r>
          </a:p>
          <a:p>
            <a:pPr>
              <a:lnSpc>
                <a:spcPct val="150000"/>
              </a:lnSpc>
            </a:pPr>
            <a:endParaRPr lang="en-US" altLang="ja-JP" sz="1400" b="0" i="0" u="none" strike="noStrike" baseline="0" dirty="0">
              <a:solidFill>
                <a:srgbClr val="000000"/>
              </a:solidFill>
              <a:latin typeface="メイリオ" panose="020B0604030504040204" pitchFamily="50" charset="-128"/>
              <a:ea typeface="メイリオ" panose="020B0604030504040204" pitchFamily="50" charset="-128"/>
            </a:endParaRPr>
          </a:p>
          <a:p>
            <a:pPr>
              <a:lnSpc>
                <a:spcPct val="150000"/>
              </a:lnSpc>
            </a:pPr>
            <a:r>
              <a:rPr lang="ja-JP" altLang="en-US" sz="1600" dirty="0">
                <a:solidFill>
                  <a:srgbClr val="000000"/>
                </a:solidFill>
                <a:latin typeface="メイリオ" panose="020B0604030504040204" pitchFamily="50" charset="-128"/>
                <a:ea typeface="メイリオ" panose="020B0604030504040204" pitchFamily="50" charset="-128"/>
              </a:rPr>
              <a:t>■満たしている適合レベル</a:t>
            </a:r>
            <a:endParaRPr lang="en-US" altLang="ja-JP" sz="1600" dirty="0">
              <a:solidFill>
                <a:srgbClr val="000000"/>
              </a:solidFill>
              <a:latin typeface="メイリオ" panose="020B0604030504040204" pitchFamily="50" charset="-128"/>
              <a:ea typeface="メイリオ" panose="020B0604030504040204" pitchFamily="50" charset="-128"/>
            </a:endParaRPr>
          </a:p>
          <a:p>
            <a:pPr>
              <a:lnSpc>
                <a:spcPct val="150000"/>
              </a:lnSpc>
            </a:pPr>
            <a:r>
              <a:rPr lang="ja-JP" altLang="en-US" sz="1400" b="0" i="0" u="none" strike="noStrike" baseline="0" dirty="0">
                <a:solidFill>
                  <a:srgbClr val="000000"/>
                </a:solidFill>
                <a:latin typeface="メイリオ" panose="020B0604030504040204" pitchFamily="50" charset="-128"/>
                <a:ea typeface="メイリオ" panose="020B0604030504040204" pitchFamily="50" charset="-128"/>
              </a:rPr>
              <a:t>適合レベル</a:t>
            </a:r>
            <a:r>
              <a:rPr lang="en-US" altLang="ja-JP" sz="1400" b="0" i="0" u="none" strike="noStrike" baseline="0" dirty="0">
                <a:solidFill>
                  <a:srgbClr val="000000"/>
                </a:solidFill>
                <a:latin typeface="メイリオ" panose="020B0604030504040204" pitchFamily="50" charset="-128"/>
                <a:ea typeface="メイリオ" panose="020B0604030504040204" pitchFamily="50" charset="-128"/>
              </a:rPr>
              <a:t>A</a:t>
            </a:r>
            <a:r>
              <a:rPr lang="ja-JP" altLang="en-US" sz="1400" b="0" i="0" u="none" strike="noStrike" baseline="0" dirty="0">
                <a:solidFill>
                  <a:srgbClr val="000000"/>
                </a:solidFill>
                <a:latin typeface="メイリオ" panose="020B0604030504040204" pitchFamily="50" charset="-128"/>
                <a:ea typeface="メイリオ" panose="020B0604030504040204" pitchFamily="50" charset="-128"/>
              </a:rPr>
              <a:t>に一部準拠</a:t>
            </a:r>
            <a:endParaRPr lang="en-US" altLang="ja-JP" sz="1400" b="0" i="0" u="none" strike="noStrike" baseline="0" dirty="0">
              <a:solidFill>
                <a:srgbClr val="000000"/>
              </a:solidFill>
              <a:latin typeface="メイリオ" panose="020B0604030504040204" pitchFamily="50" charset="-128"/>
              <a:ea typeface="メイリオ" panose="020B0604030504040204" pitchFamily="50" charset="-128"/>
            </a:endParaRPr>
          </a:p>
          <a:p>
            <a:pPr>
              <a:lnSpc>
                <a:spcPct val="150000"/>
              </a:lnSpc>
            </a:pPr>
            <a:endParaRPr lang="en-US" altLang="ja-JP" sz="1400" b="0" i="0" u="none" strike="noStrike" baseline="0" dirty="0">
              <a:solidFill>
                <a:srgbClr val="000000"/>
              </a:solidFill>
              <a:latin typeface="メイリオ" panose="020B0604030504040204" pitchFamily="50" charset="-128"/>
              <a:ea typeface="メイリオ" panose="020B0604030504040204" pitchFamily="50" charset="-128"/>
            </a:endParaRPr>
          </a:p>
          <a:p>
            <a:pPr>
              <a:lnSpc>
                <a:spcPct val="150000"/>
              </a:lnSpc>
            </a:pPr>
            <a:r>
              <a:rPr lang="ja-JP" altLang="en-US" sz="1600" dirty="0">
                <a:solidFill>
                  <a:srgbClr val="000000"/>
                </a:solidFill>
                <a:latin typeface="メイリオ" panose="020B0604030504040204" pitchFamily="50" charset="-128"/>
                <a:ea typeface="メイリオ" panose="020B0604030504040204" pitchFamily="50" charset="-128"/>
              </a:rPr>
              <a:t>■依存したウェブコンテンツ技術のリスト</a:t>
            </a:r>
            <a:endParaRPr lang="en-US" altLang="ja-JP" sz="1600" b="0" i="0" u="none" strike="noStrike" baseline="0" dirty="0">
              <a:solidFill>
                <a:srgbClr val="000000"/>
              </a:solidFill>
              <a:latin typeface="メイリオ" panose="020B0604030504040204" pitchFamily="50" charset="-128"/>
              <a:ea typeface="メイリオ" panose="020B0604030504040204" pitchFamily="50" charset="-128"/>
            </a:endParaRPr>
          </a:p>
          <a:p>
            <a:pPr>
              <a:lnSpc>
                <a:spcPct val="150000"/>
              </a:lnSpc>
            </a:pPr>
            <a:r>
              <a:rPr lang="en-US" altLang="ja-JP" sz="1400" dirty="0"/>
              <a:t>HTML5</a:t>
            </a:r>
            <a:r>
              <a:rPr lang="ja-JP" altLang="en-US" sz="1400" dirty="0"/>
              <a:t>、</a:t>
            </a:r>
            <a:r>
              <a:rPr lang="en-US" altLang="ja-JP" sz="1400" dirty="0"/>
              <a:t>CSS3</a:t>
            </a:r>
            <a:r>
              <a:rPr lang="ja-JP" altLang="en-US" sz="1400" dirty="0"/>
              <a:t>、</a:t>
            </a:r>
            <a:r>
              <a:rPr lang="en-US" altLang="ja-JP" sz="1400" dirty="0"/>
              <a:t>JavaScript</a:t>
            </a:r>
          </a:p>
          <a:p>
            <a:pPr>
              <a:lnSpc>
                <a:spcPct val="150000"/>
              </a:lnSpc>
            </a:pPr>
            <a:endParaRPr lang="en-US" altLang="ja-JP" sz="1400" b="0" i="0" u="none" strike="noStrike" baseline="0" dirty="0">
              <a:solidFill>
                <a:srgbClr val="000000"/>
              </a:solidFill>
              <a:latin typeface="メイリオ" panose="020B0604030504040204" pitchFamily="50" charset="-128"/>
              <a:ea typeface="メイリオ" panose="020B0604030504040204" pitchFamily="50" charset="-128"/>
            </a:endParaRPr>
          </a:p>
          <a:p>
            <a:pPr>
              <a:lnSpc>
                <a:spcPct val="150000"/>
              </a:lnSpc>
            </a:pPr>
            <a:r>
              <a:rPr lang="ja-JP" altLang="en-US" sz="1600" b="0" i="0" u="none" strike="noStrike" baseline="0" dirty="0">
                <a:solidFill>
                  <a:srgbClr val="000000"/>
                </a:solidFill>
                <a:latin typeface="メイリオ" panose="020B0604030504040204" pitchFamily="50" charset="-128"/>
                <a:ea typeface="メイリオ" panose="020B0604030504040204" pitchFamily="50" charset="-128"/>
              </a:rPr>
              <a:t>■</a:t>
            </a:r>
            <a:r>
              <a:rPr lang="ja-JP" altLang="en-US" sz="1600" dirty="0"/>
              <a:t>試験対象のウェブページを選択した方法</a:t>
            </a:r>
            <a:endParaRPr lang="en-US" altLang="ja-JP" sz="1600" dirty="0"/>
          </a:p>
          <a:p>
            <a:pPr>
              <a:lnSpc>
                <a:spcPct val="150000"/>
              </a:lnSpc>
            </a:pPr>
            <a:r>
              <a:rPr kumimoji="1" lang="ja-JP" altLang="en-US" sz="1400" dirty="0">
                <a:solidFill>
                  <a:sysClr val="windowText" lastClr="000000"/>
                </a:solidFill>
                <a:latin typeface="メイリオ" panose="020B0604030504040204" pitchFamily="50" charset="-128"/>
                <a:ea typeface="メイリオ" panose="020B0604030504040204" pitchFamily="50" charset="-128"/>
              </a:rPr>
              <a:t>岩内町移住情報サイト　</a:t>
            </a:r>
            <a:r>
              <a:rPr kumimoji="1" lang="en-US" altLang="ja-JP" sz="1400" dirty="0">
                <a:solidFill>
                  <a:sysClr val="windowText" lastClr="000000"/>
                </a:solidFill>
                <a:latin typeface="メイリオ" panose="020B0604030504040204" pitchFamily="50" charset="-128"/>
                <a:ea typeface="メイリオ" panose="020B0604030504040204" pitchFamily="50" charset="-128"/>
              </a:rPr>
              <a:t>IWANAILIFE</a:t>
            </a:r>
            <a:r>
              <a:rPr kumimoji="1" lang="ja-JP" altLang="en-US" sz="1400" dirty="0">
                <a:solidFill>
                  <a:sysClr val="windowText" lastClr="000000"/>
                </a:solidFill>
                <a:latin typeface="メイリオ" panose="020B0604030504040204" pitchFamily="50" charset="-128"/>
                <a:ea typeface="メイリオ" panose="020B0604030504040204" pitchFamily="50" charset="-128"/>
              </a:rPr>
              <a:t>　</a:t>
            </a:r>
            <a:r>
              <a:rPr kumimoji="1" lang="en-US" altLang="ja-JP" sz="1400" dirty="0">
                <a:solidFill>
                  <a:sysClr val="windowText" lastClr="000000"/>
                </a:solidFill>
                <a:latin typeface="メイリオ" panose="020B0604030504040204" pitchFamily="50" charset="-128"/>
                <a:ea typeface="メイリオ" panose="020B0604030504040204" pitchFamily="50" charset="-128"/>
                <a:hlinkClick r:id="rId2"/>
              </a:rPr>
              <a:t>https://iwanai-iju.jp/</a:t>
            </a:r>
            <a:r>
              <a:rPr kumimoji="1" lang="ja-JP" altLang="en-US" sz="1400" dirty="0">
                <a:solidFill>
                  <a:sysClr val="windowText" lastClr="000000"/>
                </a:solidFill>
                <a:latin typeface="メイリオ" panose="020B0604030504040204" pitchFamily="50" charset="-128"/>
                <a:ea typeface="メイリオ" panose="020B0604030504040204" pitchFamily="50" charset="-128"/>
              </a:rPr>
              <a:t> の全ページ</a:t>
            </a:r>
            <a:endParaRPr kumimoji="1" lang="en-US" altLang="ja-JP" sz="1400" dirty="0">
              <a:solidFill>
                <a:sysClr val="windowText" lastClr="000000"/>
              </a:solidFill>
              <a:latin typeface="メイリオ" panose="020B0604030504040204" pitchFamily="50" charset="-128"/>
              <a:ea typeface="メイリオ" panose="020B0604030504040204" pitchFamily="50" charset="-128"/>
            </a:endParaRPr>
          </a:p>
          <a:p>
            <a:pPr>
              <a:lnSpc>
                <a:spcPct val="150000"/>
              </a:lnSpc>
            </a:pPr>
            <a:r>
              <a:rPr kumimoji="1" lang="en-US" altLang="ja-JP" sz="1400" dirty="0">
                <a:solidFill>
                  <a:sysClr val="windowText" lastClr="000000"/>
                </a:solidFill>
                <a:latin typeface="メイリオ" panose="020B0604030504040204" pitchFamily="50" charset="-128"/>
                <a:ea typeface="メイリオ" panose="020B0604030504040204" pitchFamily="50" charset="-128"/>
              </a:rPr>
              <a:t>※</a:t>
            </a:r>
            <a:r>
              <a:rPr kumimoji="1" lang="ja-JP" altLang="en-US" sz="1400" dirty="0">
                <a:solidFill>
                  <a:sysClr val="windowText" lastClr="000000"/>
                </a:solidFill>
                <a:latin typeface="メイリオ" panose="020B0604030504040204" pitchFamily="50" charset="-128"/>
                <a:ea typeface="メイリオ" panose="020B0604030504040204" pitchFamily="50" charset="-128"/>
              </a:rPr>
              <a:t>試験を実施したページは次ページに記載</a:t>
            </a:r>
            <a:endParaRPr kumimoji="1" lang="en-US" altLang="ja-JP" sz="1400" dirty="0">
              <a:solidFill>
                <a:sysClr val="windowText" lastClr="000000"/>
              </a:solidFill>
              <a:latin typeface="メイリオ" panose="020B0604030504040204" pitchFamily="50" charset="-128"/>
              <a:ea typeface="メイリオ" panose="020B0604030504040204" pitchFamily="50" charset="-128"/>
            </a:endParaRPr>
          </a:p>
          <a:p>
            <a:pPr>
              <a:lnSpc>
                <a:spcPct val="150000"/>
              </a:lnSpc>
            </a:pPr>
            <a:endParaRPr kumimoji="1" lang="en-US" altLang="ja-JP" sz="1400" dirty="0">
              <a:solidFill>
                <a:sysClr val="windowText" lastClr="000000"/>
              </a:solidFill>
              <a:latin typeface="メイリオ" panose="020B0604030504040204" pitchFamily="50" charset="-128"/>
              <a:ea typeface="メイリオ" panose="020B0604030504040204" pitchFamily="50" charset="-128"/>
            </a:endParaRPr>
          </a:p>
          <a:p>
            <a:pPr>
              <a:lnSpc>
                <a:spcPct val="150000"/>
              </a:lnSpc>
            </a:pPr>
            <a:r>
              <a:rPr kumimoji="1" lang="ja-JP" altLang="en-US" sz="1600" dirty="0">
                <a:solidFill>
                  <a:sysClr val="windowText" lastClr="000000"/>
                </a:solidFill>
                <a:latin typeface="メイリオ" panose="020B0604030504040204" pitchFamily="50" charset="-128"/>
                <a:ea typeface="メイリオ" panose="020B0604030504040204" pitchFamily="50" charset="-128"/>
              </a:rPr>
              <a:t>■試験実施期間</a:t>
            </a:r>
            <a:endParaRPr kumimoji="1" lang="en-US" altLang="ja-JP" sz="1600" dirty="0">
              <a:solidFill>
                <a:sysClr val="windowText" lastClr="000000"/>
              </a:solidFill>
              <a:latin typeface="メイリオ" panose="020B0604030504040204" pitchFamily="50" charset="-128"/>
              <a:ea typeface="メイリオ" panose="020B0604030504040204" pitchFamily="50" charset="-128"/>
            </a:endParaRPr>
          </a:p>
          <a:p>
            <a:pPr>
              <a:lnSpc>
                <a:spcPct val="150000"/>
              </a:lnSpc>
            </a:pPr>
            <a:r>
              <a:rPr kumimoji="1" lang="en-US" altLang="ja-JP" sz="1400" dirty="0">
                <a:solidFill>
                  <a:sysClr val="windowText" lastClr="000000"/>
                </a:solidFill>
                <a:latin typeface="メイリオ" panose="020B0604030504040204" pitchFamily="50" charset="-128"/>
                <a:ea typeface="メイリオ" panose="020B0604030504040204" pitchFamily="50" charset="-128"/>
              </a:rPr>
              <a:t>2025</a:t>
            </a:r>
            <a:r>
              <a:rPr kumimoji="1" lang="ja-JP" altLang="en-US" sz="1400" dirty="0">
                <a:solidFill>
                  <a:sysClr val="windowText" lastClr="000000"/>
                </a:solidFill>
                <a:latin typeface="メイリオ" panose="020B0604030504040204" pitchFamily="50" charset="-128"/>
                <a:ea typeface="メイリオ" panose="020B0604030504040204" pitchFamily="50" charset="-128"/>
              </a:rPr>
              <a:t>年</a:t>
            </a:r>
            <a:r>
              <a:rPr kumimoji="1" lang="en-US" altLang="ja-JP" sz="1400" dirty="0">
                <a:solidFill>
                  <a:sysClr val="windowText" lastClr="000000"/>
                </a:solidFill>
                <a:latin typeface="メイリオ" panose="020B0604030504040204" pitchFamily="50" charset="-128"/>
                <a:ea typeface="メイリオ" panose="020B0604030504040204" pitchFamily="50" charset="-128"/>
              </a:rPr>
              <a:t>3</a:t>
            </a:r>
            <a:r>
              <a:rPr kumimoji="1" lang="ja-JP" altLang="en-US" sz="1400" dirty="0">
                <a:solidFill>
                  <a:sysClr val="windowText" lastClr="000000"/>
                </a:solidFill>
                <a:latin typeface="メイリオ" panose="020B0604030504040204" pitchFamily="50" charset="-128"/>
                <a:ea typeface="メイリオ" panose="020B0604030504040204" pitchFamily="50" charset="-128"/>
              </a:rPr>
              <a:t>月</a:t>
            </a:r>
            <a:r>
              <a:rPr kumimoji="1" lang="en-US" altLang="ja-JP" sz="1400" dirty="0">
                <a:solidFill>
                  <a:sysClr val="windowText" lastClr="000000"/>
                </a:solidFill>
                <a:latin typeface="メイリオ" panose="020B0604030504040204" pitchFamily="50" charset="-128"/>
                <a:ea typeface="メイリオ" panose="020B0604030504040204" pitchFamily="50" charset="-128"/>
              </a:rPr>
              <a:t>28</a:t>
            </a:r>
            <a:r>
              <a:rPr kumimoji="1" lang="ja-JP" altLang="en-US" sz="1400" dirty="0">
                <a:solidFill>
                  <a:sysClr val="windowText" lastClr="000000"/>
                </a:solidFill>
                <a:latin typeface="メイリオ" panose="020B0604030504040204" pitchFamily="50" charset="-128"/>
                <a:ea typeface="メイリオ" panose="020B0604030504040204" pitchFamily="50" charset="-128"/>
              </a:rPr>
              <a:t>日～</a:t>
            </a:r>
            <a:r>
              <a:rPr kumimoji="1" lang="en-US" altLang="ja-JP" sz="1400" dirty="0">
                <a:solidFill>
                  <a:sysClr val="windowText" lastClr="000000"/>
                </a:solidFill>
                <a:latin typeface="メイリオ" panose="020B0604030504040204" pitchFamily="50" charset="-128"/>
                <a:ea typeface="メイリオ" panose="020B0604030504040204" pitchFamily="50" charset="-128"/>
              </a:rPr>
              <a:t> 2025</a:t>
            </a:r>
            <a:r>
              <a:rPr kumimoji="1" lang="ja-JP" altLang="en-US" sz="1400" dirty="0">
                <a:solidFill>
                  <a:sysClr val="windowText" lastClr="000000"/>
                </a:solidFill>
                <a:latin typeface="メイリオ" panose="020B0604030504040204" pitchFamily="50" charset="-128"/>
                <a:ea typeface="メイリオ" panose="020B0604030504040204" pitchFamily="50" charset="-128"/>
              </a:rPr>
              <a:t>年</a:t>
            </a:r>
            <a:r>
              <a:rPr kumimoji="1" lang="en-US" altLang="ja-JP" sz="1400" dirty="0">
                <a:solidFill>
                  <a:sysClr val="windowText" lastClr="000000"/>
                </a:solidFill>
                <a:latin typeface="メイリオ" panose="020B0604030504040204" pitchFamily="50" charset="-128"/>
                <a:ea typeface="メイリオ" panose="020B0604030504040204" pitchFamily="50" charset="-128"/>
              </a:rPr>
              <a:t>3</a:t>
            </a:r>
            <a:r>
              <a:rPr kumimoji="1" lang="ja-JP" altLang="en-US" sz="1400" dirty="0">
                <a:solidFill>
                  <a:sysClr val="windowText" lastClr="000000"/>
                </a:solidFill>
                <a:latin typeface="メイリオ" panose="020B0604030504040204" pitchFamily="50" charset="-128"/>
                <a:ea typeface="メイリオ" panose="020B0604030504040204" pitchFamily="50" charset="-128"/>
              </a:rPr>
              <a:t>月</a:t>
            </a:r>
            <a:r>
              <a:rPr kumimoji="1" lang="en-US" altLang="ja-JP" sz="1400" dirty="0">
                <a:solidFill>
                  <a:sysClr val="windowText" lastClr="000000"/>
                </a:solidFill>
                <a:latin typeface="メイリオ" panose="020B0604030504040204" pitchFamily="50" charset="-128"/>
                <a:ea typeface="メイリオ" panose="020B0604030504040204" pitchFamily="50" charset="-128"/>
              </a:rPr>
              <a:t>31</a:t>
            </a:r>
            <a:r>
              <a:rPr kumimoji="1" lang="ja-JP" altLang="en-US" sz="1400" dirty="0">
                <a:solidFill>
                  <a:sysClr val="windowText" lastClr="000000"/>
                </a:solidFill>
                <a:latin typeface="メイリオ" panose="020B0604030504040204" pitchFamily="50" charset="-128"/>
                <a:ea typeface="メイリオ" panose="020B0604030504040204" pitchFamily="50" charset="-128"/>
              </a:rPr>
              <a:t>日</a:t>
            </a:r>
            <a:endParaRPr kumimoji="1" lang="en-US" altLang="ja-JP" sz="1400" dirty="0">
              <a:solidFill>
                <a:sysClr val="windowText" lastClr="000000"/>
              </a:solidFill>
              <a:latin typeface="メイリオ" panose="020B0604030504040204" pitchFamily="50" charset="-128"/>
              <a:ea typeface="メイリオ" panose="020B0604030504040204" pitchFamily="50" charset="-128"/>
            </a:endParaRPr>
          </a:p>
        </p:txBody>
      </p:sp>
      <p:sp>
        <p:nvSpPr>
          <p:cNvPr id="3" name="テキスト ボックス 2">
            <a:extLst>
              <a:ext uri="{FF2B5EF4-FFF2-40B4-BE49-F238E27FC236}">
                <a16:creationId xmlns:a16="http://schemas.microsoft.com/office/drawing/2014/main" id="{E61C26C1-BDC1-F178-C125-770AD2EDDF4A}"/>
              </a:ext>
            </a:extLst>
          </p:cNvPr>
          <p:cNvSpPr txBox="1"/>
          <p:nvPr/>
        </p:nvSpPr>
        <p:spPr>
          <a:xfrm>
            <a:off x="227573" y="44659"/>
            <a:ext cx="2582758" cy="307777"/>
          </a:xfrm>
          <a:prstGeom prst="rect">
            <a:avLst/>
          </a:prstGeom>
          <a:noFill/>
        </p:spPr>
        <p:txBody>
          <a:bodyPr wrap="none" rtlCol="0">
            <a:spAutoFit/>
          </a:bodyPr>
          <a:lstStyle/>
          <a:p>
            <a:r>
              <a:rPr kumimoji="1" lang="en-US" altLang="ja-JP" sz="1400" b="1" dirty="0"/>
              <a:t>1. </a:t>
            </a:r>
            <a:r>
              <a:rPr kumimoji="1" lang="ja-JP" altLang="en-US" sz="1400" b="1" dirty="0"/>
              <a:t>アクセシビリティ診断結果</a:t>
            </a:r>
            <a:endParaRPr kumimoji="1" lang="en-US" altLang="ja-JP" sz="1400" b="1" dirty="0"/>
          </a:p>
        </p:txBody>
      </p:sp>
    </p:spTree>
    <p:extLst>
      <p:ext uri="{BB962C8B-B14F-4D97-AF65-F5344CB8AC3E}">
        <p14:creationId xmlns:p14="http://schemas.microsoft.com/office/powerpoint/2010/main" val="18770646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C1D57-5A33-8729-43F2-C2A2FA1AA7EC}"/>
            </a:ext>
          </a:extLst>
        </p:cNvPr>
        <p:cNvGrpSpPr/>
        <p:nvPr/>
      </p:nvGrpSpPr>
      <p:grpSpPr>
        <a:xfrm>
          <a:off x="0" y="0"/>
          <a:ext cx="0" cy="0"/>
          <a:chOff x="0" y="0"/>
          <a:chExt cx="0" cy="0"/>
        </a:xfrm>
      </p:grpSpPr>
      <p:sp>
        <p:nvSpPr>
          <p:cNvPr id="2" name="テキスト ボックス 4">
            <a:extLst>
              <a:ext uri="{FF2B5EF4-FFF2-40B4-BE49-F238E27FC236}">
                <a16:creationId xmlns:a16="http://schemas.microsoft.com/office/drawing/2014/main" id="{D4470FDB-81E2-4806-D0BB-30957F999F6E}"/>
              </a:ext>
            </a:extLst>
          </p:cNvPr>
          <p:cNvSpPr txBox="1"/>
          <p:nvPr/>
        </p:nvSpPr>
        <p:spPr>
          <a:xfrm>
            <a:off x="403412" y="512817"/>
            <a:ext cx="9099176" cy="5232202"/>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nSpc>
                <a:spcPct val="150000"/>
              </a:lnSpc>
            </a:pPr>
            <a:r>
              <a:rPr lang="ja-JP" altLang="en-US" sz="1600" b="0" i="0" u="none" strike="noStrike" baseline="0" dirty="0">
                <a:solidFill>
                  <a:srgbClr val="000000"/>
                </a:solidFill>
                <a:latin typeface="メイリオ" panose="020B0604030504040204" pitchFamily="50" charset="-128"/>
                <a:ea typeface="メイリオ" panose="020B0604030504040204" pitchFamily="50" charset="-128"/>
              </a:rPr>
              <a:t>■</a:t>
            </a:r>
            <a:r>
              <a:rPr lang="ja-JP" altLang="en-US" sz="1600" dirty="0">
                <a:solidFill>
                  <a:srgbClr val="000000"/>
                </a:solidFill>
                <a:latin typeface="メイリオ" panose="020B0604030504040204" pitchFamily="50" charset="-128"/>
                <a:ea typeface="メイリオ" panose="020B0604030504040204" pitchFamily="50" charset="-128"/>
              </a:rPr>
              <a:t>診断基準と適合レベル</a:t>
            </a:r>
            <a:endParaRPr lang="en-US" altLang="ja-JP" sz="1600" dirty="0">
              <a:solidFill>
                <a:srgbClr val="000000"/>
              </a:solidFill>
              <a:latin typeface="メイリオ" panose="020B0604030504040204" pitchFamily="50" charset="-128"/>
              <a:ea typeface="メイリオ" panose="020B0604030504040204" pitchFamily="50" charset="-128"/>
            </a:endParaRPr>
          </a:p>
          <a:p>
            <a:pPr>
              <a:lnSpc>
                <a:spcPct val="150000"/>
              </a:lnSpc>
            </a:pPr>
            <a:r>
              <a:rPr lang="en-US" altLang="ja-JP" sz="1400" b="0" i="0" u="none" strike="noStrike" baseline="0" dirty="0">
                <a:solidFill>
                  <a:srgbClr val="000000"/>
                </a:solidFill>
                <a:latin typeface="メイリオ" panose="020B0604030504040204" pitchFamily="50" charset="-128"/>
                <a:ea typeface="メイリオ" panose="020B0604030504040204" pitchFamily="50" charset="-128"/>
              </a:rPr>
              <a:t>WCAG2.2</a:t>
            </a:r>
            <a:r>
              <a:rPr lang="ja-JP" altLang="en-US" sz="1400" dirty="0">
                <a:solidFill>
                  <a:srgbClr val="000000"/>
                </a:solidFill>
                <a:latin typeface="メイリオ" panose="020B0604030504040204" pitchFamily="50" charset="-128"/>
                <a:ea typeface="メイリオ" panose="020B0604030504040204" pitchFamily="50" charset="-128"/>
              </a:rPr>
              <a:t>　適合レベル</a:t>
            </a:r>
            <a:r>
              <a:rPr lang="en-US" altLang="ja-JP" sz="1400" dirty="0">
                <a:solidFill>
                  <a:srgbClr val="000000"/>
                </a:solidFill>
                <a:latin typeface="メイリオ" panose="020B0604030504040204" pitchFamily="50" charset="-128"/>
                <a:ea typeface="メイリオ" panose="020B0604030504040204" pitchFamily="50" charset="-128"/>
              </a:rPr>
              <a:t>A</a:t>
            </a:r>
            <a:r>
              <a:rPr lang="ja-JP" altLang="en-US" sz="1400" dirty="0">
                <a:solidFill>
                  <a:srgbClr val="000000"/>
                </a:solidFill>
                <a:latin typeface="メイリオ" panose="020B0604030504040204" pitchFamily="50" charset="-128"/>
                <a:ea typeface="メイリオ" panose="020B0604030504040204" pitchFamily="50" charset="-128"/>
              </a:rPr>
              <a:t>および</a:t>
            </a:r>
            <a:r>
              <a:rPr lang="en-US" altLang="ja-JP" sz="1400" dirty="0">
                <a:solidFill>
                  <a:srgbClr val="000000"/>
                </a:solidFill>
                <a:latin typeface="メイリオ" panose="020B0604030504040204" pitchFamily="50" charset="-128"/>
                <a:ea typeface="メイリオ" panose="020B0604030504040204" pitchFamily="50" charset="-128"/>
              </a:rPr>
              <a:t>AA</a:t>
            </a:r>
          </a:p>
          <a:p>
            <a:pPr>
              <a:lnSpc>
                <a:spcPct val="150000"/>
              </a:lnSpc>
            </a:pPr>
            <a:endParaRPr lang="en-US" altLang="ja-JP" sz="1400" b="0" i="0" u="none" strike="noStrike" baseline="0" dirty="0">
              <a:solidFill>
                <a:srgbClr val="000000"/>
              </a:solidFill>
              <a:latin typeface="メイリオ" panose="020B0604030504040204" pitchFamily="50" charset="-128"/>
              <a:ea typeface="メイリオ" panose="020B0604030504040204" pitchFamily="50" charset="-128"/>
            </a:endParaRPr>
          </a:p>
          <a:p>
            <a:pPr>
              <a:lnSpc>
                <a:spcPct val="150000"/>
              </a:lnSpc>
            </a:pPr>
            <a:r>
              <a:rPr lang="ja-JP" altLang="en-US" sz="1600" dirty="0">
                <a:solidFill>
                  <a:srgbClr val="000000"/>
                </a:solidFill>
                <a:latin typeface="メイリオ" panose="020B0604030504040204" pitchFamily="50" charset="-128"/>
                <a:ea typeface="メイリオ" panose="020B0604030504040204" pitchFamily="50" charset="-128"/>
              </a:rPr>
              <a:t>■満たしている適合レベル</a:t>
            </a:r>
            <a:endParaRPr lang="en-US" altLang="ja-JP" sz="1600" dirty="0">
              <a:solidFill>
                <a:srgbClr val="000000"/>
              </a:solidFill>
              <a:latin typeface="メイリオ" panose="020B0604030504040204" pitchFamily="50" charset="-128"/>
              <a:ea typeface="メイリオ" panose="020B0604030504040204" pitchFamily="50" charset="-128"/>
            </a:endParaRPr>
          </a:p>
          <a:p>
            <a:pPr>
              <a:lnSpc>
                <a:spcPct val="150000"/>
              </a:lnSpc>
            </a:pPr>
            <a:r>
              <a:rPr lang="ja-JP" altLang="en-US" sz="1400" b="0" i="0" u="none" strike="noStrike" baseline="0" dirty="0">
                <a:solidFill>
                  <a:srgbClr val="000000"/>
                </a:solidFill>
                <a:latin typeface="メイリオ" panose="020B0604030504040204" pitchFamily="50" charset="-128"/>
                <a:ea typeface="メイリオ" panose="020B0604030504040204" pitchFamily="50" charset="-128"/>
              </a:rPr>
              <a:t>適合レベル</a:t>
            </a:r>
            <a:r>
              <a:rPr lang="en-US" altLang="ja-JP" sz="1400" b="0" i="0" u="none" strike="noStrike" baseline="0" dirty="0">
                <a:solidFill>
                  <a:srgbClr val="000000"/>
                </a:solidFill>
                <a:latin typeface="メイリオ" panose="020B0604030504040204" pitchFamily="50" charset="-128"/>
                <a:ea typeface="メイリオ" panose="020B0604030504040204" pitchFamily="50" charset="-128"/>
              </a:rPr>
              <a:t>A</a:t>
            </a:r>
            <a:r>
              <a:rPr lang="ja-JP" altLang="en-US" sz="1400" b="0" i="0" u="none" strike="noStrike" baseline="0" dirty="0">
                <a:solidFill>
                  <a:srgbClr val="000000"/>
                </a:solidFill>
                <a:latin typeface="メイリオ" panose="020B0604030504040204" pitchFamily="50" charset="-128"/>
                <a:ea typeface="メイリオ" panose="020B0604030504040204" pitchFamily="50" charset="-128"/>
              </a:rPr>
              <a:t>に一部準拠</a:t>
            </a:r>
            <a:endParaRPr lang="en-US" altLang="ja-JP" sz="1400" b="0" i="0" u="none" strike="noStrike" baseline="0" dirty="0">
              <a:solidFill>
                <a:srgbClr val="000000"/>
              </a:solidFill>
              <a:latin typeface="メイリオ" panose="020B0604030504040204" pitchFamily="50" charset="-128"/>
              <a:ea typeface="メイリオ" panose="020B0604030504040204" pitchFamily="50" charset="-128"/>
            </a:endParaRPr>
          </a:p>
          <a:p>
            <a:pPr>
              <a:lnSpc>
                <a:spcPct val="150000"/>
              </a:lnSpc>
            </a:pPr>
            <a:endParaRPr lang="en-US" altLang="ja-JP" sz="1400" b="0" i="0" u="none" strike="noStrike" baseline="0" dirty="0">
              <a:solidFill>
                <a:srgbClr val="000000"/>
              </a:solidFill>
              <a:latin typeface="メイリオ" panose="020B0604030504040204" pitchFamily="50" charset="-128"/>
              <a:ea typeface="メイリオ" panose="020B0604030504040204" pitchFamily="50" charset="-128"/>
            </a:endParaRPr>
          </a:p>
          <a:p>
            <a:pPr>
              <a:lnSpc>
                <a:spcPct val="150000"/>
              </a:lnSpc>
            </a:pPr>
            <a:r>
              <a:rPr lang="ja-JP" altLang="en-US" sz="1600" dirty="0">
                <a:solidFill>
                  <a:srgbClr val="000000"/>
                </a:solidFill>
                <a:latin typeface="メイリオ" panose="020B0604030504040204" pitchFamily="50" charset="-128"/>
                <a:ea typeface="メイリオ" panose="020B0604030504040204" pitchFamily="50" charset="-128"/>
              </a:rPr>
              <a:t>■依存したウェブコンテンツ技術のリスト</a:t>
            </a:r>
            <a:endParaRPr lang="en-US" altLang="ja-JP" sz="1600" b="0" i="0" u="none" strike="noStrike" baseline="0" dirty="0">
              <a:solidFill>
                <a:srgbClr val="000000"/>
              </a:solidFill>
              <a:latin typeface="メイリオ" panose="020B0604030504040204" pitchFamily="50" charset="-128"/>
              <a:ea typeface="メイリオ" panose="020B0604030504040204" pitchFamily="50" charset="-128"/>
            </a:endParaRPr>
          </a:p>
          <a:p>
            <a:pPr>
              <a:lnSpc>
                <a:spcPct val="150000"/>
              </a:lnSpc>
            </a:pPr>
            <a:r>
              <a:rPr lang="en-US" altLang="ja-JP" sz="1400" dirty="0"/>
              <a:t>HTML5</a:t>
            </a:r>
            <a:r>
              <a:rPr lang="ja-JP" altLang="en-US" sz="1400" dirty="0"/>
              <a:t>、</a:t>
            </a:r>
            <a:r>
              <a:rPr lang="en-US" altLang="ja-JP" sz="1400" dirty="0"/>
              <a:t>CSS3</a:t>
            </a:r>
            <a:r>
              <a:rPr lang="ja-JP" altLang="en-US" sz="1400" dirty="0"/>
              <a:t>、</a:t>
            </a:r>
            <a:r>
              <a:rPr lang="en-US" altLang="ja-JP" sz="1400" dirty="0"/>
              <a:t>JavaScript</a:t>
            </a:r>
          </a:p>
          <a:p>
            <a:pPr>
              <a:lnSpc>
                <a:spcPct val="150000"/>
              </a:lnSpc>
            </a:pPr>
            <a:endParaRPr lang="en-US" altLang="ja-JP" sz="1400" b="0" i="0" u="none" strike="noStrike" baseline="0" dirty="0">
              <a:solidFill>
                <a:srgbClr val="000000"/>
              </a:solidFill>
              <a:latin typeface="メイリオ" panose="020B0604030504040204" pitchFamily="50" charset="-128"/>
              <a:ea typeface="メイリオ" panose="020B0604030504040204" pitchFamily="50" charset="-128"/>
            </a:endParaRPr>
          </a:p>
          <a:p>
            <a:pPr>
              <a:lnSpc>
                <a:spcPct val="150000"/>
              </a:lnSpc>
            </a:pPr>
            <a:r>
              <a:rPr lang="ja-JP" altLang="en-US" sz="1600" b="0" i="0" u="none" strike="noStrike" baseline="0" dirty="0">
                <a:solidFill>
                  <a:srgbClr val="000000"/>
                </a:solidFill>
                <a:latin typeface="メイリオ" panose="020B0604030504040204" pitchFamily="50" charset="-128"/>
                <a:ea typeface="メイリオ" panose="020B0604030504040204" pitchFamily="50" charset="-128"/>
              </a:rPr>
              <a:t>■</a:t>
            </a:r>
            <a:r>
              <a:rPr lang="ja-JP" altLang="en-US" sz="1600" dirty="0"/>
              <a:t>試験対象のウェブページを選択した方法</a:t>
            </a:r>
            <a:endParaRPr lang="en-US" altLang="ja-JP" sz="1600" dirty="0"/>
          </a:p>
          <a:p>
            <a:pPr>
              <a:lnSpc>
                <a:spcPct val="150000"/>
              </a:lnSpc>
            </a:pPr>
            <a:r>
              <a:rPr kumimoji="1" lang="ja-JP" altLang="en-US" sz="1400" dirty="0">
                <a:solidFill>
                  <a:sysClr val="windowText" lastClr="000000"/>
                </a:solidFill>
                <a:latin typeface="メイリオ" panose="020B0604030504040204" pitchFamily="50" charset="-128"/>
                <a:ea typeface="メイリオ" panose="020B0604030504040204" pitchFamily="50" charset="-128"/>
              </a:rPr>
              <a:t>岩内町移住情報サイト　</a:t>
            </a:r>
            <a:r>
              <a:rPr kumimoji="1" lang="en-US" altLang="ja-JP" sz="1400" dirty="0">
                <a:solidFill>
                  <a:sysClr val="windowText" lastClr="000000"/>
                </a:solidFill>
                <a:latin typeface="メイリオ" panose="020B0604030504040204" pitchFamily="50" charset="-128"/>
                <a:ea typeface="メイリオ" panose="020B0604030504040204" pitchFamily="50" charset="-128"/>
              </a:rPr>
              <a:t>IWANAILIFE</a:t>
            </a:r>
            <a:r>
              <a:rPr kumimoji="1" lang="ja-JP" altLang="en-US" sz="1400" dirty="0">
                <a:solidFill>
                  <a:sysClr val="windowText" lastClr="000000"/>
                </a:solidFill>
                <a:latin typeface="メイリオ" panose="020B0604030504040204" pitchFamily="50" charset="-128"/>
                <a:ea typeface="メイリオ" panose="020B0604030504040204" pitchFamily="50" charset="-128"/>
              </a:rPr>
              <a:t>　</a:t>
            </a:r>
            <a:r>
              <a:rPr kumimoji="1" lang="en-US" altLang="ja-JP" sz="1400" dirty="0">
                <a:solidFill>
                  <a:sysClr val="windowText" lastClr="000000"/>
                </a:solidFill>
                <a:latin typeface="メイリオ" panose="020B0604030504040204" pitchFamily="50" charset="-128"/>
                <a:ea typeface="メイリオ" panose="020B0604030504040204" pitchFamily="50" charset="-128"/>
                <a:hlinkClick r:id="rId2"/>
              </a:rPr>
              <a:t>https://iwanai-iju.jp/</a:t>
            </a:r>
            <a:r>
              <a:rPr kumimoji="1" lang="ja-JP" altLang="en-US" sz="1400" dirty="0">
                <a:solidFill>
                  <a:sysClr val="windowText" lastClr="000000"/>
                </a:solidFill>
                <a:latin typeface="メイリオ" panose="020B0604030504040204" pitchFamily="50" charset="-128"/>
                <a:ea typeface="メイリオ" panose="020B0604030504040204" pitchFamily="50" charset="-128"/>
              </a:rPr>
              <a:t> の全ページ</a:t>
            </a:r>
            <a:endParaRPr kumimoji="1" lang="en-US" altLang="ja-JP" sz="1400" dirty="0">
              <a:solidFill>
                <a:sysClr val="windowText" lastClr="000000"/>
              </a:solidFill>
              <a:latin typeface="メイリオ" panose="020B0604030504040204" pitchFamily="50" charset="-128"/>
              <a:ea typeface="メイリオ" panose="020B0604030504040204" pitchFamily="50" charset="-128"/>
            </a:endParaRPr>
          </a:p>
          <a:p>
            <a:pPr>
              <a:lnSpc>
                <a:spcPct val="150000"/>
              </a:lnSpc>
            </a:pPr>
            <a:r>
              <a:rPr kumimoji="1" lang="en-US" altLang="ja-JP" sz="1400" dirty="0">
                <a:solidFill>
                  <a:sysClr val="windowText" lastClr="000000"/>
                </a:solidFill>
                <a:latin typeface="メイリオ" panose="020B0604030504040204" pitchFamily="50" charset="-128"/>
                <a:ea typeface="メイリオ" panose="020B0604030504040204" pitchFamily="50" charset="-128"/>
              </a:rPr>
              <a:t>※</a:t>
            </a:r>
            <a:r>
              <a:rPr kumimoji="1" lang="ja-JP" altLang="en-US" sz="1400" dirty="0">
                <a:solidFill>
                  <a:sysClr val="windowText" lastClr="000000"/>
                </a:solidFill>
                <a:latin typeface="メイリオ" panose="020B0604030504040204" pitchFamily="50" charset="-128"/>
                <a:ea typeface="メイリオ" panose="020B0604030504040204" pitchFamily="50" charset="-128"/>
              </a:rPr>
              <a:t>試験を実施したページは次ページに記載</a:t>
            </a:r>
            <a:endParaRPr kumimoji="1" lang="en-US" altLang="ja-JP" sz="1400" dirty="0">
              <a:solidFill>
                <a:sysClr val="windowText" lastClr="000000"/>
              </a:solidFill>
              <a:latin typeface="メイリオ" panose="020B0604030504040204" pitchFamily="50" charset="-128"/>
              <a:ea typeface="メイリオ" panose="020B0604030504040204" pitchFamily="50" charset="-128"/>
            </a:endParaRPr>
          </a:p>
          <a:p>
            <a:pPr>
              <a:lnSpc>
                <a:spcPct val="150000"/>
              </a:lnSpc>
            </a:pPr>
            <a:endParaRPr kumimoji="1" lang="en-US" altLang="ja-JP" sz="1400" dirty="0">
              <a:solidFill>
                <a:sysClr val="windowText" lastClr="000000"/>
              </a:solidFill>
              <a:latin typeface="メイリオ" panose="020B0604030504040204" pitchFamily="50" charset="-128"/>
              <a:ea typeface="メイリオ" panose="020B0604030504040204" pitchFamily="50" charset="-128"/>
            </a:endParaRPr>
          </a:p>
          <a:p>
            <a:pPr>
              <a:lnSpc>
                <a:spcPct val="150000"/>
              </a:lnSpc>
            </a:pPr>
            <a:r>
              <a:rPr kumimoji="1" lang="ja-JP" altLang="en-US" sz="1600" dirty="0">
                <a:solidFill>
                  <a:sysClr val="windowText" lastClr="000000"/>
                </a:solidFill>
                <a:latin typeface="メイリオ" panose="020B0604030504040204" pitchFamily="50" charset="-128"/>
                <a:ea typeface="メイリオ" panose="020B0604030504040204" pitchFamily="50" charset="-128"/>
              </a:rPr>
              <a:t>■試験実施期間</a:t>
            </a:r>
            <a:endParaRPr kumimoji="1" lang="en-US" altLang="ja-JP" sz="1600" dirty="0">
              <a:solidFill>
                <a:sysClr val="windowText" lastClr="000000"/>
              </a:solidFill>
              <a:latin typeface="メイリオ" panose="020B0604030504040204" pitchFamily="50" charset="-128"/>
              <a:ea typeface="メイリオ" panose="020B0604030504040204" pitchFamily="50" charset="-128"/>
            </a:endParaRPr>
          </a:p>
          <a:p>
            <a:pPr>
              <a:lnSpc>
                <a:spcPct val="150000"/>
              </a:lnSpc>
            </a:pPr>
            <a:r>
              <a:rPr kumimoji="1" lang="en-US" altLang="ja-JP" sz="1400" dirty="0">
                <a:solidFill>
                  <a:sysClr val="windowText" lastClr="000000"/>
                </a:solidFill>
                <a:latin typeface="メイリオ" panose="020B0604030504040204" pitchFamily="50" charset="-128"/>
                <a:ea typeface="メイリオ" panose="020B0604030504040204" pitchFamily="50" charset="-128"/>
              </a:rPr>
              <a:t>2025</a:t>
            </a:r>
            <a:r>
              <a:rPr kumimoji="1" lang="ja-JP" altLang="en-US" sz="1400" dirty="0">
                <a:solidFill>
                  <a:sysClr val="windowText" lastClr="000000"/>
                </a:solidFill>
                <a:latin typeface="メイリオ" panose="020B0604030504040204" pitchFamily="50" charset="-128"/>
                <a:ea typeface="メイリオ" panose="020B0604030504040204" pitchFamily="50" charset="-128"/>
              </a:rPr>
              <a:t>年</a:t>
            </a:r>
            <a:r>
              <a:rPr kumimoji="1" lang="en-US" altLang="ja-JP" sz="1400" dirty="0">
                <a:solidFill>
                  <a:sysClr val="windowText" lastClr="000000"/>
                </a:solidFill>
                <a:latin typeface="メイリオ" panose="020B0604030504040204" pitchFamily="50" charset="-128"/>
                <a:ea typeface="メイリオ" panose="020B0604030504040204" pitchFamily="50" charset="-128"/>
              </a:rPr>
              <a:t>3</a:t>
            </a:r>
            <a:r>
              <a:rPr kumimoji="1" lang="ja-JP" altLang="en-US" sz="1400" dirty="0">
                <a:solidFill>
                  <a:sysClr val="windowText" lastClr="000000"/>
                </a:solidFill>
                <a:latin typeface="メイリオ" panose="020B0604030504040204" pitchFamily="50" charset="-128"/>
                <a:ea typeface="メイリオ" panose="020B0604030504040204" pitchFamily="50" charset="-128"/>
              </a:rPr>
              <a:t>月</a:t>
            </a:r>
            <a:r>
              <a:rPr kumimoji="1" lang="en-US" altLang="ja-JP" sz="1400" dirty="0">
                <a:solidFill>
                  <a:sysClr val="windowText" lastClr="000000"/>
                </a:solidFill>
                <a:latin typeface="メイリオ" panose="020B0604030504040204" pitchFamily="50" charset="-128"/>
                <a:ea typeface="メイリオ" panose="020B0604030504040204" pitchFamily="50" charset="-128"/>
              </a:rPr>
              <a:t>28</a:t>
            </a:r>
            <a:r>
              <a:rPr kumimoji="1" lang="ja-JP" altLang="en-US" sz="1400" dirty="0">
                <a:solidFill>
                  <a:sysClr val="windowText" lastClr="000000"/>
                </a:solidFill>
                <a:latin typeface="メイリオ" panose="020B0604030504040204" pitchFamily="50" charset="-128"/>
                <a:ea typeface="メイリオ" panose="020B0604030504040204" pitchFamily="50" charset="-128"/>
              </a:rPr>
              <a:t>日～</a:t>
            </a:r>
            <a:r>
              <a:rPr kumimoji="1" lang="en-US" altLang="ja-JP" sz="1400" dirty="0">
                <a:solidFill>
                  <a:sysClr val="windowText" lastClr="000000"/>
                </a:solidFill>
                <a:latin typeface="メイリオ" panose="020B0604030504040204" pitchFamily="50" charset="-128"/>
                <a:ea typeface="メイリオ" panose="020B0604030504040204" pitchFamily="50" charset="-128"/>
              </a:rPr>
              <a:t> 2025</a:t>
            </a:r>
            <a:r>
              <a:rPr kumimoji="1" lang="ja-JP" altLang="en-US" sz="1400" dirty="0">
                <a:solidFill>
                  <a:sysClr val="windowText" lastClr="000000"/>
                </a:solidFill>
                <a:latin typeface="メイリオ" panose="020B0604030504040204" pitchFamily="50" charset="-128"/>
                <a:ea typeface="メイリオ" panose="020B0604030504040204" pitchFamily="50" charset="-128"/>
              </a:rPr>
              <a:t>年</a:t>
            </a:r>
            <a:r>
              <a:rPr kumimoji="1" lang="en-US" altLang="ja-JP" sz="1400" dirty="0">
                <a:solidFill>
                  <a:sysClr val="windowText" lastClr="000000"/>
                </a:solidFill>
                <a:latin typeface="メイリオ" panose="020B0604030504040204" pitchFamily="50" charset="-128"/>
                <a:ea typeface="メイリオ" panose="020B0604030504040204" pitchFamily="50" charset="-128"/>
              </a:rPr>
              <a:t>3</a:t>
            </a:r>
            <a:r>
              <a:rPr kumimoji="1" lang="ja-JP" altLang="en-US" sz="1400" dirty="0">
                <a:solidFill>
                  <a:sysClr val="windowText" lastClr="000000"/>
                </a:solidFill>
                <a:latin typeface="メイリオ" panose="020B0604030504040204" pitchFamily="50" charset="-128"/>
                <a:ea typeface="メイリオ" panose="020B0604030504040204" pitchFamily="50" charset="-128"/>
              </a:rPr>
              <a:t>月</a:t>
            </a:r>
            <a:r>
              <a:rPr kumimoji="1" lang="en-US" altLang="ja-JP" sz="1400" dirty="0">
                <a:solidFill>
                  <a:sysClr val="windowText" lastClr="000000"/>
                </a:solidFill>
                <a:latin typeface="メイリオ" panose="020B0604030504040204" pitchFamily="50" charset="-128"/>
                <a:ea typeface="メイリオ" panose="020B0604030504040204" pitchFamily="50" charset="-128"/>
              </a:rPr>
              <a:t>31</a:t>
            </a:r>
            <a:r>
              <a:rPr kumimoji="1" lang="ja-JP" altLang="en-US" sz="1400" dirty="0">
                <a:solidFill>
                  <a:sysClr val="windowText" lastClr="000000"/>
                </a:solidFill>
                <a:latin typeface="メイリオ" panose="020B0604030504040204" pitchFamily="50" charset="-128"/>
                <a:ea typeface="メイリオ" panose="020B0604030504040204" pitchFamily="50" charset="-128"/>
              </a:rPr>
              <a:t>日</a:t>
            </a:r>
            <a:endParaRPr kumimoji="1" lang="en-US" altLang="ja-JP" sz="1400" dirty="0">
              <a:solidFill>
                <a:sysClr val="windowText" lastClr="000000"/>
              </a:solidFill>
              <a:latin typeface="メイリオ" panose="020B0604030504040204" pitchFamily="50" charset="-128"/>
              <a:ea typeface="メイリオ" panose="020B0604030504040204" pitchFamily="50" charset="-128"/>
            </a:endParaRPr>
          </a:p>
        </p:txBody>
      </p:sp>
      <p:sp>
        <p:nvSpPr>
          <p:cNvPr id="3" name="テキスト ボックス 2">
            <a:extLst>
              <a:ext uri="{FF2B5EF4-FFF2-40B4-BE49-F238E27FC236}">
                <a16:creationId xmlns:a16="http://schemas.microsoft.com/office/drawing/2014/main" id="{7232F701-B778-7ABB-27BB-ADA102EEAFEA}"/>
              </a:ext>
            </a:extLst>
          </p:cNvPr>
          <p:cNvSpPr txBox="1"/>
          <p:nvPr/>
        </p:nvSpPr>
        <p:spPr>
          <a:xfrm>
            <a:off x="227573" y="44659"/>
            <a:ext cx="2582758" cy="307777"/>
          </a:xfrm>
          <a:prstGeom prst="rect">
            <a:avLst/>
          </a:prstGeom>
          <a:noFill/>
        </p:spPr>
        <p:txBody>
          <a:bodyPr wrap="none" rtlCol="0">
            <a:spAutoFit/>
          </a:bodyPr>
          <a:lstStyle/>
          <a:p>
            <a:r>
              <a:rPr kumimoji="1" lang="en-US" altLang="ja-JP" sz="1400" b="1" dirty="0"/>
              <a:t>1. </a:t>
            </a:r>
            <a:r>
              <a:rPr kumimoji="1" lang="ja-JP" altLang="en-US" sz="1400" b="1" dirty="0"/>
              <a:t>アクセシビリティ診断結果</a:t>
            </a:r>
            <a:endParaRPr kumimoji="1" lang="en-US" altLang="ja-JP" sz="1400" b="1" dirty="0"/>
          </a:p>
        </p:txBody>
      </p:sp>
    </p:spTree>
    <p:extLst>
      <p:ext uri="{BB962C8B-B14F-4D97-AF65-F5344CB8AC3E}">
        <p14:creationId xmlns:p14="http://schemas.microsoft.com/office/powerpoint/2010/main" val="1638263399"/>
      </p:ext>
    </p:extLst>
  </p:cSld>
  <p:clrMapOvr>
    <a:masterClrMapping/>
  </p:clrMapOvr>
</p:sld>
</file>

<file path=ppt/theme/theme1.xml><?xml version="1.0" encoding="utf-8"?>
<a:theme xmlns:a="http://schemas.openxmlformats.org/drawingml/2006/main" name="Office テーマ">
  <a:themeElements>
    <a:clrScheme name="Office テーマ">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rchestratedfont_2015">
      <a:majorFont>
        <a:latin typeface="メイリオ"/>
        <a:ea typeface="メイリオ"/>
        <a:cs typeface=""/>
      </a:majorFont>
      <a:minorFont>
        <a:latin typeface="メイリオ"/>
        <a:ea typeface="メイリオ"/>
        <a:cs typeface=""/>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31245</TotalTime>
  <Words>999</Words>
  <Application>Microsoft Office PowerPoint</Application>
  <PresentationFormat>A4 210 x 297 mm</PresentationFormat>
  <Paragraphs>90</Paragraphs>
  <Slides>5</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5</vt:i4>
      </vt:variant>
    </vt:vector>
  </HeadingPairs>
  <TitlesOfParts>
    <vt:vector size="11" baseType="lpstr">
      <vt:lpstr>Meiryo</vt:lpstr>
      <vt:lpstr>Meiryo</vt:lpstr>
      <vt:lpstr>游ゴシック</vt:lpstr>
      <vt:lpstr>Arial</vt:lpstr>
      <vt:lpstr>Calibri</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ishizaka</dc:creator>
  <cp:lastModifiedBy>徳山 えり佳</cp:lastModifiedBy>
  <cp:revision>1405</cp:revision>
  <cp:lastPrinted>2021-12-16T04:18:29Z</cp:lastPrinted>
  <dcterms:created xsi:type="dcterms:W3CDTF">2016-02-26T01:49:29Z</dcterms:created>
  <dcterms:modified xsi:type="dcterms:W3CDTF">2026-10-14T08:27:44Z</dcterms:modified>
</cp:coreProperties>
</file>