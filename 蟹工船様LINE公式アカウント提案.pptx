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7"/>
  </p:notesMasterIdLst>
  <p:handoutMasterIdLst>
    <p:handoutMasterId r:id="rId8"/>
  </p:handoutMasterIdLst>
  <p:sldIdLst>
    <p:sldId id="284" r:id="rId2"/>
    <p:sldId id="513" r:id="rId3"/>
    <p:sldId id="517" r:id="rId4"/>
    <p:sldId id="514" r:id="rId5"/>
    <p:sldId id="515" r:id="rId6"/>
  </p:sldIdLst>
  <p:sldSz cx="9906000" cy="6858000" type="A4"/>
  <p:notesSz cx="6802438" cy="99345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濱中 崇" initials="濱中" lastIdx="1" clrIdx="0">
    <p:extLst>
      <p:ext uri="{19B8F6BF-5375-455C-9EA6-DF929625EA0E}">
        <p15:presenceInfo xmlns:p15="http://schemas.microsoft.com/office/powerpoint/2012/main" userId="8484cd305c2318a2" providerId="Windows Live"/>
      </p:ext>
    </p:extLst>
  </p:cmAuthor>
  <p:cmAuthor id="2" name="jun" initials="j" lastIdx="2" clrIdx="1">
    <p:extLst>
      <p:ext uri="{19B8F6BF-5375-455C-9EA6-DF929625EA0E}">
        <p15:presenceInfo xmlns:p15="http://schemas.microsoft.com/office/powerpoint/2012/main" userId="ju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FF"/>
        </p14:laserClr>
      </p:ext>
      <p:ext uri="{2FDB2607-1784-4EEB-B798-7EB5836EED8A}">
        <p14:showMediaCtrls xmlns:p14="http://schemas.microsoft.com/office/powerpoint/2010/main" val="1"/>
      </p:ext>
    </p:extLst>
  </p:showPr>
  <p:clrMru>
    <a:srgbClr val="000000"/>
    <a:srgbClr val="FF0000"/>
    <a:srgbClr val="0060B0"/>
    <a:srgbClr val="FD8C03"/>
    <a:srgbClr val="FFC000"/>
    <a:srgbClr val="EDF1F9"/>
    <a:srgbClr val="B8B8B7"/>
    <a:srgbClr val="C00000"/>
    <a:srgbClr val="44546A"/>
    <a:srgbClr val="FFEC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E67A9E-F502-4F4C-ABDD-A5895BD12BF7}" v="23" dt="2026-10-15T13:28:33.025"/>
    <p1510:client id="{C414BEAF-31FA-47A1-95AF-4BC08DB81CED}" v="1130" dt="2026-10-15T15:40:47.72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262" autoAdjust="0"/>
    <p:restoredTop sz="79012" autoAdjust="0"/>
  </p:normalViewPr>
  <p:slideViewPr>
    <p:cSldViewPr snapToGrid="0">
      <p:cViewPr>
        <p:scale>
          <a:sx n="100" d="100"/>
          <a:sy n="100" d="100"/>
        </p:scale>
        <p:origin x="1362" y="318"/>
      </p:cViewPr>
      <p:guideLst>
        <p:guide orient="horz" pos="2160"/>
        <p:guide pos="312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p:scale>
          <a:sx n="130" d="100"/>
          <a:sy n="130" d="100"/>
        </p:scale>
        <p:origin x="1008" y="-3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2947512" cy="498236"/>
          </a:xfrm>
          <a:prstGeom prst="rect">
            <a:avLst/>
          </a:prstGeom>
        </p:spPr>
        <p:txBody>
          <a:bodyPr vert="horz" lIns="91385" tIns="45693" rIns="91385" bIns="45693"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3341" y="1"/>
            <a:ext cx="2947512" cy="498236"/>
          </a:xfrm>
          <a:prstGeom prst="rect">
            <a:avLst/>
          </a:prstGeom>
        </p:spPr>
        <p:txBody>
          <a:bodyPr vert="horz" lIns="91385" tIns="45693" rIns="91385" bIns="45693" rtlCol="0"/>
          <a:lstStyle>
            <a:lvl1pPr algn="r">
              <a:defRPr sz="1200"/>
            </a:lvl1pPr>
          </a:lstStyle>
          <a:p>
            <a:fld id="{9419EFD4-15CD-40C2-A220-512208384092}" type="datetimeFigureOut">
              <a:rPr kumimoji="1" lang="ja-JP" altLang="en-US" smtClean="0"/>
              <a:t>2026/10/15</a:t>
            </a:fld>
            <a:endParaRPr kumimoji="1" lang="ja-JP" altLang="en-US"/>
          </a:p>
        </p:txBody>
      </p:sp>
      <p:sp>
        <p:nvSpPr>
          <p:cNvPr id="4" name="フッター プレースホルダー 3"/>
          <p:cNvSpPr>
            <a:spLocks noGrp="1"/>
          </p:cNvSpPr>
          <p:nvPr>
            <p:ph type="ftr" sz="quarter" idx="2"/>
          </p:nvPr>
        </p:nvSpPr>
        <p:spPr>
          <a:xfrm>
            <a:off x="0" y="9436339"/>
            <a:ext cx="2947512" cy="498236"/>
          </a:xfrm>
          <a:prstGeom prst="rect">
            <a:avLst/>
          </a:prstGeom>
        </p:spPr>
        <p:txBody>
          <a:bodyPr vert="horz" lIns="91385" tIns="45693" rIns="91385" bIns="45693"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3341" y="9436339"/>
            <a:ext cx="2947512" cy="498236"/>
          </a:xfrm>
          <a:prstGeom prst="rect">
            <a:avLst/>
          </a:prstGeom>
        </p:spPr>
        <p:txBody>
          <a:bodyPr vert="horz" lIns="91385" tIns="45693" rIns="91385" bIns="45693" rtlCol="0" anchor="b"/>
          <a:lstStyle>
            <a:lvl1pPr algn="r">
              <a:defRPr sz="1200"/>
            </a:lvl1pPr>
          </a:lstStyle>
          <a:p>
            <a:fld id="{1BDF2BAB-0D9F-4A26-8F59-A1B8FF7EB0E3}" type="slidenum">
              <a:rPr kumimoji="1" lang="ja-JP" altLang="en-US" smtClean="0"/>
              <a:t>‹#›</a:t>
            </a:fld>
            <a:endParaRPr kumimoji="1" lang="ja-JP" altLang="en-US"/>
          </a:p>
        </p:txBody>
      </p:sp>
    </p:spTree>
    <p:extLst>
      <p:ext uri="{BB962C8B-B14F-4D97-AF65-F5344CB8AC3E}">
        <p14:creationId xmlns:p14="http://schemas.microsoft.com/office/powerpoint/2010/main" val="25747013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47722" cy="498454"/>
          </a:xfrm>
          <a:prstGeom prst="rect">
            <a:avLst/>
          </a:prstGeom>
        </p:spPr>
        <p:txBody>
          <a:bodyPr vert="horz" lIns="91495" tIns="45748" rIns="91495" bIns="45748"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3142" y="2"/>
            <a:ext cx="2947722" cy="498454"/>
          </a:xfrm>
          <a:prstGeom prst="rect">
            <a:avLst/>
          </a:prstGeom>
        </p:spPr>
        <p:txBody>
          <a:bodyPr vert="horz" lIns="91495" tIns="45748" rIns="91495" bIns="45748" rtlCol="0"/>
          <a:lstStyle>
            <a:lvl1pPr algn="r">
              <a:defRPr sz="1200"/>
            </a:lvl1pPr>
          </a:lstStyle>
          <a:p>
            <a:fld id="{A811CA1F-CBC6-4416-AD50-3C64E4A227D9}" type="datetimeFigureOut">
              <a:rPr kumimoji="1" lang="ja-JP" altLang="en-US" smtClean="0"/>
              <a:pPr/>
              <a:t>2026/10/15</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0288" cy="3351212"/>
          </a:xfrm>
          <a:prstGeom prst="rect">
            <a:avLst/>
          </a:prstGeom>
          <a:noFill/>
          <a:ln w="12700">
            <a:solidFill>
              <a:prstClr val="black"/>
            </a:solidFill>
          </a:ln>
        </p:spPr>
        <p:txBody>
          <a:bodyPr vert="horz" lIns="91495" tIns="45748" rIns="91495" bIns="45748" rtlCol="0" anchor="ctr"/>
          <a:lstStyle/>
          <a:p>
            <a:endParaRPr lang="ja-JP" altLang="en-US"/>
          </a:p>
        </p:txBody>
      </p:sp>
      <p:sp>
        <p:nvSpPr>
          <p:cNvPr id="5" name="ノート プレースホルダー 4"/>
          <p:cNvSpPr>
            <a:spLocks noGrp="1"/>
          </p:cNvSpPr>
          <p:nvPr>
            <p:ph type="body" sz="quarter" idx="3"/>
          </p:nvPr>
        </p:nvSpPr>
        <p:spPr>
          <a:xfrm>
            <a:off x="680244" y="4781014"/>
            <a:ext cx="5441950" cy="3911740"/>
          </a:xfrm>
          <a:prstGeom prst="rect">
            <a:avLst/>
          </a:prstGeom>
        </p:spPr>
        <p:txBody>
          <a:bodyPr vert="horz" lIns="91495" tIns="45748" rIns="91495" bIns="4574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36123"/>
            <a:ext cx="2947722" cy="498453"/>
          </a:xfrm>
          <a:prstGeom prst="rect">
            <a:avLst/>
          </a:prstGeom>
        </p:spPr>
        <p:txBody>
          <a:bodyPr vert="horz" lIns="91495" tIns="45748" rIns="91495" bIns="45748"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3142" y="9436123"/>
            <a:ext cx="2947722" cy="498453"/>
          </a:xfrm>
          <a:prstGeom prst="rect">
            <a:avLst/>
          </a:prstGeom>
        </p:spPr>
        <p:txBody>
          <a:bodyPr vert="horz" lIns="91495" tIns="45748" rIns="91495" bIns="45748" rtlCol="0" anchor="b"/>
          <a:lstStyle>
            <a:lvl1pPr algn="r">
              <a:defRPr sz="1200"/>
            </a:lvl1pPr>
          </a:lstStyle>
          <a:p>
            <a:fld id="{A55FD839-83AC-48BA-85B3-C4064274654D}" type="slidenum">
              <a:rPr kumimoji="1" lang="ja-JP" altLang="en-US" smtClean="0"/>
              <a:pPr/>
              <a:t>‹#›</a:t>
            </a:fld>
            <a:endParaRPr kumimoji="1" lang="ja-JP" altLang="en-US"/>
          </a:p>
        </p:txBody>
      </p:sp>
    </p:spTree>
    <p:extLst>
      <p:ext uri="{BB962C8B-B14F-4D97-AF65-F5344CB8AC3E}">
        <p14:creationId xmlns:p14="http://schemas.microsoft.com/office/powerpoint/2010/main" val="78717046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4" name="スライド番号プレースホルダー 3"/>
          <p:cNvSpPr>
            <a:spLocks noGrp="1"/>
          </p:cNvSpPr>
          <p:nvPr>
            <p:ph type="sldNum" sz="quarter" idx="10"/>
          </p:nvPr>
        </p:nvSpPr>
        <p:spPr/>
        <p:txBody>
          <a:bodyPr/>
          <a:lstStyle/>
          <a:p>
            <a:fld id="{A55FD839-83AC-48BA-85B3-C4064274654D}" type="slidenum">
              <a:rPr kumimoji="1" lang="ja-JP" altLang="en-US" smtClean="0"/>
              <a:pPr/>
              <a:t>1</a:t>
            </a:fld>
            <a:endParaRPr kumimoji="1" lang="ja-JP" altLang="en-US"/>
          </a:p>
        </p:txBody>
      </p:sp>
      <p:sp>
        <p:nvSpPr>
          <p:cNvPr id="6" name="ノート プレースホルダー 5">
            <a:extLst>
              <a:ext uri="{FF2B5EF4-FFF2-40B4-BE49-F238E27FC236}">
                <a16:creationId xmlns:a16="http://schemas.microsoft.com/office/drawing/2014/main" id="{18346E95-FA0D-C182-00D1-754EEC9ED368}"/>
              </a:ext>
            </a:extLst>
          </p:cNvPr>
          <p:cNvSpPr>
            <a:spLocks noGrp="1"/>
          </p:cNvSpPr>
          <p:nvPr>
            <p:ph type="body" sz="quarter" idx="3"/>
          </p:nvPr>
        </p:nvSpPr>
        <p:spPr/>
        <p:txBody>
          <a:bodyPr/>
          <a:lstStyle/>
          <a:p>
            <a:endParaRPr lang="ja-JP" altLang="en-US"/>
          </a:p>
        </p:txBody>
      </p:sp>
    </p:spTree>
    <p:extLst>
      <p:ext uri="{BB962C8B-B14F-4D97-AF65-F5344CB8AC3E}">
        <p14:creationId xmlns:p14="http://schemas.microsoft.com/office/powerpoint/2010/main" val="978555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9276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7" name="正方形/長方形 6"/>
          <p:cNvSpPr/>
          <p:nvPr userDrawn="1"/>
        </p:nvSpPr>
        <p:spPr>
          <a:xfrm>
            <a:off x="0" y="5895522"/>
            <a:ext cx="9906000" cy="962478"/>
          </a:xfrm>
          <a:prstGeom prst="rect">
            <a:avLst/>
          </a:prstGeom>
          <a:solidFill>
            <a:srgbClr val="F4E9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2" name="グラフィックス 1">
            <a:extLst>
              <a:ext uri="{FF2B5EF4-FFF2-40B4-BE49-F238E27FC236}">
                <a16:creationId xmlns:a16="http://schemas.microsoft.com/office/drawing/2014/main" id="{CEB28145-B0F9-46A8-B306-DD7E0427E5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855675" y="6125012"/>
            <a:ext cx="756594" cy="511961"/>
          </a:xfrm>
          <a:prstGeom prst="rect">
            <a:avLst/>
          </a:prstGeom>
        </p:spPr>
      </p:pic>
      <p:pic>
        <p:nvPicPr>
          <p:cNvPr id="3" name="グラフィックス 2">
            <a:extLst>
              <a:ext uri="{FF2B5EF4-FFF2-40B4-BE49-F238E27FC236}">
                <a16:creationId xmlns:a16="http://schemas.microsoft.com/office/drawing/2014/main" id="{E6A7191F-06AB-4D45-A011-B8383C6D3A4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2986" y="6068628"/>
            <a:ext cx="1279826" cy="621684"/>
          </a:xfrm>
          <a:prstGeom prst="rect">
            <a:avLst/>
          </a:prstGeom>
        </p:spPr>
      </p:pic>
      <p:pic>
        <p:nvPicPr>
          <p:cNvPr id="4" name="グラフィックス 3">
            <a:extLst>
              <a:ext uri="{FF2B5EF4-FFF2-40B4-BE49-F238E27FC236}">
                <a16:creationId xmlns:a16="http://schemas.microsoft.com/office/drawing/2014/main" id="{C96F71EE-2ABE-46CD-90C3-D0AECAFBC47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023033" y="6286600"/>
            <a:ext cx="2814630" cy="185737"/>
          </a:xfrm>
          <a:prstGeom prst="rect">
            <a:avLst/>
          </a:prstGeom>
        </p:spPr>
      </p:pic>
    </p:spTree>
    <p:extLst>
      <p:ext uri="{BB962C8B-B14F-4D97-AF65-F5344CB8AC3E}">
        <p14:creationId xmlns:p14="http://schemas.microsoft.com/office/powerpoint/2010/main" val="3571859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10" name="正方形/長方形 9"/>
          <p:cNvSpPr/>
          <p:nvPr/>
        </p:nvSpPr>
        <p:spPr>
          <a:xfrm>
            <a:off x="0" y="6506095"/>
            <a:ext cx="9906000" cy="354676"/>
          </a:xfrm>
          <a:prstGeom prst="rect">
            <a:avLst/>
          </a:prstGeom>
          <a:solidFill>
            <a:srgbClr val="F4E9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p:cNvSpPr txBox="1"/>
          <p:nvPr userDrawn="1"/>
        </p:nvSpPr>
        <p:spPr>
          <a:xfrm>
            <a:off x="9054353" y="6584909"/>
            <a:ext cx="794870" cy="215444"/>
          </a:xfrm>
          <a:prstGeom prst="rect">
            <a:avLst/>
          </a:prstGeom>
          <a:noFill/>
        </p:spPr>
        <p:txBody>
          <a:bodyPr wrap="square" rtlCol="0">
            <a:spAutoFit/>
          </a:bodyPr>
          <a:lstStyle/>
          <a:p>
            <a:pPr algn="r"/>
            <a:fld id="{153430F6-F9B1-43E8-B704-148CEDF9D3A1}" type="slidenum">
              <a:rPr kumimoji="1" lang="en-US" altLang="ja-JP" sz="800" smtClean="0"/>
              <a:pPr algn="r"/>
              <a:t>‹#›</a:t>
            </a:fld>
            <a:endParaRPr kumimoji="1" lang="ja-JP" altLang="en-US" sz="800" dirty="0"/>
          </a:p>
        </p:txBody>
      </p:sp>
      <p:pic>
        <p:nvPicPr>
          <p:cNvPr id="12" name="図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6226" y="6577333"/>
            <a:ext cx="439084" cy="214436"/>
          </a:xfrm>
          <a:prstGeom prst="rect">
            <a:avLst/>
          </a:prstGeom>
        </p:spPr>
      </p:pic>
      <p:pic>
        <p:nvPicPr>
          <p:cNvPr id="3" name="グラフィックス 2">
            <a:extLst>
              <a:ext uri="{FF2B5EF4-FFF2-40B4-BE49-F238E27FC236}">
                <a16:creationId xmlns:a16="http://schemas.microsoft.com/office/drawing/2014/main" id="{23638BC1-37FC-4F36-927F-B64D05FD2C0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51536" y="6647029"/>
            <a:ext cx="794870" cy="79487"/>
          </a:xfrm>
          <a:prstGeom prst="rect">
            <a:avLst/>
          </a:prstGeom>
        </p:spPr>
      </p:pic>
      <p:sp>
        <p:nvSpPr>
          <p:cNvPr id="2" name="正方形/長方形 1">
            <a:extLst>
              <a:ext uri="{FF2B5EF4-FFF2-40B4-BE49-F238E27FC236}">
                <a16:creationId xmlns:a16="http://schemas.microsoft.com/office/drawing/2014/main" id="{F056FD3A-ED20-BF94-0FB1-66B26C4481E0}"/>
              </a:ext>
            </a:extLst>
          </p:cNvPr>
          <p:cNvSpPr/>
          <p:nvPr userDrawn="1"/>
        </p:nvSpPr>
        <p:spPr>
          <a:xfrm>
            <a:off x="0" y="0"/>
            <a:ext cx="9906000" cy="312420"/>
          </a:xfrm>
          <a:prstGeom prst="rect">
            <a:avLst/>
          </a:prstGeom>
          <a:solidFill>
            <a:srgbClr val="F4E94A"/>
          </a:solidFill>
          <a:ln>
            <a:solidFill>
              <a:srgbClr val="F4E9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321480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0" name="正方形/長方形 9"/>
          <p:cNvSpPr/>
          <p:nvPr/>
        </p:nvSpPr>
        <p:spPr>
          <a:xfrm>
            <a:off x="0" y="6506095"/>
            <a:ext cx="9906000" cy="354676"/>
          </a:xfrm>
          <a:prstGeom prst="rect">
            <a:avLst/>
          </a:prstGeom>
          <a:solidFill>
            <a:srgbClr val="F4E9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6226" y="6577333"/>
            <a:ext cx="439084" cy="214436"/>
          </a:xfrm>
          <a:prstGeom prst="rect">
            <a:avLst/>
          </a:prstGeom>
        </p:spPr>
      </p:pic>
      <p:pic>
        <p:nvPicPr>
          <p:cNvPr id="3" name="グラフィックス 2">
            <a:extLst>
              <a:ext uri="{FF2B5EF4-FFF2-40B4-BE49-F238E27FC236}">
                <a16:creationId xmlns:a16="http://schemas.microsoft.com/office/drawing/2014/main" id="{23638BC1-37FC-4F36-927F-B64D05FD2C0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51536" y="6647029"/>
            <a:ext cx="794870" cy="79487"/>
          </a:xfrm>
          <a:prstGeom prst="rect">
            <a:avLst/>
          </a:prstGeom>
        </p:spPr>
      </p:pic>
    </p:spTree>
    <p:extLst>
      <p:ext uri="{BB962C8B-B14F-4D97-AF65-F5344CB8AC3E}">
        <p14:creationId xmlns:p14="http://schemas.microsoft.com/office/powerpoint/2010/main" val="311499243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8A47E6C-0212-4372-B82D-7ABB435F7E95}" type="datetime1">
              <a:rPr kumimoji="1" lang="ja-JP" altLang="en-US" smtClean="0"/>
              <a:pPr/>
              <a:t>2026/10/15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381050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D40E438-6206-45D4-9E7D-73689BD1EE2E}" type="datetime1">
              <a:rPr kumimoji="1" lang="ja-JP" altLang="en-US" smtClean="0"/>
              <a:pPr/>
              <a:t>2026/10/15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23757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4260295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2BDDE3-EBF6-4FA2-AC54-0EE1201806F3}" type="datetime1">
              <a:rPr kumimoji="1" lang="ja-JP" altLang="en-US" smtClean="0"/>
              <a:pPr/>
              <a:t>2026/10/15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3006662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7907B9C-3321-43D5-A6AB-834DC3297F2B}" type="datetime1">
              <a:rPr kumimoji="1" lang="ja-JP" altLang="en-US" smtClean="0"/>
              <a:pPr/>
              <a:t>2026/10/15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6580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38A80E6-8F9F-4F6D-B5CB-F870B1E21ECA}" type="datetime1">
              <a:rPr kumimoji="1" lang="ja-JP" altLang="en-US" smtClean="0"/>
              <a:pPr/>
              <a:t>2026/10/15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1298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D830B0-6D79-4FD5-A4C0-EF1475B25D88}" type="datetime1">
              <a:rPr kumimoji="1" lang="ja-JP" altLang="en-US" smtClean="0"/>
              <a:pPr/>
              <a:t>2026/10/15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2815448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979E9CC-AD96-4AD0-84B2-246C4B8E0998}" type="datetime1">
              <a:rPr kumimoji="1" lang="ja-JP" altLang="en-US" smtClean="0"/>
              <a:pPr/>
              <a:t>2026/10/15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3414221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709FE6-9F7F-4475-A799-F09E5B44CDB3}" type="datetime1">
              <a:rPr kumimoji="1" lang="ja-JP" altLang="en-US" smtClean="0"/>
              <a:pPr/>
              <a:t>2026/10/15</a:t>
            </a:fld>
            <a:endParaRPr kumimoji="1" lang="ja-JP"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E4E361-8713-40B6-A100-2AF178479724}" type="slidenum">
              <a:rPr kumimoji="1" lang="ja-JP" altLang="en-US" smtClean="0"/>
              <a:pPr/>
              <a:t>‹#›</a:t>
            </a:fld>
            <a:endParaRPr kumimoji="1" lang="ja-JP" altLang="en-US"/>
          </a:p>
        </p:txBody>
      </p:sp>
    </p:spTree>
    <p:extLst>
      <p:ext uri="{BB962C8B-B14F-4D97-AF65-F5344CB8AC3E}">
        <p14:creationId xmlns:p14="http://schemas.microsoft.com/office/powerpoint/2010/main" val="2466269765"/>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2" r:id="rId3"/>
    <p:sldLayoutId id="2147483672"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528917" y="997714"/>
            <a:ext cx="8848164" cy="2308324"/>
          </a:xfrm>
          <a:prstGeom prst="rect">
            <a:avLst/>
          </a:prstGeom>
          <a:noFill/>
        </p:spPr>
        <p:txBody>
          <a:bodyPr wrap="square" lIns="91440" tIns="45720" rIns="91440" bIns="45720" rtlCol="0" anchor="t">
            <a:spAutoFit/>
          </a:bodyPr>
          <a:lstStyle/>
          <a:p>
            <a:pPr algn="ctr">
              <a:lnSpc>
                <a:spcPct val="150000"/>
              </a:lnSpc>
            </a:pPr>
            <a:endParaRPr kumimoji="1" lang="en-US" altLang="ja-JP" sz="3200" dirty="0">
              <a:latin typeface="メイリオ" panose="020B0604030504040204" pitchFamily="50" charset="-128"/>
              <a:ea typeface="メイリオ" panose="020B0604030504040204" pitchFamily="50" charset="-128"/>
            </a:endParaRPr>
          </a:p>
          <a:p>
            <a:pPr algn="ctr">
              <a:lnSpc>
                <a:spcPct val="100000"/>
              </a:lnSpc>
            </a:pPr>
            <a:r>
              <a:rPr lang="ja-JP" altLang="en-US" sz="3200" dirty="0"/>
              <a:t>蟹</a:t>
            </a:r>
            <a:r>
              <a:rPr lang="ja-JP" altLang="ja-JP" sz="3200" dirty="0"/>
              <a:t>工船様 </a:t>
            </a:r>
            <a:endParaRPr lang="en-US" altLang="ja-JP" sz="3200" dirty="0"/>
          </a:p>
          <a:p>
            <a:pPr algn="ctr"/>
            <a:r>
              <a:rPr lang="ja-JP" altLang="ja-JP" sz="3200"/>
              <a:t>LINE公式アカウント</a:t>
            </a:r>
            <a:endParaRPr lang="en-US" altLang="ja-JP" sz="3200">
              <a:latin typeface="メイリオ" panose="020B0604030504040204" pitchFamily="50" charset="-128"/>
              <a:ea typeface="メイリオ" panose="020B0604030504040204" pitchFamily="50" charset="-128"/>
            </a:endParaRPr>
          </a:p>
          <a:p>
            <a:pPr algn="ctr">
              <a:lnSpc>
                <a:spcPct val="100000"/>
              </a:lnSpc>
            </a:pPr>
            <a:r>
              <a:rPr lang="ja-JP" altLang="ja-JP" sz="3200"/>
              <a:t>運用・特典のご提案</a:t>
            </a:r>
            <a:endParaRPr lang="en-US" altLang="ja-JP" sz="3200">
              <a:latin typeface="メイリオ" panose="020B0604030504040204" pitchFamily="50" charset="-128"/>
              <a:ea typeface="メイリオ" panose="020B0604030504040204" pitchFamily="50" charset="-128"/>
            </a:endParaRPr>
          </a:p>
        </p:txBody>
      </p:sp>
      <p:sp>
        <p:nvSpPr>
          <p:cNvPr id="4" name="テキスト ボックス 3"/>
          <p:cNvSpPr txBox="1"/>
          <p:nvPr/>
        </p:nvSpPr>
        <p:spPr>
          <a:xfrm>
            <a:off x="4023351" y="5176887"/>
            <a:ext cx="1859297" cy="276999"/>
          </a:xfrm>
          <a:prstGeom prst="rect">
            <a:avLst/>
          </a:prstGeom>
          <a:noFill/>
        </p:spPr>
        <p:txBody>
          <a:bodyPr wrap="square" lIns="91440" tIns="45720" rIns="91440" bIns="45720" rtlCol="0" anchor="t">
            <a:spAutoFit/>
          </a:bodyPr>
          <a:lstStyle/>
          <a:p>
            <a:pPr algn="ctr"/>
            <a:r>
              <a:rPr kumimoji="1" lang="en-US" altLang="ja-JP" sz="1200">
                <a:latin typeface="メイリオ"/>
                <a:ea typeface="メイリオ"/>
              </a:rPr>
              <a:t>2026</a:t>
            </a:r>
            <a:r>
              <a:rPr kumimoji="1" lang="ja-JP" altLang="en-US" sz="1200">
                <a:latin typeface="メイリオ"/>
                <a:ea typeface="メイリオ"/>
              </a:rPr>
              <a:t>年</a:t>
            </a:r>
            <a:r>
              <a:rPr kumimoji="1" lang="en-US" altLang="ja-JP" sz="1200">
                <a:latin typeface="メイリオ"/>
                <a:ea typeface="メイリオ"/>
              </a:rPr>
              <a:t>10</a:t>
            </a:r>
            <a:r>
              <a:rPr kumimoji="1" lang="ja-JP" altLang="en-US" sz="1200">
                <a:latin typeface="メイリオ"/>
                <a:ea typeface="メイリオ"/>
              </a:rPr>
              <a:t>月</a:t>
            </a:r>
            <a:r>
              <a:rPr kumimoji="1" lang="en-US" altLang="ja-JP" sz="1200">
                <a:latin typeface="メイリオ"/>
                <a:ea typeface="メイリオ"/>
              </a:rPr>
              <a:t>16</a:t>
            </a:r>
            <a:r>
              <a:rPr kumimoji="1" lang="ja-JP" altLang="en-US" sz="1200">
                <a:latin typeface="メイリオ"/>
                <a:ea typeface="メイリオ"/>
              </a:rPr>
              <a:t>日</a:t>
            </a:r>
            <a:endParaRPr lang="en-US" altLang="ja-JP" sz="1200" dirty="0">
              <a:latin typeface="メイリオ"/>
              <a:ea typeface="メイリオ"/>
            </a:endParaRPr>
          </a:p>
        </p:txBody>
      </p:sp>
    </p:spTree>
    <p:extLst>
      <p:ext uri="{BB962C8B-B14F-4D97-AF65-F5344CB8AC3E}">
        <p14:creationId xmlns:p14="http://schemas.microsoft.com/office/powerpoint/2010/main" val="1252073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C7A2F28-4005-593B-03BB-74DC98A1A5EB}"/>
              </a:ext>
            </a:extLst>
          </p:cNvPr>
          <p:cNvSpPr txBox="1"/>
          <p:nvPr/>
        </p:nvSpPr>
        <p:spPr>
          <a:xfrm>
            <a:off x="227573" y="44659"/>
            <a:ext cx="4559261" cy="307777"/>
          </a:xfrm>
          <a:prstGeom prst="rect">
            <a:avLst/>
          </a:prstGeom>
          <a:noFill/>
        </p:spPr>
        <p:txBody>
          <a:bodyPr wrap="none" rtlCol="0">
            <a:spAutoFit/>
          </a:bodyPr>
          <a:lstStyle/>
          <a:p>
            <a:r>
              <a:rPr kumimoji="1" lang="en-US" altLang="ja-JP" sz="1400" b="1" dirty="0"/>
              <a:t>1. </a:t>
            </a:r>
            <a:r>
              <a:rPr lang="ja-JP" altLang="en-US" sz="1400" b="1" dirty="0"/>
              <a:t>既存</a:t>
            </a:r>
            <a:r>
              <a:rPr lang="en-US" altLang="ja-JP" sz="1400" b="1" dirty="0"/>
              <a:t>SNS</a:t>
            </a:r>
            <a:r>
              <a:rPr lang="ja-JP" altLang="en-US" sz="1400" b="1" dirty="0"/>
              <a:t>・他媒体との差別化と、特典内容のご提案</a:t>
            </a:r>
          </a:p>
        </p:txBody>
      </p:sp>
      <p:sp>
        <p:nvSpPr>
          <p:cNvPr id="111" name="テキスト ボックス 110">
            <a:extLst>
              <a:ext uri="{FF2B5EF4-FFF2-40B4-BE49-F238E27FC236}">
                <a16:creationId xmlns:a16="http://schemas.microsoft.com/office/drawing/2014/main" id="{3AAF62DF-639E-D74B-2597-7BC518891F24}"/>
              </a:ext>
            </a:extLst>
          </p:cNvPr>
          <p:cNvSpPr txBox="1"/>
          <p:nvPr/>
        </p:nvSpPr>
        <p:spPr>
          <a:xfrm>
            <a:off x="227573" y="474392"/>
            <a:ext cx="9284302" cy="966418"/>
          </a:xfrm>
          <a:prstGeom prst="rect">
            <a:avLst/>
          </a:prstGeom>
          <a:noFill/>
        </p:spPr>
        <p:txBody>
          <a:bodyPr wrap="square" lIns="91440" tIns="45720" rIns="91440" bIns="45720" anchor="t">
            <a:spAutoFit/>
          </a:bodyPr>
          <a:lstStyle/>
          <a:p>
            <a:pPr>
              <a:lnSpc>
                <a:spcPct val="120000"/>
              </a:lnSpc>
              <a:defRPr sz="1300" b="0">
                <a:solidFill>
                  <a:srgbClr val="2B2B2B"/>
                </a:solidFill>
                <a:latin typeface="Meiryo"/>
              </a:defRPr>
            </a:pPr>
            <a:r>
              <a:rPr lang="ja-JP" altLang="en-US" sz="1600" b="0" i="0" u="none" strike="noStrike" baseline="0" dirty="0">
                <a:solidFill>
                  <a:srgbClr val="000000"/>
                </a:solidFill>
                <a:latin typeface="メイリオ"/>
                <a:ea typeface="メイリオ"/>
              </a:rPr>
              <a:t>■</a:t>
            </a:r>
            <a:r>
              <a:rPr lang="ja-JP" altLang="en-US" sz="1600" dirty="0"/>
              <a:t>基本コンセプト：既存の</a:t>
            </a:r>
            <a:r>
              <a:rPr lang="en-US" altLang="ja-JP" sz="1600" dirty="0"/>
              <a:t>SNS</a:t>
            </a:r>
            <a:r>
              <a:rPr lang="ja-JP" altLang="en-US" sz="1600" dirty="0"/>
              <a:t>特典（ </a:t>
            </a:r>
            <a:r>
              <a:rPr lang="en-US" altLang="ja-JP" sz="1600" dirty="0"/>
              <a:t>https://www.sapporokanikosen.com/freegift </a:t>
            </a:r>
            <a:r>
              <a:rPr lang="ja-JP" altLang="en-US" sz="1600"/>
              <a:t>）の「食後のデザート系」とは別の特典として、</a:t>
            </a:r>
            <a:r>
              <a:rPr lang="en-US" altLang="ja-JP" sz="1600" b="1"/>
              <a:t>LINE</a:t>
            </a:r>
            <a:r>
              <a:rPr lang="ja-JP" altLang="en-US" sz="1600" b="1"/>
              <a:t>では「海鮮丼を食べる方」や「お土産を買う方」に喜んでいただける</a:t>
            </a:r>
            <a:r>
              <a:rPr lang="ja-JP" altLang="en-US" sz="1600"/>
              <a:t>内容を考えました。</a:t>
            </a:r>
            <a:endParaRPr lang="ja-JP" altLang="en-US" sz="1600" dirty="0"/>
          </a:p>
        </p:txBody>
      </p:sp>
      <p:sp>
        <p:nvSpPr>
          <p:cNvPr id="115" name="Rounded Rectangle 10">
            <a:extLst>
              <a:ext uri="{FF2B5EF4-FFF2-40B4-BE49-F238E27FC236}">
                <a16:creationId xmlns:a16="http://schemas.microsoft.com/office/drawing/2014/main" id="{F041B8DC-9F08-63A4-85FB-02BBF6604CFB}"/>
              </a:ext>
            </a:extLst>
          </p:cNvPr>
          <p:cNvSpPr/>
          <p:nvPr/>
        </p:nvSpPr>
        <p:spPr>
          <a:xfrm>
            <a:off x="227572" y="1620358"/>
            <a:ext cx="4495800" cy="4608576"/>
          </a:xfrm>
          <a:prstGeom prst="rect">
            <a:avLst/>
          </a:prstGeom>
          <a:solidFill>
            <a:srgbClr val="FFFFFF"/>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ounded Rectangle 10">
            <a:extLst>
              <a:ext uri="{FF2B5EF4-FFF2-40B4-BE49-F238E27FC236}">
                <a16:creationId xmlns:a16="http://schemas.microsoft.com/office/drawing/2014/main" id="{E28D3BD8-9B8A-77AF-0EDC-73E0C4FF0D4C}"/>
              </a:ext>
            </a:extLst>
          </p:cNvPr>
          <p:cNvSpPr/>
          <p:nvPr/>
        </p:nvSpPr>
        <p:spPr>
          <a:xfrm>
            <a:off x="5182627" y="1620358"/>
            <a:ext cx="4495800" cy="4608576"/>
          </a:xfrm>
          <a:prstGeom prst="rect">
            <a:avLst/>
          </a:prstGeom>
          <a:solidFill>
            <a:srgbClr val="FFFFFF"/>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1">
            <a:extLst>
              <a:ext uri="{FF2B5EF4-FFF2-40B4-BE49-F238E27FC236}">
                <a16:creationId xmlns:a16="http://schemas.microsoft.com/office/drawing/2014/main" id="{0D25FF01-7369-3DB5-E959-8292127813B9}"/>
              </a:ext>
            </a:extLst>
          </p:cNvPr>
          <p:cNvSpPr/>
          <p:nvPr/>
        </p:nvSpPr>
        <p:spPr>
          <a:xfrm>
            <a:off x="227573" y="1620358"/>
            <a:ext cx="4495800" cy="71975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25000"/>
              </a:lnSpc>
              <a:defRPr sz="1400" b="1">
                <a:solidFill>
                  <a:srgbClr val="FFFFFF"/>
                </a:solidFill>
                <a:latin typeface="Meiryo"/>
              </a:defRPr>
            </a:pPr>
            <a:r>
              <a:rPr lang="ja-JP" altLang="en-US" dirty="0"/>
              <a:t>特典①：友だち追加特典</a:t>
            </a:r>
            <a:endParaRPr lang="en-US" altLang="ja-JP" dirty="0"/>
          </a:p>
          <a:p>
            <a:pPr>
              <a:lnSpc>
                <a:spcPct val="125000"/>
              </a:lnSpc>
              <a:defRPr sz="1400" b="1">
                <a:solidFill>
                  <a:srgbClr val="FFFFFF"/>
                </a:solidFill>
                <a:latin typeface="Meiryo"/>
              </a:defRPr>
            </a:pPr>
            <a:r>
              <a:rPr lang="ja-JP" altLang="en-US" dirty="0"/>
              <a:t>　　　（とりあえず登録してもらうきっかけ用）</a:t>
            </a:r>
          </a:p>
        </p:txBody>
      </p:sp>
      <p:sp>
        <p:nvSpPr>
          <p:cNvPr id="129" name="Rectangle 11">
            <a:extLst>
              <a:ext uri="{FF2B5EF4-FFF2-40B4-BE49-F238E27FC236}">
                <a16:creationId xmlns:a16="http://schemas.microsoft.com/office/drawing/2014/main" id="{5AC800A9-DA82-5B23-F9F9-7ED6EDCEF5EF}"/>
              </a:ext>
            </a:extLst>
          </p:cNvPr>
          <p:cNvSpPr/>
          <p:nvPr/>
        </p:nvSpPr>
        <p:spPr>
          <a:xfrm>
            <a:off x="5182627" y="1620358"/>
            <a:ext cx="4495800" cy="71975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25000"/>
              </a:lnSpc>
              <a:defRPr sz="1400" b="1">
                <a:solidFill>
                  <a:srgbClr val="FFFFFF"/>
                </a:solidFill>
                <a:latin typeface="Meiryo"/>
              </a:defRPr>
            </a:pPr>
            <a:r>
              <a:rPr lang="ja-JP" altLang="en-US" dirty="0"/>
              <a:t>特典②：</a:t>
            </a:r>
            <a:r>
              <a:rPr lang="en-US" altLang="ja-JP" dirty="0"/>
              <a:t>LINE</a:t>
            </a:r>
            <a:r>
              <a:rPr lang="ja-JP" altLang="en-US" dirty="0"/>
              <a:t>ショップカード</a:t>
            </a:r>
            <a:endParaRPr lang="en-US" altLang="ja-JP" dirty="0"/>
          </a:p>
          <a:p>
            <a:pPr>
              <a:lnSpc>
                <a:spcPct val="100000"/>
              </a:lnSpc>
              <a:defRPr sz="1400" b="1">
                <a:solidFill>
                  <a:srgbClr val="FFFFFF"/>
                </a:solidFill>
                <a:latin typeface="Meiryo"/>
              </a:defRPr>
            </a:pPr>
            <a:r>
              <a:rPr lang="ja-JP" altLang="en-US" dirty="0"/>
              <a:t>　　　</a:t>
            </a:r>
            <a:r>
              <a:rPr lang="ja-JP" altLang="ja-JP" sz="1400" b="1" dirty="0">
                <a:solidFill>
                  <a:srgbClr val="FFFFFF"/>
                </a:solidFill>
                <a:latin typeface="Meiryo"/>
              </a:rPr>
              <a:t>（リピートして</a:t>
            </a:r>
            <a:r>
              <a:rPr lang="ja-JP" altLang="en-US" sz="1400" b="1" dirty="0">
                <a:solidFill>
                  <a:srgbClr val="FFFFFF"/>
                </a:solidFill>
                <a:latin typeface="Meiryo"/>
              </a:rPr>
              <a:t>いただく</a:t>
            </a:r>
            <a:r>
              <a:rPr lang="ja-JP" altLang="ja-JP" sz="1400" b="1" dirty="0">
                <a:solidFill>
                  <a:srgbClr val="FFFFFF"/>
                </a:solidFill>
                <a:latin typeface="Meiryo"/>
              </a:rPr>
              <a:t>用）</a:t>
            </a:r>
            <a:endParaRPr lang="ja-JP" altLang="en-US" dirty="0"/>
          </a:p>
        </p:txBody>
      </p:sp>
      <p:sp>
        <p:nvSpPr>
          <p:cNvPr id="131" name="Rounded Rectangle 13">
            <a:extLst>
              <a:ext uri="{FF2B5EF4-FFF2-40B4-BE49-F238E27FC236}">
                <a16:creationId xmlns:a16="http://schemas.microsoft.com/office/drawing/2014/main" id="{171D8F02-47EC-A3DB-F904-DB8FA78C494C}"/>
              </a:ext>
            </a:extLst>
          </p:cNvPr>
          <p:cNvSpPr/>
          <p:nvPr/>
        </p:nvSpPr>
        <p:spPr>
          <a:xfrm>
            <a:off x="394124" y="2460424"/>
            <a:ext cx="4162697" cy="863753"/>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ja-JP" dirty="0">
              <a:solidFill>
                <a:schemeClr val="tx1"/>
              </a:solidFill>
            </a:endParaRPr>
          </a:p>
        </p:txBody>
      </p:sp>
      <p:sp>
        <p:nvSpPr>
          <p:cNvPr id="133" name="Rounded Rectangle 13">
            <a:extLst>
              <a:ext uri="{FF2B5EF4-FFF2-40B4-BE49-F238E27FC236}">
                <a16:creationId xmlns:a16="http://schemas.microsoft.com/office/drawing/2014/main" id="{E85F0A1B-8AE9-E0B0-AF89-F030FB464320}"/>
              </a:ext>
            </a:extLst>
          </p:cNvPr>
          <p:cNvSpPr/>
          <p:nvPr/>
        </p:nvSpPr>
        <p:spPr>
          <a:xfrm>
            <a:off x="5349178" y="2460424"/>
            <a:ext cx="4162697" cy="863753"/>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テキスト ボックス 133">
            <a:extLst>
              <a:ext uri="{FF2B5EF4-FFF2-40B4-BE49-F238E27FC236}">
                <a16:creationId xmlns:a16="http://schemas.microsoft.com/office/drawing/2014/main" id="{8A4F4F9D-18AC-75A1-7513-01FB2F85F24E}"/>
              </a:ext>
            </a:extLst>
          </p:cNvPr>
          <p:cNvSpPr txBox="1"/>
          <p:nvPr/>
        </p:nvSpPr>
        <p:spPr>
          <a:xfrm>
            <a:off x="676864" y="2538357"/>
            <a:ext cx="3597215" cy="707886"/>
          </a:xfrm>
          <a:prstGeom prst="rect">
            <a:avLst/>
          </a:prstGeom>
          <a:noFill/>
        </p:spPr>
        <p:txBody>
          <a:bodyPr wrap="square" rtlCol="0">
            <a:spAutoFit/>
          </a:bodyPr>
          <a:lstStyle/>
          <a:p>
            <a:r>
              <a:rPr lang="ja-JP" altLang="en-US" sz="800" dirty="0"/>
              <a:t>  友達追加で、無料でもらえる</a:t>
            </a:r>
            <a:br>
              <a:rPr lang="en-US" altLang="ja-JP" sz="800" dirty="0"/>
            </a:br>
            <a:endParaRPr lang="en-US" altLang="ja-JP" sz="800" dirty="0"/>
          </a:p>
          <a:p>
            <a:r>
              <a:rPr lang="ja-JP" altLang="en-US" sz="1200" dirty="0"/>
              <a:t>「いくらの小盛り」または</a:t>
            </a:r>
            <a:br>
              <a:rPr lang="ja-JP" altLang="en-US" sz="1200" dirty="0"/>
            </a:br>
            <a:r>
              <a:rPr lang="ja-JP" altLang="en-US" sz="1200" dirty="0"/>
              <a:t>「カニの身ちょい足し」トッピング無料サービス</a:t>
            </a:r>
          </a:p>
        </p:txBody>
      </p:sp>
      <p:sp>
        <p:nvSpPr>
          <p:cNvPr id="137" name="テキスト ボックス 136">
            <a:extLst>
              <a:ext uri="{FF2B5EF4-FFF2-40B4-BE49-F238E27FC236}">
                <a16:creationId xmlns:a16="http://schemas.microsoft.com/office/drawing/2014/main" id="{945A87BA-6D9D-91F0-E7A0-DC357EBA5E7A}"/>
              </a:ext>
            </a:extLst>
          </p:cNvPr>
          <p:cNvSpPr txBox="1"/>
          <p:nvPr/>
        </p:nvSpPr>
        <p:spPr>
          <a:xfrm>
            <a:off x="394122" y="3696446"/>
            <a:ext cx="4162697" cy="1954381"/>
          </a:xfrm>
          <a:prstGeom prst="rect">
            <a:avLst/>
          </a:prstGeom>
          <a:noFill/>
        </p:spPr>
        <p:txBody>
          <a:bodyPr wrap="square" rtlCol="0">
            <a:spAutoFit/>
          </a:bodyPr>
          <a:lstStyle/>
          <a:p>
            <a:r>
              <a:rPr lang="ja-JP" altLang="en-US" sz="1100" dirty="0"/>
              <a:t>●施策の狙いとメリット</a:t>
            </a:r>
            <a:br>
              <a:rPr lang="en-US" altLang="ja-JP" sz="1100" dirty="0"/>
            </a:br>
            <a:endParaRPr lang="ja-JP" altLang="en-US" sz="1100" dirty="0"/>
          </a:p>
          <a:p>
            <a:r>
              <a:rPr lang="ja-JP" altLang="ja-JP" sz="1100" dirty="0"/>
              <a:t>・気軽にご登録いただくための工夫：</a:t>
            </a:r>
            <a:endParaRPr lang="en-US" altLang="ja-JP" sz="1100" dirty="0"/>
          </a:p>
          <a:p>
            <a:r>
              <a:rPr lang="ja-JP" altLang="ja-JP" sz="1100" dirty="0"/>
              <a:t>次回以降のクーポンだけでなく、「今すぐ目の前のお食事</a:t>
            </a:r>
            <a:r>
              <a:rPr lang="ja-JP" altLang="en-US" sz="1100" dirty="0"/>
              <a:t>が</a:t>
            </a:r>
            <a:r>
              <a:rPr lang="ja-JP" altLang="ja-JP" sz="1100" dirty="0"/>
              <a:t>お得になる」というメリットをご提供することで、より多くのお客様にご登録いただきやすくなります。</a:t>
            </a:r>
            <a:endParaRPr lang="en-US" altLang="ja-JP" sz="1100" dirty="0"/>
          </a:p>
          <a:p>
            <a:endParaRPr kumimoji="1" lang="ja-JP" altLang="en-US" sz="1100" dirty="0"/>
          </a:p>
          <a:p>
            <a:r>
              <a:rPr kumimoji="1" lang="ja-JP" altLang="en-US" sz="1100" dirty="0"/>
              <a:t>・既存の</a:t>
            </a:r>
            <a:r>
              <a:rPr kumimoji="1" lang="en-US" altLang="ja-JP" sz="1100" dirty="0"/>
              <a:t>SNS</a:t>
            </a:r>
            <a:r>
              <a:rPr kumimoji="1" lang="ja-JP" altLang="en-US" sz="1100" dirty="0"/>
              <a:t>特典と内容が重ならない：</a:t>
            </a:r>
          </a:p>
          <a:p>
            <a:r>
              <a:rPr kumimoji="1" lang="ja-JP" altLang="en-US" sz="1100" dirty="0"/>
              <a:t>既存の</a:t>
            </a:r>
            <a:r>
              <a:rPr kumimoji="1" lang="en-US" altLang="ja-JP" sz="1100" dirty="0"/>
              <a:t>SNS</a:t>
            </a:r>
            <a:r>
              <a:rPr kumimoji="1" lang="ja-JP" altLang="en-US" sz="1100" dirty="0"/>
              <a:t>特典はデザート系なので、</a:t>
            </a:r>
            <a:r>
              <a:rPr kumimoji="1" lang="en-US" altLang="ja-JP" sz="1100" dirty="0"/>
              <a:t>LINE</a:t>
            </a:r>
            <a:r>
              <a:rPr kumimoji="1" lang="ja-JP" altLang="en-US" sz="1100" dirty="0"/>
              <a:t>では海鮮丼などに追加できるトッピングにすることで、お食事を楽しみに来店されたお客様に喜んでいただけます。</a:t>
            </a:r>
          </a:p>
        </p:txBody>
      </p:sp>
      <p:sp>
        <p:nvSpPr>
          <p:cNvPr id="139" name="テキスト ボックス 138">
            <a:extLst>
              <a:ext uri="{FF2B5EF4-FFF2-40B4-BE49-F238E27FC236}">
                <a16:creationId xmlns:a16="http://schemas.microsoft.com/office/drawing/2014/main" id="{3922708C-6B64-9FE4-91A4-B362FFCF7EB6}"/>
              </a:ext>
            </a:extLst>
          </p:cNvPr>
          <p:cNvSpPr txBox="1"/>
          <p:nvPr/>
        </p:nvSpPr>
        <p:spPr>
          <a:xfrm>
            <a:off x="5545759" y="2538357"/>
            <a:ext cx="3769534" cy="707886"/>
          </a:xfrm>
          <a:prstGeom prst="rect">
            <a:avLst/>
          </a:prstGeom>
          <a:noFill/>
        </p:spPr>
        <p:txBody>
          <a:bodyPr wrap="square" rtlCol="0">
            <a:spAutoFit/>
          </a:bodyPr>
          <a:lstStyle/>
          <a:p>
            <a:r>
              <a:rPr lang="ja-JP" altLang="en-US" sz="800" dirty="0"/>
              <a:t>スマホがそのままスタンプカードに</a:t>
            </a:r>
            <a:br>
              <a:rPr lang="en-US" altLang="ja-JP" sz="800" dirty="0"/>
            </a:br>
            <a:endParaRPr lang="en-US" altLang="ja-JP" sz="800" dirty="0"/>
          </a:p>
          <a:p>
            <a:r>
              <a:rPr lang="ja-JP" altLang="en-US" sz="1200" dirty="0"/>
              <a:t>お会計</a:t>
            </a:r>
            <a:r>
              <a:rPr lang="en-US" altLang="ja-JP" sz="1200" dirty="0"/>
              <a:t>1,000</a:t>
            </a:r>
            <a:r>
              <a:rPr lang="ja-JP" altLang="en-US" sz="1200" dirty="0"/>
              <a:t>円ごとにスタンプ</a:t>
            </a:r>
            <a:r>
              <a:rPr lang="en-US" altLang="ja-JP" sz="1200" dirty="0"/>
              <a:t>1</a:t>
            </a:r>
            <a:r>
              <a:rPr lang="ja-JP" altLang="en-US" sz="1200" dirty="0"/>
              <a:t>個付与</a:t>
            </a:r>
          </a:p>
          <a:p>
            <a:r>
              <a:rPr lang="ja-JP" altLang="en-US" sz="1200" dirty="0"/>
              <a:t>カード</a:t>
            </a:r>
            <a:r>
              <a:rPr lang="en-US" altLang="ja-JP" sz="1200" dirty="0"/>
              <a:t>1</a:t>
            </a:r>
            <a:r>
              <a:rPr lang="ja-JP" altLang="en-US" sz="1200" dirty="0"/>
              <a:t>枚（</a:t>
            </a:r>
            <a:r>
              <a:rPr lang="en-US" altLang="ja-JP" sz="1200" dirty="0"/>
              <a:t>10</a:t>
            </a:r>
            <a:r>
              <a:rPr lang="ja-JP" altLang="en-US" sz="1200" dirty="0"/>
              <a:t>個）たまるとお会計から </a:t>
            </a:r>
            <a:r>
              <a:rPr lang="en-US" altLang="ja-JP" sz="1200" dirty="0"/>
              <a:t>500</a:t>
            </a:r>
            <a:r>
              <a:rPr lang="ja-JP" altLang="en-US" sz="1200" dirty="0"/>
              <a:t>円引き</a:t>
            </a:r>
          </a:p>
        </p:txBody>
      </p:sp>
      <p:sp>
        <p:nvSpPr>
          <p:cNvPr id="141" name="テキスト ボックス 140">
            <a:extLst>
              <a:ext uri="{FF2B5EF4-FFF2-40B4-BE49-F238E27FC236}">
                <a16:creationId xmlns:a16="http://schemas.microsoft.com/office/drawing/2014/main" id="{04B3AEB5-628D-F6B9-E936-4483E461D46E}"/>
              </a:ext>
            </a:extLst>
          </p:cNvPr>
          <p:cNvSpPr txBox="1"/>
          <p:nvPr/>
        </p:nvSpPr>
        <p:spPr>
          <a:xfrm>
            <a:off x="5349178" y="3696446"/>
            <a:ext cx="4162697" cy="2292935"/>
          </a:xfrm>
          <a:prstGeom prst="rect">
            <a:avLst/>
          </a:prstGeom>
          <a:noFill/>
        </p:spPr>
        <p:txBody>
          <a:bodyPr wrap="square" lIns="91440" tIns="45720" rIns="91440" bIns="45720" rtlCol="0" anchor="t">
            <a:spAutoFit/>
          </a:bodyPr>
          <a:lstStyle/>
          <a:p>
            <a:r>
              <a:rPr lang="ja-JP" altLang="en-US" sz="1100" dirty="0"/>
              <a:t>●</a:t>
            </a:r>
            <a:r>
              <a:rPr lang="ja-JP" altLang="ja-JP" sz="1100" dirty="0"/>
              <a:t>ホットペッパーグルメ（1万円以上で5%OFF）との違い</a:t>
            </a:r>
            <a:br>
              <a:rPr lang="en-US" altLang="ja-JP" sz="1100" dirty="0"/>
            </a:br>
            <a:endParaRPr lang="ja-JP" altLang="en-US" sz="1100" dirty="0"/>
          </a:p>
          <a:p>
            <a:r>
              <a:rPr lang="ja-JP" altLang="ja-JP" sz="1100" dirty="0"/>
              <a:t>割引額（1万円で500円相当）は同じですが、対象となるお客様と目的が異なります。</a:t>
            </a:r>
            <a:endParaRPr lang="en-US" altLang="ja-JP" sz="1100" dirty="0"/>
          </a:p>
          <a:p>
            <a:endParaRPr kumimoji="1" lang="en-US" altLang="ja-JP" sz="1100" dirty="0"/>
          </a:p>
          <a:p>
            <a:r>
              <a:rPr kumimoji="1" lang="ja-JP" altLang="en-US" sz="1100"/>
              <a:t>・</a:t>
            </a:r>
            <a:r>
              <a:rPr lang="ja-JP" altLang="ja-JP" sz="1100"/>
              <a:t>ホットペッパー：1回のお会計で1万円以上使う</a:t>
            </a:r>
            <a:endParaRPr lang="ja-JP" altLang="en-US" sz="1100"/>
          </a:p>
          <a:p>
            <a:r>
              <a:rPr lang="ja-JP" altLang="ja-JP" sz="1100"/>
              <a:t>「まとめ買い」用</a:t>
            </a:r>
            <a:br>
              <a:rPr kumimoji="1" lang="en-US" altLang="ja-JP" sz="1100" dirty="0"/>
            </a:br>
            <a:endParaRPr lang="ja-JP" altLang="en-US" sz="1100"/>
          </a:p>
          <a:p>
            <a:r>
              <a:rPr kumimoji="1" lang="ja-JP" altLang="en-US" sz="1100" b="1" dirty="0"/>
              <a:t>・</a:t>
            </a:r>
            <a:r>
              <a:rPr lang="ja-JP" altLang="ja-JP" sz="1100" b="1" dirty="0"/>
              <a:t>LINEスタンプ：1,000円〜数千円のお会計で、</a:t>
            </a:r>
            <a:endParaRPr lang="en-US" altLang="ja-JP" sz="1100" b="1" dirty="0"/>
          </a:p>
          <a:p>
            <a:r>
              <a:rPr lang="ja-JP" altLang="ja-JP" sz="1100" b="1"/>
              <a:t>「何度もお店に通ってもらう」用</a:t>
            </a:r>
            <a:br>
              <a:rPr kumimoji="1" lang="en-US" altLang="ja-JP" sz="1100" dirty="0"/>
            </a:br>
            <a:endParaRPr kumimoji="1" lang="ja-JP" altLang="en-US" sz="1100" dirty="0"/>
          </a:p>
          <a:p>
            <a:r>
              <a:rPr kumimoji="1" lang="ja-JP" altLang="en-US" sz="1100" dirty="0"/>
              <a:t>⇒ </a:t>
            </a:r>
            <a:r>
              <a:rPr lang="ja-JP" altLang="ja-JP" sz="1100" dirty="0"/>
              <a:t>1回でのまとめ買いと、普段のお食事・お土産でのリピート来店、どちらのお客様にも喜んでいただける組み合わせです。</a:t>
            </a:r>
            <a:endParaRPr kumimoji="1" lang="ja-JP" altLang="en-US" sz="1100" dirty="0"/>
          </a:p>
        </p:txBody>
      </p:sp>
    </p:spTree>
    <p:extLst>
      <p:ext uri="{BB962C8B-B14F-4D97-AF65-F5344CB8AC3E}">
        <p14:creationId xmlns:p14="http://schemas.microsoft.com/office/powerpoint/2010/main" val="2153343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E724B-AECB-AEF5-11AD-8DA813D0FE60}"/>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B125DF36-CBFD-71D7-7C04-DC1A60F0AA76}"/>
              </a:ext>
            </a:extLst>
          </p:cNvPr>
          <p:cNvSpPr txBox="1"/>
          <p:nvPr/>
        </p:nvSpPr>
        <p:spPr>
          <a:xfrm>
            <a:off x="227573" y="44659"/>
            <a:ext cx="4302781" cy="307777"/>
          </a:xfrm>
          <a:prstGeom prst="rect">
            <a:avLst/>
          </a:prstGeom>
          <a:noFill/>
        </p:spPr>
        <p:txBody>
          <a:bodyPr wrap="none" lIns="91440" tIns="45720" rIns="91440" bIns="45720" rtlCol="0" anchor="t">
            <a:spAutoFit/>
          </a:bodyPr>
          <a:lstStyle/>
          <a:p>
            <a:r>
              <a:rPr kumimoji="1" lang="en-US" altLang="ja-JP" sz="1400" b="1"/>
              <a:t>2. </a:t>
            </a:r>
            <a:r>
              <a:rPr lang="en-US" altLang="ja-JP" sz="1400" b="1" dirty="0"/>
              <a:t>LINE</a:t>
            </a:r>
            <a:r>
              <a:rPr lang="ja-JP" altLang="en-US" sz="1400" b="1" dirty="0"/>
              <a:t>ならではの配信内容と、運用体制のご提案</a:t>
            </a:r>
            <a:endParaRPr lang="ja-JP"/>
          </a:p>
        </p:txBody>
      </p:sp>
      <p:sp>
        <p:nvSpPr>
          <p:cNvPr id="111" name="テキスト ボックス 110">
            <a:extLst>
              <a:ext uri="{FF2B5EF4-FFF2-40B4-BE49-F238E27FC236}">
                <a16:creationId xmlns:a16="http://schemas.microsoft.com/office/drawing/2014/main" id="{1D0671FD-7201-2844-A1E3-35279731D9FF}"/>
              </a:ext>
            </a:extLst>
          </p:cNvPr>
          <p:cNvSpPr txBox="1"/>
          <p:nvPr/>
        </p:nvSpPr>
        <p:spPr>
          <a:xfrm>
            <a:off x="226830" y="589049"/>
            <a:ext cx="4725427" cy="338554"/>
          </a:xfrm>
          <a:prstGeom prst="rect">
            <a:avLst/>
          </a:prstGeom>
          <a:noFill/>
        </p:spPr>
        <p:txBody>
          <a:bodyPr wrap="square" lIns="91440" tIns="45720" rIns="91440" bIns="45720" anchor="t">
            <a:spAutoFit/>
          </a:bodyPr>
          <a:lstStyle/>
          <a:p>
            <a:pPr>
              <a:defRPr sz="1300" b="0">
                <a:solidFill>
                  <a:srgbClr val="2B2B2B"/>
                </a:solidFill>
                <a:latin typeface="Meiryo"/>
              </a:defRPr>
            </a:pPr>
            <a:r>
              <a:rPr lang="ja-JP" sz="1600" i="0" u="none" strike="noStrike" baseline="0">
                <a:ea typeface="+mn-lt"/>
                <a:cs typeface="+mn-lt"/>
              </a:rPr>
              <a:t>■</a:t>
            </a:r>
            <a:r>
              <a:rPr lang="ja-JP" sz="1600">
                <a:ea typeface="+mn-lt"/>
                <a:cs typeface="+mn-lt"/>
              </a:rPr>
              <a:t>その日の仕入れや状況に合わせた</a:t>
            </a:r>
            <a:r>
              <a:rPr lang="en-US" altLang="ja-JP" sz="1600">
                <a:ea typeface="+mn-lt"/>
                <a:cs typeface="+mn-lt"/>
              </a:rPr>
              <a:t>LINE</a:t>
            </a:r>
            <a:r>
              <a:rPr lang="ja-JP" sz="1600">
                <a:ea typeface="+mn-lt"/>
                <a:cs typeface="+mn-lt"/>
              </a:rPr>
              <a:t>限定配信</a:t>
            </a:r>
            <a:endParaRPr lang="ja-JP" sz="1600"/>
          </a:p>
        </p:txBody>
      </p:sp>
      <p:sp>
        <p:nvSpPr>
          <p:cNvPr id="133" name="Rounded Rectangle 13">
            <a:extLst>
              <a:ext uri="{FF2B5EF4-FFF2-40B4-BE49-F238E27FC236}">
                <a16:creationId xmlns:a16="http://schemas.microsoft.com/office/drawing/2014/main" id="{1749A59A-3E37-68CC-118F-DF545593D511}"/>
              </a:ext>
            </a:extLst>
          </p:cNvPr>
          <p:cNvSpPr/>
          <p:nvPr/>
        </p:nvSpPr>
        <p:spPr>
          <a:xfrm>
            <a:off x="5122879" y="1325236"/>
            <a:ext cx="4192570" cy="1362420"/>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テキスト ボックス 138">
            <a:extLst>
              <a:ext uri="{FF2B5EF4-FFF2-40B4-BE49-F238E27FC236}">
                <a16:creationId xmlns:a16="http://schemas.microsoft.com/office/drawing/2014/main" id="{9962DAD4-F5C5-DE11-03AB-8D5298DE9727}"/>
              </a:ext>
            </a:extLst>
          </p:cNvPr>
          <p:cNvSpPr txBox="1"/>
          <p:nvPr/>
        </p:nvSpPr>
        <p:spPr>
          <a:xfrm>
            <a:off x="5379207" y="1455723"/>
            <a:ext cx="3769534" cy="1019510"/>
          </a:xfrm>
          <a:prstGeom prst="rect">
            <a:avLst/>
          </a:prstGeom>
          <a:noFill/>
        </p:spPr>
        <p:txBody>
          <a:bodyPr wrap="square" lIns="91440" tIns="45720" rIns="91440" bIns="45720" rtlCol="0" anchor="t">
            <a:spAutoFit/>
          </a:bodyPr>
          <a:lstStyle/>
          <a:p>
            <a:pPr>
              <a:lnSpc>
                <a:spcPct val="150000"/>
              </a:lnSpc>
            </a:pPr>
            <a:r>
              <a:rPr lang="ja-JP" sz="1100" b="1">
                <a:ea typeface="+mn-lt"/>
                <a:cs typeface="+mn-lt"/>
              </a:rPr>
              <a:t>② 「本日限定の特別な仕入れ」などのお知らせ</a:t>
            </a:r>
            <a:endParaRPr lang="ja-JP"/>
          </a:p>
          <a:p>
            <a:pPr>
              <a:lnSpc>
                <a:spcPct val="150000"/>
              </a:lnSpc>
            </a:pPr>
            <a:r>
              <a:rPr lang="ja-JP" sz="1000">
                <a:ea typeface="+mn-lt"/>
                <a:cs typeface="+mn-lt"/>
              </a:rPr>
              <a:t>その日の入荷状況</a:t>
            </a:r>
            <a:r>
              <a:rPr lang="ja-JP" altLang="en-US" sz="1000">
                <a:ea typeface="+mn-lt"/>
                <a:cs typeface="+mn-lt"/>
              </a:rPr>
              <a:t>に合わせて、本日限定</a:t>
            </a:r>
            <a:r>
              <a:rPr lang="ja-JP" sz="1000">
                <a:ea typeface="+mn-lt"/>
                <a:cs typeface="+mn-lt"/>
              </a:rPr>
              <a:t>のおすすめ</a:t>
            </a:r>
            <a:r>
              <a:rPr lang="ja-JP" altLang="en-US" sz="1000">
                <a:ea typeface="+mn-lt"/>
                <a:cs typeface="+mn-lt"/>
              </a:rPr>
              <a:t>商品やお得</a:t>
            </a:r>
            <a:r>
              <a:rPr lang="ja-JP" sz="1000">
                <a:ea typeface="+mn-lt"/>
                <a:cs typeface="+mn-lt"/>
              </a:rPr>
              <a:t>情報を</a:t>
            </a:r>
            <a:r>
              <a:rPr lang="ja-JP" altLang="en-US" sz="1000">
                <a:ea typeface="+mn-lt"/>
                <a:cs typeface="+mn-lt"/>
              </a:rPr>
              <a:t>リアルタイムで</a:t>
            </a:r>
            <a:r>
              <a:rPr lang="ja-JP" sz="1000">
                <a:ea typeface="+mn-lt"/>
                <a:cs typeface="+mn-lt"/>
              </a:rPr>
              <a:t>配信し、お店に</a:t>
            </a:r>
            <a:r>
              <a:rPr lang="ja-JP" altLang="en-US" sz="1000">
                <a:ea typeface="+mn-lt"/>
                <a:cs typeface="+mn-lt"/>
              </a:rPr>
              <a:t>足を運んでいただく</a:t>
            </a:r>
            <a:r>
              <a:rPr lang="ja-JP" sz="1000">
                <a:ea typeface="+mn-lt"/>
                <a:cs typeface="+mn-lt"/>
              </a:rPr>
              <a:t>きっかけを作ります。</a:t>
            </a:r>
          </a:p>
        </p:txBody>
      </p:sp>
      <p:sp>
        <p:nvSpPr>
          <p:cNvPr id="6" name="テキスト ボックス 5">
            <a:extLst>
              <a:ext uri="{FF2B5EF4-FFF2-40B4-BE49-F238E27FC236}">
                <a16:creationId xmlns:a16="http://schemas.microsoft.com/office/drawing/2014/main" id="{C8483E90-56C0-96EF-41E2-0DD1DCADAED8}"/>
              </a:ext>
            </a:extLst>
          </p:cNvPr>
          <p:cNvSpPr txBox="1"/>
          <p:nvPr/>
        </p:nvSpPr>
        <p:spPr>
          <a:xfrm>
            <a:off x="229654" y="921357"/>
            <a:ext cx="9203811" cy="292388"/>
          </a:xfrm>
          <a:prstGeom prst="rect">
            <a:avLst/>
          </a:prstGeom>
          <a:noFill/>
        </p:spPr>
        <p:txBody>
          <a:bodyPr wrap="square" lIns="91440" tIns="45720" rIns="91440" bIns="45720" anchor="t">
            <a:spAutoFit/>
          </a:bodyPr>
          <a:lstStyle/>
          <a:p>
            <a:r>
              <a:rPr lang="ja-JP" sz="1300">
                <a:ea typeface="+mn-lt"/>
                <a:cs typeface="+mn-lt"/>
              </a:rPr>
              <a:t>ホットペッパー</a:t>
            </a:r>
            <a:r>
              <a:rPr lang="ja-JP" altLang="en-US" sz="1300">
                <a:ea typeface="+mn-lt"/>
                <a:cs typeface="+mn-lt"/>
              </a:rPr>
              <a:t>等</a:t>
            </a:r>
            <a:r>
              <a:rPr lang="ja-JP" sz="1300">
                <a:ea typeface="+mn-lt"/>
                <a:cs typeface="+mn-lt"/>
              </a:rPr>
              <a:t>とは重ならない</a:t>
            </a:r>
            <a:r>
              <a:rPr lang="ja-JP" altLang="en-US" sz="1300">
                <a:ea typeface="+mn-lt"/>
                <a:cs typeface="+mn-lt"/>
              </a:rPr>
              <a:t>、</a:t>
            </a:r>
            <a:r>
              <a:rPr lang="en-US" altLang="ja-JP" sz="1300">
                <a:ea typeface="+mn-lt"/>
                <a:cs typeface="+mn-lt"/>
              </a:rPr>
              <a:t>LINE</a:t>
            </a:r>
            <a:r>
              <a:rPr lang="ja-JP" altLang="en-US" sz="1300">
                <a:ea typeface="+mn-lt"/>
                <a:cs typeface="+mn-lt"/>
              </a:rPr>
              <a:t>ならではの</a:t>
            </a:r>
            <a:r>
              <a:rPr lang="ja-JP" sz="1300" b="1">
                <a:ea typeface="+mn-lt"/>
                <a:cs typeface="+mn-lt"/>
              </a:rPr>
              <a:t>その日限定のお得情報</a:t>
            </a:r>
            <a:r>
              <a:rPr lang="ja-JP" sz="1300">
                <a:ea typeface="+mn-lt"/>
                <a:cs typeface="+mn-lt"/>
              </a:rPr>
              <a:t>をお</a:t>
            </a:r>
            <a:r>
              <a:rPr lang="ja-JP" altLang="en-US" sz="1300">
                <a:ea typeface="+mn-lt"/>
                <a:cs typeface="+mn-lt"/>
              </a:rPr>
              <a:t>届け</a:t>
            </a:r>
            <a:r>
              <a:rPr lang="ja-JP" sz="1300">
                <a:ea typeface="+mn-lt"/>
                <a:cs typeface="+mn-lt"/>
              </a:rPr>
              <a:t>できます。</a:t>
            </a:r>
            <a:endParaRPr lang="ja-JP" sz="1300"/>
          </a:p>
        </p:txBody>
      </p:sp>
      <p:sp>
        <p:nvSpPr>
          <p:cNvPr id="10" name="Rounded Rectangle 13">
            <a:extLst>
              <a:ext uri="{FF2B5EF4-FFF2-40B4-BE49-F238E27FC236}">
                <a16:creationId xmlns:a16="http://schemas.microsoft.com/office/drawing/2014/main" id="{54C0CCD0-F2E3-FFEE-DE82-5FCA6AD690D6}"/>
              </a:ext>
            </a:extLst>
          </p:cNvPr>
          <p:cNvSpPr/>
          <p:nvPr/>
        </p:nvSpPr>
        <p:spPr>
          <a:xfrm>
            <a:off x="560674" y="1325236"/>
            <a:ext cx="4162697" cy="1356445"/>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af-ZA" dirty="0"/>
          </a:p>
        </p:txBody>
      </p:sp>
      <p:sp>
        <p:nvSpPr>
          <p:cNvPr id="12" name="テキスト ボックス 11">
            <a:extLst>
              <a:ext uri="{FF2B5EF4-FFF2-40B4-BE49-F238E27FC236}">
                <a16:creationId xmlns:a16="http://schemas.microsoft.com/office/drawing/2014/main" id="{111B7656-880C-4702-35B9-EE82EFE080F7}"/>
              </a:ext>
            </a:extLst>
          </p:cNvPr>
          <p:cNvSpPr txBox="1"/>
          <p:nvPr/>
        </p:nvSpPr>
        <p:spPr>
          <a:xfrm>
            <a:off x="760820" y="1454994"/>
            <a:ext cx="3769534" cy="1019510"/>
          </a:xfrm>
          <a:prstGeom prst="rect">
            <a:avLst/>
          </a:prstGeom>
          <a:noFill/>
        </p:spPr>
        <p:txBody>
          <a:bodyPr wrap="square" lIns="91440" tIns="45720" rIns="91440" bIns="45720" rtlCol="0" anchor="t">
            <a:spAutoFit/>
          </a:bodyPr>
          <a:lstStyle/>
          <a:p>
            <a:pPr>
              <a:lnSpc>
                <a:spcPct val="150000"/>
              </a:lnSpc>
            </a:pPr>
            <a:r>
              <a:rPr lang="ja-JP" sz="1100" b="1">
                <a:ea typeface="+mn-lt"/>
                <a:cs typeface="+mn-lt"/>
              </a:rPr>
              <a:t>① いつもの特典を「今日だけ豪華にする」お知らせ</a:t>
            </a:r>
            <a:endParaRPr lang="ja-JP" sz="1100" b="1"/>
          </a:p>
          <a:p>
            <a:pPr>
              <a:lnSpc>
                <a:spcPct val="150000"/>
              </a:lnSpc>
            </a:pPr>
            <a:r>
              <a:rPr lang="ja-JP" sz="1000">
                <a:ea typeface="+mn-lt"/>
                <a:cs typeface="+mn-lt"/>
              </a:rPr>
              <a:t>「本日は</a:t>
            </a:r>
            <a:r>
              <a:rPr lang="en-US" altLang="ja-JP" sz="1000">
                <a:ea typeface="+mn-lt"/>
                <a:cs typeface="+mn-lt"/>
              </a:rPr>
              <a:t>LINE</a:t>
            </a:r>
            <a:r>
              <a:rPr lang="ja-JP" sz="1000">
                <a:ea typeface="+mn-lt"/>
                <a:cs typeface="+mn-lt"/>
              </a:rPr>
              <a:t>友だち限定で、カニ身ちょ</a:t>
            </a:r>
            <a:r>
              <a:rPr lang="ja-JP" sz="1000">
                <a:solidFill>
                  <a:srgbClr val="000000"/>
                </a:solidFill>
                <a:ea typeface="+mn-lt"/>
                <a:cs typeface="+mn-lt"/>
              </a:rPr>
              <a:t>い</a:t>
            </a:r>
            <a:r>
              <a:rPr lang="ja-JP" sz="1000">
                <a:ea typeface="+mn-lt"/>
                <a:cs typeface="+mn-lt"/>
              </a:rPr>
              <a:t>足しを</a:t>
            </a:r>
            <a:r>
              <a:rPr lang="en-US" altLang="ja-JP" sz="1000">
                <a:ea typeface="+mn-lt"/>
                <a:cs typeface="+mn-lt"/>
              </a:rPr>
              <a:t>【</a:t>
            </a:r>
            <a:r>
              <a:rPr lang="ja-JP" sz="1000">
                <a:ea typeface="+mn-lt"/>
                <a:cs typeface="+mn-lt"/>
              </a:rPr>
              <a:t>倍量</a:t>
            </a:r>
            <a:r>
              <a:rPr lang="en-US" altLang="ja-JP" sz="1000">
                <a:ea typeface="+mn-lt"/>
                <a:cs typeface="+mn-lt"/>
              </a:rPr>
              <a:t>】</a:t>
            </a:r>
            <a:r>
              <a:rPr lang="ja-JP" sz="1000">
                <a:ea typeface="+mn-lt"/>
                <a:cs typeface="+mn-lt"/>
              </a:rPr>
              <a:t>にします！」など、すでにお店にある食材を使ったお得な配信です。新しく特別な商品を用意しなくてもすぐに実施できます。</a:t>
            </a:r>
            <a:endParaRPr lang="ja-JP" sz="1000"/>
          </a:p>
        </p:txBody>
      </p:sp>
      <p:sp>
        <p:nvSpPr>
          <p:cNvPr id="16" name="テキスト ボックス 15">
            <a:extLst>
              <a:ext uri="{FF2B5EF4-FFF2-40B4-BE49-F238E27FC236}">
                <a16:creationId xmlns:a16="http://schemas.microsoft.com/office/drawing/2014/main" id="{702686F7-B47B-0DF5-F6ED-D3212C9C0E4B}"/>
              </a:ext>
            </a:extLst>
          </p:cNvPr>
          <p:cNvSpPr txBox="1"/>
          <p:nvPr/>
        </p:nvSpPr>
        <p:spPr>
          <a:xfrm>
            <a:off x="227571" y="3106650"/>
            <a:ext cx="4772754" cy="375487"/>
          </a:xfrm>
          <a:prstGeom prst="rect">
            <a:avLst/>
          </a:prstGeom>
          <a:noFill/>
        </p:spPr>
        <p:txBody>
          <a:bodyPr wrap="square" lIns="91440" tIns="45720" rIns="91440" bIns="45720" anchor="t">
            <a:spAutoFit/>
          </a:bodyPr>
          <a:lstStyle/>
          <a:p>
            <a:pPr>
              <a:lnSpc>
                <a:spcPct val="120000"/>
              </a:lnSpc>
              <a:defRPr sz="1300" b="0">
                <a:solidFill>
                  <a:srgbClr val="2B2B2B"/>
                </a:solidFill>
                <a:latin typeface="Meiryo"/>
              </a:defRPr>
            </a:pPr>
            <a:r>
              <a:rPr lang="ja-JP" sz="1600" b="0" i="0" u="none" strike="noStrike" baseline="0">
                <a:ea typeface="+mn-lt"/>
                <a:cs typeface="+mn-lt"/>
              </a:rPr>
              <a:t>■</a:t>
            </a:r>
            <a:r>
              <a:rPr lang="ja-JP" sz="1600">
                <a:ea typeface="+mn-lt"/>
                <a:cs typeface="+mn-lt"/>
              </a:rPr>
              <a:t>クーポン・お得情報の2つの配信方法</a:t>
            </a:r>
          </a:p>
        </p:txBody>
      </p:sp>
      <p:sp>
        <p:nvSpPr>
          <p:cNvPr id="5" name="テキスト ボックス 4">
            <a:extLst>
              <a:ext uri="{FF2B5EF4-FFF2-40B4-BE49-F238E27FC236}">
                <a16:creationId xmlns:a16="http://schemas.microsoft.com/office/drawing/2014/main" id="{24166DB5-2D32-B67A-FFE0-C5EEDF05AAB2}"/>
              </a:ext>
            </a:extLst>
          </p:cNvPr>
          <p:cNvSpPr txBox="1"/>
          <p:nvPr/>
        </p:nvSpPr>
        <p:spPr>
          <a:xfrm>
            <a:off x="224813" y="3530511"/>
            <a:ext cx="9461597" cy="1386918"/>
          </a:xfrm>
          <a:prstGeom prst="rect">
            <a:avLst/>
          </a:prstGeom>
          <a:noFill/>
        </p:spPr>
        <p:txBody>
          <a:bodyPr wrap="square" lIns="91440" tIns="45720" rIns="91440" bIns="45720" anchor="t">
            <a:spAutoFit/>
          </a:bodyPr>
          <a:lstStyle/>
          <a:p>
            <a:pPr>
              <a:lnSpc>
                <a:spcPct val="150000"/>
              </a:lnSpc>
            </a:pPr>
            <a:r>
              <a:rPr lang="ja-JP" sz="1300">
                <a:ea typeface="+mn-lt"/>
                <a:cs typeface="+mn-lt"/>
              </a:rPr>
              <a:t>パターン①：お店のスタッフ様が配るケース</a:t>
            </a:r>
            <a:endParaRPr lang="ja-JP"/>
          </a:p>
          <a:p>
            <a:pPr>
              <a:lnSpc>
                <a:spcPct val="150000"/>
              </a:lnSpc>
            </a:pPr>
            <a:r>
              <a:rPr lang="en-US" altLang="ja-JP" sz="1100">
                <a:ea typeface="+mn-lt"/>
                <a:cs typeface="+mn-lt"/>
              </a:rPr>
              <a:t>【</a:t>
            </a:r>
            <a:r>
              <a:rPr lang="ja-JP" altLang="en-US" sz="1100">
                <a:ea typeface="+mn-lt"/>
                <a:cs typeface="+mn-lt"/>
              </a:rPr>
              <a:t>対象</a:t>
            </a:r>
            <a:r>
              <a:rPr lang="en-US" altLang="ja-JP" sz="1100">
                <a:ea typeface="+mn-lt"/>
                <a:cs typeface="+mn-lt"/>
              </a:rPr>
              <a:t>】</a:t>
            </a:r>
            <a:r>
              <a:rPr lang="ja-JP" altLang="en-US" sz="1100">
                <a:ea typeface="+mn-lt"/>
                <a:cs typeface="+mn-lt"/>
              </a:rPr>
              <a:t>現場の状況に合わせた突発的な配信</a:t>
            </a:r>
            <a:endParaRPr lang="ja-JP" altLang="en-US" sz="1100"/>
          </a:p>
          <a:p>
            <a:pPr>
              <a:lnSpc>
                <a:spcPct val="150000"/>
              </a:lnSpc>
            </a:pPr>
            <a:r>
              <a:rPr lang="ja-JP" altLang="en-US" sz="1100">
                <a:ea typeface="+mn-lt"/>
                <a:cs typeface="+mn-lt"/>
              </a:rPr>
              <a:t>・「今日はカニの入荷が多いから夕方限定で安くしよう」「急な悪天候だから来店特典を出そう」</a:t>
            </a:r>
            <a:r>
              <a:rPr lang="ja-JP" sz="1100">
                <a:ea typeface="+mn-lt"/>
                <a:cs typeface="+mn-lt"/>
              </a:rPr>
              <a:t>といったその日のお得情報は、</a:t>
            </a:r>
            <a:endParaRPr lang="ja-JP" altLang="en-US" sz="1100" dirty="0">
              <a:ea typeface="+mn-lt"/>
              <a:cs typeface="+mn-lt"/>
            </a:endParaRPr>
          </a:p>
          <a:p>
            <a:pPr>
              <a:lnSpc>
                <a:spcPct val="150000"/>
              </a:lnSpc>
            </a:pPr>
            <a:r>
              <a:rPr lang="ja-JP" altLang="en-US" sz="1100" dirty="0">
                <a:ea typeface="+mn-lt"/>
                <a:cs typeface="+mn-lt"/>
              </a:rPr>
              <a:t>　</a:t>
            </a:r>
            <a:r>
              <a:rPr lang="ja-JP" sz="1100">
                <a:ea typeface="+mn-lt"/>
                <a:cs typeface="+mn-lt"/>
              </a:rPr>
              <a:t>お店から直接配信していただくとタイムリーにお知らせできます。</a:t>
            </a:r>
            <a:endParaRPr lang="ja-JP" sz="1100"/>
          </a:p>
          <a:p>
            <a:pPr>
              <a:lnSpc>
                <a:spcPct val="150000"/>
              </a:lnSpc>
            </a:pPr>
            <a:r>
              <a:rPr lang="ja-JP" altLang="en-US" sz="1100">
                <a:ea typeface="+mn-lt"/>
                <a:cs typeface="+mn-lt"/>
              </a:rPr>
              <a:t>・スマホに</a:t>
            </a:r>
            <a:r>
              <a:rPr lang="en-US" altLang="ja-JP" sz="1100">
                <a:ea typeface="+mn-lt"/>
                <a:cs typeface="+mn-lt"/>
              </a:rPr>
              <a:t>LINE</a:t>
            </a:r>
            <a:r>
              <a:rPr lang="ja-JP" altLang="en-US" sz="1100">
                <a:ea typeface="+mn-lt"/>
                <a:cs typeface="+mn-lt"/>
              </a:rPr>
              <a:t>公式アカウントの管理アプリを入れておけば、</a:t>
            </a:r>
            <a:r>
              <a:rPr lang="en-US" altLang="ja-JP" sz="1100">
                <a:ea typeface="+mn-lt"/>
                <a:cs typeface="+mn-lt"/>
              </a:rPr>
              <a:t>1〜2</a:t>
            </a:r>
            <a:r>
              <a:rPr lang="ja-JP" altLang="en-US" sz="1100">
                <a:ea typeface="+mn-lt"/>
                <a:cs typeface="+mn-lt"/>
              </a:rPr>
              <a:t>分で簡単に一斉送信できます。</a:t>
            </a:r>
            <a:endParaRPr lang="ja-JP" sz="1100"/>
          </a:p>
        </p:txBody>
      </p:sp>
      <p:sp>
        <p:nvSpPr>
          <p:cNvPr id="7" name="テキスト ボックス 6">
            <a:extLst>
              <a:ext uri="{FF2B5EF4-FFF2-40B4-BE49-F238E27FC236}">
                <a16:creationId xmlns:a16="http://schemas.microsoft.com/office/drawing/2014/main" id="{0127FEBF-CF06-8AD3-83F7-5B78C4880B18}"/>
              </a:ext>
            </a:extLst>
          </p:cNvPr>
          <p:cNvSpPr txBox="1"/>
          <p:nvPr/>
        </p:nvSpPr>
        <p:spPr>
          <a:xfrm>
            <a:off x="224763" y="4916447"/>
            <a:ext cx="9461597" cy="1133002"/>
          </a:xfrm>
          <a:prstGeom prst="rect">
            <a:avLst/>
          </a:prstGeom>
          <a:noFill/>
        </p:spPr>
        <p:txBody>
          <a:bodyPr wrap="square" lIns="91440" tIns="45720" rIns="91440" bIns="45720" anchor="t">
            <a:spAutoFit/>
          </a:bodyPr>
          <a:lstStyle/>
          <a:p>
            <a:pPr>
              <a:lnSpc>
                <a:spcPct val="150000"/>
              </a:lnSpc>
            </a:pPr>
            <a:r>
              <a:rPr lang="ja-JP" sz="1300">
                <a:ea typeface="+mn-lt"/>
                <a:cs typeface="+mn-lt"/>
              </a:rPr>
              <a:t>パターン</a:t>
            </a:r>
            <a:r>
              <a:rPr lang="ja-JP" altLang="en-US" sz="1300">
                <a:ea typeface="+mn-lt"/>
                <a:cs typeface="+mn-lt"/>
              </a:rPr>
              <a:t>②</a:t>
            </a:r>
            <a:r>
              <a:rPr lang="ja-JP" sz="1300">
                <a:ea typeface="+mn-lt"/>
                <a:cs typeface="+mn-lt"/>
              </a:rPr>
              <a:t>：</a:t>
            </a:r>
            <a:r>
              <a:rPr lang="ja-JP" altLang="en-US" sz="1300">
                <a:ea typeface="+mn-lt"/>
                <a:cs typeface="+mn-lt"/>
              </a:rPr>
              <a:t>弊社</a:t>
            </a:r>
            <a:r>
              <a:rPr lang="ja-JP" sz="1300">
                <a:ea typeface="+mn-lt"/>
                <a:cs typeface="+mn-lt"/>
              </a:rPr>
              <a:t>が配るケース </a:t>
            </a:r>
            <a:endParaRPr lang="ja-JP"/>
          </a:p>
          <a:p>
            <a:pPr>
              <a:lnSpc>
                <a:spcPct val="150000"/>
              </a:lnSpc>
            </a:pPr>
            <a:r>
              <a:rPr lang="en-US" altLang="ja-JP" sz="1100">
                <a:ea typeface="+mn-lt"/>
                <a:cs typeface="+mn-lt"/>
              </a:rPr>
              <a:t>【</a:t>
            </a:r>
            <a:r>
              <a:rPr lang="ja-JP" sz="1100">
                <a:ea typeface="+mn-lt"/>
                <a:cs typeface="+mn-lt"/>
              </a:rPr>
              <a:t>対象</a:t>
            </a:r>
            <a:r>
              <a:rPr lang="en-US" altLang="ja-JP" sz="1100">
                <a:ea typeface="+mn-lt"/>
                <a:cs typeface="+mn-lt"/>
              </a:rPr>
              <a:t>】</a:t>
            </a:r>
            <a:r>
              <a:rPr lang="ja-JP" sz="1100">
                <a:ea typeface="+mn-lt"/>
                <a:cs typeface="+mn-lt"/>
              </a:rPr>
              <a:t>あらかじめ予定が決まっている計画的・定期的な配信</a:t>
            </a:r>
          </a:p>
          <a:p>
            <a:pPr>
              <a:lnSpc>
                <a:spcPct val="150000"/>
              </a:lnSpc>
            </a:pPr>
            <a:r>
              <a:rPr lang="ja-JP" sz="1100">
                <a:ea typeface="+mn-lt"/>
                <a:cs typeface="+mn-lt"/>
              </a:rPr>
              <a:t>・「毎月〇日の定期配信」や「年末年始・季節のキャ</a:t>
            </a:r>
            <a:r>
              <a:rPr lang="ja-JP" altLang="en-US" sz="1100">
                <a:ea typeface="+mn-lt"/>
                <a:cs typeface="+mn-lt"/>
              </a:rPr>
              <a:t>ンペーン</a:t>
            </a:r>
            <a:r>
              <a:rPr lang="ja-JP" sz="1100">
                <a:ea typeface="+mn-lt"/>
                <a:cs typeface="+mn-lt"/>
              </a:rPr>
              <a:t>」</a:t>
            </a:r>
            <a:r>
              <a:rPr lang="ja-JP" altLang="en-US" sz="1100">
                <a:ea typeface="+mn-lt"/>
                <a:cs typeface="+mn-lt"/>
              </a:rPr>
              <a:t>など、事前にスケジュールが決ま</a:t>
            </a:r>
            <a:r>
              <a:rPr lang="ja-JP" sz="1100">
                <a:ea typeface="+mn-lt"/>
                <a:cs typeface="+mn-lt"/>
              </a:rPr>
              <a:t>ってい</a:t>
            </a:r>
            <a:r>
              <a:rPr lang="ja-JP" altLang="en-US" sz="1100">
                <a:ea typeface="+mn-lt"/>
                <a:cs typeface="+mn-lt"/>
              </a:rPr>
              <a:t>るものが対象</a:t>
            </a:r>
            <a:r>
              <a:rPr lang="ja-JP" sz="1100">
                <a:ea typeface="+mn-lt"/>
                <a:cs typeface="+mn-lt"/>
              </a:rPr>
              <a:t>です。</a:t>
            </a:r>
            <a:endParaRPr lang="ja-JP" altLang="en-US" sz="1100"/>
          </a:p>
          <a:p>
            <a:pPr>
              <a:lnSpc>
                <a:spcPct val="150000"/>
              </a:lnSpc>
            </a:pPr>
            <a:r>
              <a:rPr lang="ja-JP" sz="1100">
                <a:ea typeface="+mn-lt"/>
                <a:cs typeface="+mn-lt"/>
              </a:rPr>
              <a:t>・弊社にてバナー画像やクーポンを作成し、管理画面から日時を指定して予約配信を設定いたします。</a:t>
            </a:r>
          </a:p>
        </p:txBody>
      </p:sp>
    </p:spTree>
    <p:extLst>
      <p:ext uri="{BB962C8B-B14F-4D97-AF65-F5344CB8AC3E}">
        <p14:creationId xmlns:p14="http://schemas.microsoft.com/office/powerpoint/2010/main" val="1462424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E3393-CD6E-CDC8-E29C-11FEC583CA7D}"/>
            </a:ext>
          </a:extLst>
        </p:cNvPr>
        <p:cNvGrpSpPr/>
        <p:nvPr/>
      </p:nvGrpSpPr>
      <p:grpSpPr>
        <a:xfrm>
          <a:off x="0" y="0"/>
          <a:ext cx="0" cy="0"/>
          <a:chOff x="0" y="0"/>
          <a:chExt cx="0" cy="0"/>
        </a:xfrm>
      </p:grpSpPr>
      <p:sp>
        <p:nvSpPr>
          <p:cNvPr id="2" name="テキスト ボックス 4">
            <a:extLst>
              <a:ext uri="{FF2B5EF4-FFF2-40B4-BE49-F238E27FC236}">
                <a16:creationId xmlns:a16="http://schemas.microsoft.com/office/drawing/2014/main" id="{895E2A62-3748-50DF-FD28-C9879060EAFA}"/>
              </a:ext>
            </a:extLst>
          </p:cNvPr>
          <p:cNvSpPr txBox="1"/>
          <p:nvPr/>
        </p:nvSpPr>
        <p:spPr>
          <a:xfrm>
            <a:off x="230147" y="512817"/>
            <a:ext cx="9415833" cy="492443"/>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ja-JP" sz="1300">
                <a:solidFill>
                  <a:sysClr val="windowText" lastClr="000000"/>
                </a:solidFill>
                <a:ea typeface="+mn-lt"/>
                <a:cs typeface="+mn-lt"/>
              </a:rPr>
              <a:t>L</a:t>
            </a:r>
            <a:r>
              <a:rPr kumimoji="1" lang="en-US" altLang="ja-JP" sz="1300">
                <a:solidFill>
                  <a:sysClr val="windowText" lastClr="000000"/>
                </a:solidFill>
                <a:ea typeface="+mn-lt"/>
                <a:cs typeface="+mn-lt"/>
              </a:rPr>
              <a:t>INE</a:t>
            </a:r>
            <a:r>
              <a:rPr kumimoji="1" lang="ja-JP" sz="1300">
                <a:solidFill>
                  <a:sysClr val="windowText" lastClr="000000"/>
                </a:solidFill>
                <a:ea typeface="+mn-lt"/>
                <a:cs typeface="+mn-lt"/>
              </a:rPr>
              <a:t>スタンプカードを導入</a:t>
            </a:r>
            <a:r>
              <a:rPr lang="ja-JP" altLang="en-US" sz="1300">
                <a:solidFill>
                  <a:sysClr val="windowText" lastClr="000000"/>
                </a:solidFill>
                <a:ea typeface="+mn-lt"/>
                <a:cs typeface="+mn-lt"/>
              </a:rPr>
              <a:t>する場合、</a:t>
            </a:r>
            <a:r>
              <a:rPr lang="ja-JP" sz="1300">
                <a:solidFill>
                  <a:sysClr val="windowText" lastClr="000000"/>
                </a:solidFill>
                <a:ea typeface="+mn-lt"/>
                <a:cs typeface="+mn-lt"/>
              </a:rPr>
              <a:t>「ポイント付与用のQRコード」</a:t>
            </a:r>
            <a:r>
              <a:rPr lang="ja-JP" altLang="en-US" sz="1300">
                <a:solidFill>
                  <a:sysClr val="windowText" lastClr="000000"/>
                </a:solidFill>
                <a:ea typeface="+mn-lt"/>
                <a:cs typeface="+mn-lt"/>
              </a:rPr>
              <a:t>も</a:t>
            </a:r>
            <a:r>
              <a:rPr lang="ja-JP" sz="1300">
                <a:solidFill>
                  <a:sysClr val="windowText" lastClr="000000"/>
                </a:solidFill>
                <a:ea typeface="+mn-lt"/>
                <a:cs typeface="+mn-lt"/>
              </a:rPr>
              <a:t>必要になります</a:t>
            </a:r>
            <a:r>
              <a:rPr lang="ja-JP" altLang="en-US" sz="1300">
                <a:solidFill>
                  <a:sysClr val="windowText" lastClr="000000"/>
                </a:solidFill>
                <a:ea typeface="+mn-lt"/>
                <a:cs typeface="+mn-lt"/>
              </a:rPr>
              <a:t>。</a:t>
            </a:r>
            <a:r>
              <a:rPr lang="en-US" altLang="ja-JP" sz="1300">
                <a:solidFill>
                  <a:sysClr val="windowText" lastClr="000000"/>
                </a:solidFill>
                <a:ea typeface="+mn-lt"/>
                <a:cs typeface="+mn-lt"/>
              </a:rPr>
              <a:t>QR</a:t>
            </a:r>
            <a:r>
              <a:rPr lang="ja-JP" altLang="en-US" sz="1300">
                <a:solidFill>
                  <a:sysClr val="windowText" lastClr="000000"/>
                </a:solidFill>
                <a:ea typeface="+mn-lt"/>
                <a:cs typeface="+mn-lt"/>
              </a:rPr>
              <a:t>コード</a:t>
            </a:r>
            <a:r>
              <a:rPr lang="ja-JP" sz="1300">
                <a:solidFill>
                  <a:sysClr val="windowText" lastClr="000000"/>
                </a:solidFill>
                <a:ea typeface="+mn-lt"/>
                <a:cs typeface="+mn-lt"/>
              </a:rPr>
              <a:t>の</a:t>
            </a:r>
            <a:r>
              <a:rPr lang="ja-JP" altLang="en-US" sz="1300">
                <a:solidFill>
                  <a:sysClr val="windowText" lastClr="000000"/>
                </a:solidFill>
                <a:ea typeface="+mn-lt"/>
                <a:cs typeface="+mn-lt"/>
              </a:rPr>
              <a:t>保管・提示方法として、</a:t>
            </a:r>
            <a:r>
              <a:rPr lang="ja-JP" sz="1300">
                <a:solidFill>
                  <a:sysClr val="windowText" lastClr="000000"/>
                </a:solidFill>
                <a:ea typeface="+mn-lt"/>
                <a:cs typeface="+mn-lt"/>
              </a:rPr>
              <a:t>以下</a:t>
            </a:r>
            <a:r>
              <a:rPr kumimoji="1" lang="ja-JP" sz="1300">
                <a:solidFill>
                  <a:sysClr val="windowText" lastClr="000000"/>
                </a:solidFill>
                <a:ea typeface="+mn-lt"/>
                <a:cs typeface="+mn-lt"/>
              </a:rPr>
              <a:t>の</a:t>
            </a:r>
            <a:r>
              <a:rPr kumimoji="1" lang="ja-JP" altLang="en-US" sz="1300">
                <a:solidFill>
                  <a:sysClr val="windowText" lastClr="000000"/>
                </a:solidFill>
                <a:ea typeface="+mn-lt"/>
                <a:cs typeface="+mn-lt"/>
              </a:rPr>
              <a:t>ような形は</a:t>
            </a:r>
            <a:r>
              <a:rPr kumimoji="1" lang="ja-JP" sz="1300">
                <a:solidFill>
                  <a:sysClr val="windowText" lastClr="000000"/>
                </a:solidFill>
                <a:ea typeface="+mn-lt"/>
                <a:cs typeface="+mn-lt"/>
              </a:rPr>
              <a:t>い</a:t>
            </a:r>
            <a:r>
              <a:rPr kumimoji="1" lang="ja-JP" altLang="en-US" sz="1300">
                <a:solidFill>
                  <a:sysClr val="windowText" lastClr="000000"/>
                </a:solidFill>
                <a:ea typeface="+mn-lt"/>
                <a:cs typeface="+mn-lt"/>
              </a:rPr>
              <a:t>かがで</a:t>
            </a:r>
            <a:r>
              <a:rPr kumimoji="1" lang="ja-JP" sz="1300">
                <a:solidFill>
                  <a:sysClr val="windowText" lastClr="000000"/>
                </a:solidFill>
                <a:ea typeface="+mn-lt"/>
                <a:cs typeface="+mn-lt"/>
              </a:rPr>
              <a:t>し</a:t>
            </a:r>
            <a:r>
              <a:rPr kumimoji="1" lang="ja-JP" altLang="en-US" sz="1300">
                <a:solidFill>
                  <a:sysClr val="windowText" lastClr="000000"/>
                </a:solidFill>
                <a:ea typeface="+mn-lt"/>
                <a:cs typeface="+mn-lt"/>
              </a:rPr>
              <a:t>ょう</a:t>
            </a:r>
            <a:r>
              <a:rPr kumimoji="1" lang="ja-JP" sz="1300">
                <a:solidFill>
                  <a:sysClr val="windowText" lastClr="000000"/>
                </a:solidFill>
                <a:ea typeface="+mn-lt"/>
                <a:cs typeface="+mn-lt"/>
              </a:rPr>
              <a:t>か？</a:t>
            </a:r>
            <a:endParaRPr lang="ja-JP" altLang="en-US"/>
          </a:p>
        </p:txBody>
      </p:sp>
      <p:sp>
        <p:nvSpPr>
          <p:cNvPr id="3" name="テキスト ボックス 2">
            <a:extLst>
              <a:ext uri="{FF2B5EF4-FFF2-40B4-BE49-F238E27FC236}">
                <a16:creationId xmlns:a16="http://schemas.microsoft.com/office/drawing/2014/main" id="{E61C26C1-BDC1-F178-C125-770AD2EDDF4A}"/>
              </a:ext>
            </a:extLst>
          </p:cNvPr>
          <p:cNvSpPr txBox="1"/>
          <p:nvPr/>
        </p:nvSpPr>
        <p:spPr>
          <a:xfrm>
            <a:off x="227573" y="44659"/>
            <a:ext cx="5415265" cy="307777"/>
          </a:xfrm>
          <a:prstGeom prst="rect">
            <a:avLst/>
          </a:prstGeom>
          <a:noFill/>
        </p:spPr>
        <p:txBody>
          <a:bodyPr wrap="none" lIns="91440" tIns="45720" rIns="91440" bIns="45720" rtlCol="0" anchor="t">
            <a:spAutoFit/>
          </a:bodyPr>
          <a:lstStyle/>
          <a:p>
            <a:r>
              <a:rPr kumimoji="1" lang="en-US" altLang="ja-JP" sz="1400" b="1" dirty="0"/>
              <a:t>3. </a:t>
            </a:r>
            <a:r>
              <a:rPr kumimoji="1" lang="ja-JP" altLang="en-US" sz="1400" b="1" dirty="0" err="1">
                <a:ea typeface="+mn-lt"/>
                <a:cs typeface="+mn-lt"/>
              </a:rPr>
              <a:t>店舗オペレーション（ポイント付与</a:t>
            </a:r>
            <a:r>
              <a:rPr kumimoji="1" lang="en-US" sz="1400" b="1" dirty="0" err="1">
                <a:ea typeface="+mn-lt"/>
                <a:cs typeface="+mn-lt"/>
              </a:rPr>
              <a:t>QR</a:t>
            </a:r>
            <a:r>
              <a:rPr kumimoji="1" lang="ja-JP" altLang="en-US" sz="1400" b="1" dirty="0" err="1">
                <a:ea typeface="+mn-lt"/>
                <a:cs typeface="+mn-lt"/>
              </a:rPr>
              <a:t>の管理方法）のご提案</a:t>
            </a:r>
            <a:r>
              <a:rPr kumimoji="1" lang="en-US" sz="1400" b="1" dirty="0">
                <a:ea typeface="+mn-lt"/>
                <a:cs typeface="+mn-lt"/>
              </a:rPr>
              <a:t> </a:t>
            </a:r>
            <a:endParaRPr lang="en-US" sz="1400" b="1" dirty="0">
              <a:ea typeface="+mn-lt"/>
              <a:cs typeface="+mn-lt"/>
            </a:endParaRPr>
          </a:p>
        </p:txBody>
      </p:sp>
      <p:sp>
        <p:nvSpPr>
          <p:cNvPr id="5" name="Rounded Rectangle 13">
            <a:extLst>
              <a:ext uri="{FF2B5EF4-FFF2-40B4-BE49-F238E27FC236}">
                <a16:creationId xmlns:a16="http://schemas.microsoft.com/office/drawing/2014/main" id="{3C9E6AFA-B3D3-B838-8418-C0BF91D48AF1}"/>
              </a:ext>
            </a:extLst>
          </p:cNvPr>
          <p:cNvSpPr/>
          <p:nvPr/>
        </p:nvSpPr>
        <p:spPr>
          <a:xfrm>
            <a:off x="5122879" y="1325236"/>
            <a:ext cx="4222443" cy="1505792"/>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テキスト ボックス 6">
            <a:extLst>
              <a:ext uri="{FF2B5EF4-FFF2-40B4-BE49-F238E27FC236}">
                <a16:creationId xmlns:a16="http://schemas.microsoft.com/office/drawing/2014/main" id="{AC9C06AE-7375-5080-9B5C-BB2CF3EF6AC3}"/>
              </a:ext>
            </a:extLst>
          </p:cNvPr>
          <p:cNvSpPr txBox="1"/>
          <p:nvPr/>
        </p:nvSpPr>
        <p:spPr>
          <a:xfrm>
            <a:off x="5379207" y="1455723"/>
            <a:ext cx="3769534" cy="1019510"/>
          </a:xfrm>
          <a:prstGeom prst="rect">
            <a:avLst/>
          </a:prstGeom>
          <a:noFill/>
        </p:spPr>
        <p:txBody>
          <a:bodyPr wrap="square" lIns="91440" tIns="45720" rIns="91440" bIns="45720" rtlCol="0" anchor="t">
            <a:spAutoFit/>
          </a:bodyPr>
          <a:lstStyle/>
          <a:p>
            <a:pPr>
              <a:lnSpc>
                <a:spcPct val="150000"/>
              </a:lnSpc>
            </a:pPr>
            <a:r>
              <a:rPr lang="ja-JP" altLang="en-US" sz="1100" b="1">
                <a:ea typeface="+mn-lt"/>
                <a:cs typeface="+mn-lt"/>
              </a:rPr>
              <a:t>懸念リスク</a:t>
            </a:r>
            <a:r>
              <a:rPr lang="ja-JP" sz="1100" b="1">
                <a:ea typeface="+mn-lt"/>
                <a:cs typeface="+mn-lt"/>
              </a:rPr>
              <a:t>②</a:t>
            </a:r>
            <a:r>
              <a:rPr lang="ja-JP" altLang="en-US" sz="1100" b="1">
                <a:ea typeface="+mn-lt"/>
                <a:cs typeface="+mn-lt"/>
              </a:rPr>
              <a:t>：</a:t>
            </a:r>
            <a:r>
              <a:rPr lang="en-US" altLang="ja-JP" sz="1100" b="1">
                <a:ea typeface="+mn-lt"/>
                <a:cs typeface="+mn-lt"/>
              </a:rPr>
              <a:t>1</a:t>
            </a:r>
            <a:r>
              <a:rPr lang="ja-JP" sz="1100" b="1">
                <a:ea typeface="+mn-lt"/>
                <a:cs typeface="+mn-lt"/>
              </a:rPr>
              <a:t>枚の紙に一覧で並べた場合</a:t>
            </a:r>
            <a:endParaRPr lang="ja-JP" b="1"/>
          </a:p>
          <a:p>
            <a:pPr>
              <a:lnSpc>
                <a:spcPct val="150000"/>
              </a:lnSpc>
            </a:pPr>
            <a:r>
              <a:rPr lang="en-US" altLang="ja-JP" sz="1000">
                <a:ea typeface="+mn-lt"/>
                <a:cs typeface="+mn-lt"/>
              </a:rPr>
              <a:t>1pt、2pt、3pt...</a:t>
            </a:r>
            <a:r>
              <a:rPr lang="ja-JP" altLang="en-US" sz="1000">
                <a:ea typeface="+mn-lt"/>
                <a:cs typeface="+mn-lt"/>
              </a:rPr>
              <a:t>と複数の</a:t>
            </a:r>
            <a:r>
              <a:rPr lang="en-US" altLang="ja-JP" sz="1000">
                <a:ea typeface="+mn-lt"/>
                <a:cs typeface="+mn-lt"/>
              </a:rPr>
              <a:t>QR</a:t>
            </a:r>
            <a:r>
              <a:rPr lang="ja-JP" altLang="en-US" sz="1000">
                <a:ea typeface="+mn-lt"/>
                <a:cs typeface="+mn-lt"/>
              </a:rPr>
              <a:t>コードを</a:t>
            </a:r>
            <a:r>
              <a:rPr lang="en-US" altLang="ja-JP" sz="1000">
                <a:ea typeface="+mn-lt"/>
                <a:cs typeface="+mn-lt"/>
              </a:rPr>
              <a:t>1</a:t>
            </a:r>
            <a:r>
              <a:rPr lang="ja-JP" altLang="en-US" sz="1000">
                <a:ea typeface="+mn-lt"/>
                <a:cs typeface="+mn-lt"/>
              </a:rPr>
              <a:t>枚のシートに並べて提示すると、スマートフォンのカ</a:t>
            </a:r>
            <a:r>
              <a:rPr lang="ja-JP" sz="1000">
                <a:ea typeface="+mn-lt"/>
                <a:cs typeface="+mn-lt"/>
              </a:rPr>
              <a:t>メラが隣のポイン</a:t>
            </a:r>
            <a:r>
              <a:rPr lang="ja-JP" altLang="en-US" sz="1000">
                <a:ea typeface="+mn-lt"/>
                <a:cs typeface="+mn-lt"/>
              </a:rPr>
              <a:t>ト数</a:t>
            </a:r>
            <a:r>
              <a:rPr lang="ja-JP" sz="1000">
                <a:ea typeface="+mn-lt"/>
                <a:cs typeface="+mn-lt"/>
              </a:rPr>
              <a:t>の</a:t>
            </a:r>
            <a:r>
              <a:rPr lang="en-US" altLang="ja-JP" sz="1000">
                <a:ea typeface="+mn-lt"/>
                <a:cs typeface="+mn-lt"/>
              </a:rPr>
              <a:t>QR</a:t>
            </a:r>
            <a:r>
              <a:rPr lang="ja-JP" sz="1000">
                <a:ea typeface="+mn-lt"/>
                <a:cs typeface="+mn-lt"/>
              </a:rPr>
              <a:t>コードを</a:t>
            </a:r>
            <a:r>
              <a:rPr lang="ja-JP" altLang="en-US" sz="1000">
                <a:ea typeface="+mn-lt"/>
                <a:cs typeface="+mn-lt"/>
              </a:rPr>
              <a:t>誤って読み</a:t>
            </a:r>
            <a:r>
              <a:rPr lang="ja-JP" sz="1000">
                <a:ea typeface="+mn-lt"/>
                <a:cs typeface="+mn-lt"/>
              </a:rPr>
              <a:t>込んでしまう可能性</a:t>
            </a:r>
            <a:r>
              <a:rPr lang="ja-JP" altLang="en-US" sz="1000">
                <a:ea typeface="+mn-lt"/>
                <a:cs typeface="+mn-lt"/>
              </a:rPr>
              <a:t>が高</a:t>
            </a:r>
            <a:r>
              <a:rPr lang="ja-JP" sz="1000">
                <a:ea typeface="+mn-lt"/>
                <a:cs typeface="+mn-lt"/>
              </a:rPr>
              <a:t>く</a:t>
            </a:r>
            <a:r>
              <a:rPr lang="ja-JP" altLang="en-US" sz="1000">
                <a:ea typeface="+mn-lt"/>
                <a:cs typeface="+mn-lt"/>
              </a:rPr>
              <a:t>な</a:t>
            </a:r>
            <a:r>
              <a:rPr lang="ja-JP" sz="1000">
                <a:ea typeface="+mn-lt"/>
                <a:cs typeface="+mn-lt"/>
              </a:rPr>
              <a:t>ります。</a:t>
            </a:r>
            <a:r>
              <a:rPr lang="ja-JP" altLang="en-US" sz="1000" dirty="0">
                <a:ea typeface="+mn-lt"/>
                <a:cs typeface="+mn-lt"/>
              </a:rPr>
              <a:t> </a:t>
            </a:r>
            <a:endParaRPr lang="ja-JP" dirty="0"/>
          </a:p>
        </p:txBody>
      </p:sp>
      <p:sp>
        <p:nvSpPr>
          <p:cNvPr id="9" name="Rounded Rectangle 13">
            <a:extLst>
              <a:ext uri="{FF2B5EF4-FFF2-40B4-BE49-F238E27FC236}">
                <a16:creationId xmlns:a16="http://schemas.microsoft.com/office/drawing/2014/main" id="{95D90D95-EB99-F404-5CD8-CE93013B9D79}"/>
              </a:ext>
            </a:extLst>
          </p:cNvPr>
          <p:cNvSpPr/>
          <p:nvPr/>
        </p:nvSpPr>
        <p:spPr>
          <a:xfrm>
            <a:off x="536776" y="1325236"/>
            <a:ext cx="4144773" cy="1499817"/>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af-ZA"/>
              <a:t>z</a:t>
            </a:r>
            <a:endParaRPr/>
          </a:p>
        </p:txBody>
      </p:sp>
      <p:sp>
        <p:nvSpPr>
          <p:cNvPr id="11" name="テキスト ボックス 10">
            <a:extLst>
              <a:ext uri="{FF2B5EF4-FFF2-40B4-BE49-F238E27FC236}">
                <a16:creationId xmlns:a16="http://schemas.microsoft.com/office/drawing/2014/main" id="{B3724CFA-A050-AD77-2C90-B20E8B1990AC}"/>
              </a:ext>
            </a:extLst>
          </p:cNvPr>
          <p:cNvSpPr txBox="1"/>
          <p:nvPr/>
        </p:nvSpPr>
        <p:spPr>
          <a:xfrm>
            <a:off x="760820" y="1454994"/>
            <a:ext cx="3769534" cy="1250342"/>
          </a:xfrm>
          <a:prstGeom prst="rect">
            <a:avLst/>
          </a:prstGeom>
          <a:noFill/>
        </p:spPr>
        <p:txBody>
          <a:bodyPr wrap="square" lIns="91440" tIns="45720" rIns="91440" bIns="45720" rtlCol="0" anchor="t">
            <a:spAutoFit/>
          </a:bodyPr>
          <a:lstStyle/>
          <a:p>
            <a:pPr>
              <a:lnSpc>
                <a:spcPct val="150000"/>
              </a:lnSpc>
            </a:pPr>
            <a:r>
              <a:rPr lang="ja-JP" altLang="en-US" sz="1100" b="1">
                <a:ea typeface="+mn-lt"/>
                <a:cs typeface="+mn-lt"/>
              </a:rPr>
              <a:t>懸念リスク</a:t>
            </a:r>
            <a:r>
              <a:rPr lang="ja-JP" sz="1100" b="1">
                <a:ea typeface="+mn-lt"/>
                <a:cs typeface="+mn-lt"/>
              </a:rPr>
              <a:t>①</a:t>
            </a:r>
            <a:r>
              <a:rPr lang="ja-JP" altLang="en-US" sz="1100" b="1">
                <a:ea typeface="+mn-lt"/>
                <a:cs typeface="+mn-lt"/>
              </a:rPr>
              <a:t>：</a:t>
            </a:r>
            <a:r>
              <a:rPr lang="ja-JP" sz="1100" b="1">
                <a:ea typeface="+mn-lt"/>
                <a:cs typeface="+mn-lt"/>
              </a:rPr>
              <a:t>レジ横に置きっぱなしにした場合</a:t>
            </a:r>
            <a:endParaRPr lang="ja-JP" b="1"/>
          </a:p>
          <a:p>
            <a:pPr>
              <a:lnSpc>
                <a:spcPct val="150000"/>
              </a:lnSpc>
            </a:pPr>
            <a:r>
              <a:rPr lang="ja-JP" sz="1000">
                <a:ea typeface="+mn-lt"/>
                <a:cs typeface="+mn-lt"/>
              </a:rPr>
              <a:t>ポイント付与用の</a:t>
            </a:r>
            <a:r>
              <a:rPr lang="en-US" altLang="ja-JP" sz="1000">
                <a:ea typeface="+mn-lt"/>
                <a:cs typeface="+mn-lt"/>
              </a:rPr>
              <a:t>QR</a:t>
            </a:r>
            <a:r>
              <a:rPr lang="ja-JP" sz="1000">
                <a:ea typeface="+mn-lt"/>
                <a:cs typeface="+mn-lt"/>
              </a:rPr>
              <a:t>コードをレジ横や卓上に常時設置しておくと、お会計をしていないお客様や順番待ちの間に勝手に読み取られてしまい、不正にポイントを貯められてしまうリスクがあります。 </a:t>
            </a:r>
            <a:endParaRPr lang="ja-JP">
              <a:ea typeface="+mn-lt"/>
              <a:cs typeface="+mn-lt"/>
            </a:endParaRPr>
          </a:p>
        </p:txBody>
      </p:sp>
      <p:sp>
        <p:nvSpPr>
          <p:cNvPr id="12" name="矢印: 下 11">
            <a:extLst>
              <a:ext uri="{FF2B5EF4-FFF2-40B4-BE49-F238E27FC236}">
                <a16:creationId xmlns:a16="http://schemas.microsoft.com/office/drawing/2014/main" id="{02C384AF-8A8F-5C62-14D0-AF4E1279EC46}"/>
              </a:ext>
            </a:extLst>
          </p:cNvPr>
          <p:cNvSpPr/>
          <p:nvPr/>
        </p:nvSpPr>
        <p:spPr>
          <a:xfrm>
            <a:off x="4639694" y="2958020"/>
            <a:ext cx="586201" cy="470631"/>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1" name="Rectangle 11">
            <a:extLst>
              <a:ext uri="{FF2B5EF4-FFF2-40B4-BE49-F238E27FC236}">
                <a16:creationId xmlns:a16="http://schemas.microsoft.com/office/drawing/2014/main" id="{F5E18497-297F-966B-81A6-EE218DDB159F}"/>
              </a:ext>
            </a:extLst>
          </p:cNvPr>
          <p:cNvSpPr/>
          <p:nvPr/>
        </p:nvSpPr>
        <p:spPr>
          <a:xfrm>
            <a:off x="227573" y="3591733"/>
            <a:ext cx="9406978" cy="486771"/>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nSpc>
                <a:spcPct val="125000"/>
              </a:lnSpc>
              <a:defRPr sz="1400" b="1">
                <a:solidFill>
                  <a:srgbClr val="FFFFFF"/>
                </a:solidFill>
                <a:latin typeface="Meiryo"/>
              </a:defRPr>
            </a:pPr>
            <a:r>
              <a:rPr lang="ja-JP">
                <a:ea typeface="+mn-lt"/>
                <a:cs typeface="+mn-lt"/>
              </a:rPr>
              <a:t>■</a:t>
            </a:r>
            <a:r>
              <a:rPr lang="ja-JP" altLang="en-US">
                <a:ea typeface="+mn-lt"/>
                <a:cs typeface="+mn-lt"/>
              </a:rPr>
              <a:t>ご提案</a:t>
            </a:r>
            <a:r>
              <a:rPr lang="ja-JP">
                <a:ea typeface="+mn-lt"/>
                <a:cs typeface="+mn-lt"/>
              </a:rPr>
              <a:t>：</a:t>
            </a:r>
            <a:r>
              <a:rPr lang="en-US" altLang="ja-JP">
                <a:ea typeface="+mn-lt"/>
                <a:cs typeface="+mn-lt"/>
              </a:rPr>
              <a:t>1</a:t>
            </a:r>
            <a:r>
              <a:rPr lang="ja-JP" altLang="en-US">
                <a:ea typeface="+mn-lt"/>
                <a:cs typeface="+mn-lt"/>
              </a:rPr>
              <a:t>枚ずつ</a:t>
            </a:r>
            <a:r>
              <a:rPr lang="ja-JP">
                <a:ea typeface="+mn-lt"/>
                <a:cs typeface="+mn-lt"/>
              </a:rPr>
              <a:t>ラミネート</a:t>
            </a:r>
            <a:r>
              <a:rPr lang="ja-JP" altLang="en-US">
                <a:ea typeface="+mn-lt"/>
                <a:cs typeface="+mn-lt"/>
              </a:rPr>
              <a:t>し、</a:t>
            </a:r>
            <a:r>
              <a:rPr lang="ja-JP">
                <a:ea typeface="+mn-lt"/>
                <a:cs typeface="+mn-lt"/>
              </a:rPr>
              <a:t>単語帳</a:t>
            </a:r>
            <a:r>
              <a:rPr lang="ja-JP" altLang="en-US">
                <a:ea typeface="+mn-lt"/>
                <a:cs typeface="+mn-lt"/>
              </a:rPr>
              <a:t>のように</a:t>
            </a:r>
            <a:r>
              <a:rPr lang="ja-JP">
                <a:ea typeface="+mn-lt"/>
                <a:cs typeface="+mn-lt"/>
              </a:rPr>
              <a:t>リングで</a:t>
            </a:r>
            <a:r>
              <a:rPr lang="ja-JP" altLang="en-US">
                <a:ea typeface="+mn-lt"/>
                <a:cs typeface="+mn-lt"/>
              </a:rPr>
              <a:t>まとめて</a:t>
            </a:r>
            <a:r>
              <a:rPr lang="ja-JP">
                <a:ea typeface="+mn-lt"/>
                <a:cs typeface="+mn-lt"/>
              </a:rPr>
              <a:t>レジ裏</a:t>
            </a:r>
            <a:r>
              <a:rPr lang="ja-JP" altLang="en-US">
                <a:ea typeface="+mn-lt"/>
                <a:cs typeface="+mn-lt"/>
              </a:rPr>
              <a:t>で</a:t>
            </a:r>
            <a:r>
              <a:rPr lang="ja-JP">
                <a:ea typeface="+mn-lt"/>
                <a:cs typeface="+mn-lt"/>
              </a:rPr>
              <a:t>保管</a:t>
            </a:r>
          </a:p>
        </p:txBody>
      </p:sp>
      <p:sp>
        <p:nvSpPr>
          <p:cNvPr id="48" name="正方形/長方形 47">
            <a:extLst>
              <a:ext uri="{FF2B5EF4-FFF2-40B4-BE49-F238E27FC236}">
                <a16:creationId xmlns:a16="http://schemas.microsoft.com/office/drawing/2014/main" id="{3ED82DD1-92F7-97BC-B924-C176C7EA9C6F}"/>
              </a:ext>
            </a:extLst>
          </p:cNvPr>
          <p:cNvSpPr/>
          <p:nvPr/>
        </p:nvSpPr>
        <p:spPr>
          <a:xfrm>
            <a:off x="232107" y="4073412"/>
            <a:ext cx="9405899" cy="1977525"/>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9" name="Rounded Rectangle 13">
            <a:extLst>
              <a:ext uri="{FF2B5EF4-FFF2-40B4-BE49-F238E27FC236}">
                <a16:creationId xmlns:a16="http://schemas.microsoft.com/office/drawing/2014/main" id="{320103A5-6D1C-DAE0-8ABE-3EC0C20E90A6}"/>
              </a:ext>
            </a:extLst>
          </p:cNvPr>
          <p:cNvSpPr/>
          <p:nvPr/>
        </p:nvSpPr>
        <p:spPr>
          <a:xfrm>
            <a:off x="351466" y="4288273"/>
            <a:ext cx="2991663" cy="1410209"/>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af-ZA" dirty="0"/>
          </a:p>
        </p:txBody>
      </p:sp>
      <p:sp>
        <p:nvSpPr>
          <p:cNvPr id="50" name="テキスト ボックス 49">
            <a:extLst>
              <a:ext uri="{FF2B5EF4-FFF2-40B4-BE49-F238E27FC236}">
                <a16:creationId xmlns:a16="http://schemas.microsoft.com/office/drawing/2014/main" id="{691CAB2B-481F-B70B-839B-398D12910415}"/>
              </a:ext>
            </a:extLst>
          </p:cNvPr>
          <p:cNvSpPr txBox="1"/>
          <p:nvPr/>
        </p:nvSpPr>
        <p:spPr>
          <a:xfrm>
            <a:off x="509763" y="4370240"/>
            <a:ext cx="2682144" cy="1250342"/>
          </a:xfrm>
          <a:prstGeom prst="rect">
            <a:avLst/>
          </a:prstGeom>
          <a:noFill/>
        </p:spPr>
        <p:txBody>
          <a:bodyPr wrap="square" lIns="91440" tIns="45720" rIns="91440" bIns="45720" rtlCol="0" anchor="t">
            <a:spAutoFit/>
          </a:bodyPr>
          <a:lstStyle/>
          <a:p>
            <a:pPr>
              <a:lnSpc>
                <a:spcPct val="150000"/>
              </a:lnSpc>
            </a:pPr>
            <a:r>
              <a:rPr lang="ja-JP" sz="1100" b="1">
                <a:ea typeface="+mn-lt"/>
                <a:cs typeface="+mn-lt"/>
              </a:rPr>
              <a:t>STEP 1：1枚ずつラミネート加工</a:t>
            </a:r>
            <a:endParaRPr lang="ja-JP" altLang="en-US" b="1">
              <a:ea typeface="+mn-lt"/>
              <a:cs typeface="+mn-lt"/>
            </a:endParaRPr>
          </a:p>
          <a:p>
            <a:pPr>
              <a:lnSpc>
                <a:spcPct val="150000"/>
              </a:lnSpc>
            </a:pPr>
            <a:r>
              <a:rPr lang="ja-JP" altLang="en-US" sz="1000">
                <a:ea typeface="+mn-lt"/>
                <a:cs typeface="+mn-lt"/>
              </a:rPr>
              <a:t>付与</a:t>
            </a:r>
            <a:r>
              <a:rPr lang="ja-JP" sz="1000">
                <a:ea typeface="+mn-lt"/>
                <a:cs typeface="+mn-lt"/>
              </a:rPr>
              <a:t>ポイント</a:t>
            </a:r>
            <a:r>
              <a:rPr lang="ja-JP" altLang="en-US" sz="1000">
                <a:ea typeface="+mn-lt"/>
                <a:cs typeface="+mn-lt"/>
              </a:rPr>
              <a:t>ご</a:t>
            </a:r>
            <a:r>
              <a:rPr lang="ja-JP" sz="1000">
                <a:ea typeface="+mn-lt"/>
                <a:cs typeface="+mn-lt"/>
              </a:rPr>
              <a:t>と（1pt〜5pt等）に</a:t>
            </a:r>
            <a:r>
              <a:rPr lang="ja-JP" altLang="en-US" sz="1000">
                <a:ea typeface="+mn-lt"/>
                <a:cs typeface="+mn-lt"/>
              </a:rPr>
              <a:t>ハガキサイズ等で「</a:t>
            </a:r>
            <a:r>
              <a:rPr lang="ja-JP" sz="1000">
                <a:ea typeface="+mn-lt"/>
                <a:cs typeface="+mn-lt"/>
              </a:rPr>
              <a:t>ポイント</a:t>
            </a:r>
            <a:r>
              <a:rPr lang="ja-JP" altLang="en-US" sz="1000">
                <a:ea typeface="+mn-lt"/>
                <a:cs typeface="+mn-lt"/>
              </a:rPr>
              <a:t>数＋大きな</a:t>
            </a:r>
            <a:r>
              <a:rPr lang="en-US" altLang="ja-JP" sz="1000">
                <a:ea typeface="+mn-lt"/>
                <a:cs typeface="+mn-lt"/>
              </a:rPr>
              <a:t>QR</a:t>
            </a:r>
            <a:r>
              <a:rPr lang="ja-JP" altLang="en-US" sz="1000">
                <a:ea typeface="+mn-lt"/>
                <a:cs typeface="+mn-lt"/>
              </a:rPr>
              <a:t>コード」</a:t>
            </a:r>
            <a:r>
              <a:rPr lang="ja-JP" sz="1000">
                <a:ea typeface="+mn-lt"/>
                <a:cs typeface="+mn-lt"/>
              </a:rPr>
              <a:t>を</a:t>
            </a:r>
            <a:r>
              <a:rPr lang="en-US" altLang="ja-JP" sz="1000">
                <a:ea typeface="+mn-lt"/>
                <a:cs typeface="+mn-lt"/>
              </a:rPr>
              <a:t>1</a:t>
            </a:r>
            <a:r>
              <a:rPr lang="ja-JP" altLang="en-US" sz="1000">
                <a:ea typeface="+mn-lt"/>
                <a:cs typeface="+mn-lt"/>
              </a:rPr>
              <a:t>枚ずつ作成し、ラミネート加工</a:t>
            </a:r>
            <a:r>
              <a:rPr lang="ja-JP" sz="1000">
                <a:ea typeface="+mn-lt"/>
                <a:cs typeface="+mn-lt"/>
              </a:rPr>
              <a:t>します</a:t>
            </a:r>
            <a:r>
              <a:rPr lang="ja-JP" altLang="en-US" sz="1000">
                <a:ea typeface="+mn-lt"/>
                <a:cs typeface="+mn-lt"/>
              </a:rPr>
              <a:t>。</a:t>
            </a:r>
            <a:endParaRPr lang="ja-JP" sz="1000">
              <a:ea typeface="+mn-lt"/>
              <a:cs typeface="+mn-lt"/>
            </a:endParaRPr>
          </a:p>
        </p:txBody>
      </p:sp>
      <p:sp>
        <p:nvSpPr>
          <p:cNvPr id="51" name="Rounded Rectangle 13">
            <a:extLst>
              <a:ext uri="{FF2B5EF4-FFF2-40B4-BE49-F238E27FC236}">
                <a16:creationId xmlns:a16="http://schemas.microsoft.com/office/drawing/2014/main" id="{0882ACC7-D8E6-57DF-BA80-86178B60F22F}"/>
              </a:ext>
            </a:extLst>
          </p:cNvPr>
          <p:cNvSpPr/>
          <p:nvPr/>
        </p:nvSpPr>
        <p:spPr>
          <a:xfrm>
            <a:off x="3458217" y="4288273"/>
            <a:ext cx="2973739" cy="1428131"/>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af-ZA" dirty="0"/>
          </a:p>
        </p:txBody>
      </p:sp>
      <p:sp>
        <p:nvSpPr>
          <p:cNvPr id="52" name="テキスト ボックス 51">
            <a:extLst>
              <a:ext uri="{FF2B5EF4-FFF2-40B4-BE49-F238E27FC236}">
                <a16:creationId xmlns:a16="http://schemas.microsoft.com/office/drawing/2014/main" id="{C86C017B-FF77-D6FF-DC94-A8953EC10D1E}"/>
              </a:ext>
            </a:extLst>
          </p:cNvPr>
          <p:cNvSpPr txBox="1"/>
          <p:nvPr/>
        </p:nvSpPr>
        <p:spPr>
          <a:xfrm>
            <a:off x="3610518" y="4370240"/>
            <a:ext cx="2682144" cy="1250342"/>
          </a:xfrm>
          <a:prstGeom prst="rect">
            <a:avLst/>
          </a:prstGeom>
          <a:noFill/>
        </p:spPr>
        <p:txBody>
          <a:bodyPr wrap="square" lIns="91440" tIns="45720" rIns="91440" bIns="45720" rtlCol="0" anchor="t">
            <a:spAutoFit/>
          </a:bodyPr>
          <a:lstStyle/>
          <a:p>
            <a:pPr>
              <a:lnSpc>
                <a:spcPct val="150000"/>
              </a:lnSpc>
            </a:pPr>
            <a:r>
              <a:rPr lang="ja-JP" sz="1100" b="1">
                <a:ea typeface="+mn-lt"/>
                <a:cs typeface="+mn-lt"/>
              </a:rPr>
              <a:t>STEP </a:t>
            </a:r>
            <a:r>
              <a:rPr lang="en-US" altLang="ja-JP" sz="1100" b="1">
                <a:ea typeface="+mn-lt"/>
                <a:cs typeface="+mn-lt"/>
              </a:rPr>
              <a:t>2</a:t>
            </a:r>
            <a:r>
              <a:rPr lang="ja-JP" sz="1100" b="1">
                <a:ea typeface="+mn-lt"/>
                <a:cs typeface="+mn-lt"/>
              </a:rPr>
              <a:t>：</a:t>
            </a:r>
            <a:r>
              <a:rPr lang="ja-JP" altLang="en-US" sz="1100" b="1">
                <a:ea typeface="+mn-lt"/>
                <a:cs typeface="+mn-lt"/>
              </a:rPr>
              <a:t>リングでまとめレジ裏保管 </a:t>
            </a:r>
            <a:endParaRPr lang="ja-JP" b="1"/>
          </a:p>
          <a:p>
            <a:pPr>
              <a:lnSpc>
                <a:spcPct val="150000"/>
              </a:lnSpc>
            </a:pPr>
            <a:r>
              <a:rPr lang="ja-JP" sz="1000">
                <a:ea typeface="+mn-lt"/>
                <a:cs typeface="+mn-lt"/>
              </a:rPr>
              <a:t>穴あ</a:t>
            </a:r>
            <a:r>
              <a:rPr lang="ja-JP" altLang="en-US" sz="1000">
                <a:ea typeface="+mn-lt"/>
                <a:cs typeface="+mn-lt"/>
              </a:rPr>
              <a:t>けパ</a:t>
            </a:r>
            <a:r>
              <a:rPr lang="ja-JP" sz="1000">
                <a:ea typeface="+mn-lt"/>
                <a:cs typeface="+mn-lt"/>
              </a:rPr>
              <a:t>ン</a:t>
            </a:r>
            <a:r>
              <a:rPr lang="ja-JP" altLang="en-US" sz="1000">
                <a:ea typeface="+mn-lt"/>
                <a:cs typeface="+mn-lt"/>
              </a:rPr>
              <a:t>チ</a:t>
            </a:r>
            <a:r>
              <a:rPr lang="ja-JP" sz="1000">
                <a:ea typeface="+mn-lt"/>
                <a:cs typeface="+mn-lt"/>
              </a:rPr>
              <a:t>で穴を開けて金属リン</a:t>
            </a:r>
            <a:r>
              <a:rPr lang="ja-JP" altLang="en-US" sz="1000">
                <a:ea typeface="+mn-lt"/>
                <a:cs typeface="+mn-lt"/>
              </a:rPr>
              <a:t>グ</a:t>
            </a:r>
            <a:r>
              <a:rPr lang="ja-JP" sz="1000">
                <a:ea typeface="+mn-lt"/>
                <a:cs typeface="+mn-lt"/>
              </a:rPr>
              <a:t>を</a:t>
            </a:r>
            <a:r>
              <a:rPr lang="ja-JP" altLang="en-US" sz="1000">
                <a:ea typeface="+mn-lt"/>
                <a:cs typeface="+mn-lt"/>
              </a:rPr>
              <a:t>通</a:t>
            </a:r>
            <a:r>
              <a:rPr lang="ja-JP" sz="1000">
                <a:ea typeface="+mn-lt"/>
                <a:cs typeface="+mn-lt"/>
              </a:rPr>
              <a:t>し、単語帳のようにまとめます。普段はレジ裏で保管することで、お客様による勝手な読み取りを</a:t>
            </a:r>
            <a:r>
              <a:rPr lang="ja-JP" sz="1000">
                <a:latin typeface="Meiryo"/>
                <a:ea typeface="Meiryo"/>
                <a:cs typeface="+mn-lt"/>
              </a:rPr>
              <a:t>防ぐことができます。</a:t>
            </a:r>
          </a:p>
        </p:txBody>
      </p:sp>
      <p:sp>
        <p:nvSpPr>
          <p:cNvPr id="53" name="Rounded Rectangle 13">
            <a:extLst>
              <a:ext uri="{FF2B5EF4-FFF2-40B4-BE49-F238E27FC236}">
                <a16:creationId xmlns:a16="http://schemas.microsoft.com/office/drawing/2014/main" id="{41FB58DD-7D1E-C27C-2E2C-50503DA3F874}"/>
              </a:ext>
            </a:extLst>
          </p:cNvPr>
          <p:cNvSpPr/>
          <p:nvPr/>
        </p:nvSpPr>
        <p:spPr>
          <a:xfrm>
            <a:off x="6546621" y="4282298"/>
            <a:ext cx="2991663" cy="1440080"/>
          </a:xfrm>
          <a:prstGeom prst="roundRect">
            <a:avLst/>
          </a:prstGeom>
          <a:solidFill>
            <a:schemeClr val="bg1">
              <a:lumMod val="9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af-ZA" dirty="0"/>
          </a:p>
        </p:txBody>
      </p:sp>
      <p:sp>
        <p:nvSpPr>
          <p:cNvPr id="54" name="テキスト ボックス 53">
            <a:extLst>
              <a:ext uri="{FF2B5EF4-FFF2-40B4-BE49-F238E27FC236}">
                <a16:creationId xmlns:a16="http://schemas.microsoft.com/office/drawing/2014/main" id="{E1CFEA11-01EE-542B-9076-0DC13B3ED74A}"/>
              </a:ext>
            </a:extLst>
          </p:cNvPr>
          <p:cNvSpPr txBox="1"/>
          <p:nvPr/>
        </p:nvSpPr>
        <p:spPr>
          <a:xfrm>
            <a:off x="6698902" y="4370238"/>
            <a:ext cx="2682144" cy="1250342"/>
          </a:xfrm>
          <a:prstGeom prst="rect">
            <a:avLst/>
          </a:prstGeom>
          <a:noFill/>
        </p:spPr>
        <p:txBody>
          <a:bodyPr wrap="square" lIns="91440" tIns="45720" rIns="91440" bIns="45720" rtlCol="0" anchor="t">
            <a:spAutoFit/>
          </a:bodyPr>
          <a:lstStyle/>
          <a:p>
            <a:pPr>
              <a:lnSpc>
                <a:spcPct val="150000"/>
              </a:lnSpc>
            </a:pPr>
            <a:r>
              <a:rPr lang="ja-JP" sz="1100" b="1">
                <a:ea typeface="+mn-lt"/>
                <a:cs typeface="+mn-lt"/>
              </a:rPr>
              <a:t>STEP </a:t>
            </a:r>
            <a:r>
              <a:rPr lang="en-US" altLang="ja-JP" sz="1100" b="1">
                <a:ea typeface="+mn-lt"/>
                <a:cs typeface="+mn-lt"/>
              </a:rPr>
              <a:t>3</a:t>
            </a:r>
            <a:r>
              <a:rPr lang="ja-JP" sz="1100" b="1">
                <a:ea typeface="+mn-lt"/>
                <a:cs typeface="+mn-lt"/>
              </a:rPr>
              <a:t>：</a:t>
            </a:r>
            <a:r>
              <a:rPr lang="ja-JP" altLang="en-US" sz="1100" b="1">
                <a:ea typeface="+mn-lt"/>
                <a:cs typeface="+mn-lt"/>
              </a:rPr>
              <a:t>お会計金額に応じて提示 </a:t>
            </a:r>
            <a:endParaRPr lang="ja-JP" b="1"/>
          </a:p>
          <a:p>
            <a:pPr>
              <a:lnSpc>
                <a:spcPct val="150000"/>
              </a:lnSpc>
            </a:pPr>
            <a:r>
              <a:rPr lang="ja-JP" sz="1000">
                <a:ea typeface="+mn-lt"/>
                <a:cs typeface="+mn-lt"/>
              </a:rPr>
              <a:t>1,000円＝1ptとし、お会計</a:t>
            </a:r>
            <a:r>
              <a:rPr lang="en-US" altLang="ja-JP" sz="1000">
                <a:ea typeface="+mn-lt"/>
                <a:cs typeface="+mn-lt"/>
              </a:rPr>
              <a:t>2,000</a:t>
            </a:r>
            <a:r>
              <a:rPr lang="ja-JP" sz="1000">
                <a:ea typeface="+mn-lt"/>
                <a:cs typeface="+mn-lt"/>
              </a:rPr>
              <a:t>円なら「</a:t>
            </a:r>
            <a:r>
              <a:rPr lang="en-US" altLang="ja-JP" sz="1000">
                <a:ea typeface="+mn-lt"/>
                <a:cs typeface="+mn-lt"/>
              </a:rPr>
              <a:t>2pt</a:t>
            </a:r>
            <a:r>
              <a:rPr lang="ja-JP" sz="1000">
                <a:ea typeface="+mn-lt"/>
                <a:cs typeface="+mn-lt"/>
              </a:rPr>
              <a:t>」、5,000円なら「5pt</a:t>
            </a:r>
            <a:r>
              <a:rPr lang="ja-JP" altLang="en-US" sz="1000">
                <a:ea typeface="+mn-lt"/>
                <a:cs typeface="+mn-lt"/>
              </a:rPr>
              <a:t>」</a:t>
            </a:r>
            <a:r>
              <a:rPr lang="ja-JP" sz="1000">
                <a:ea typeface="+mn-lt"/>
                <a:cs typeface="+mn-lt"/>
              </a:rPr>
              <a:t>のカードをスタッフ様がめくって提示</a:t>
            </a:r>
            <a:r>
              <a:rPr lang="ja-JP" altLang="en-US" sz="1000">
                <a:ea typeface="+mn-lt"/>
                <a:cs typeface="+mn-lt"/>
              </a:rPr>
              <a:t>する</a:t>
            </a:r>
            <a:r>
              <a:rPr lang="ja-JP" sz="1000">
                <a:ea typeface="+mn-lt"/>
                <a:cs typeface="+mn-lt"/>
              </a:rPr>
              <a:t>形で</a:t>
            </a:r>
            <a:r>
              <a:rPr lang="ja-JP" altLang="en-US" sz="1000">
                <a:ea typeface="+mn-lt"/>
                <a:cs typeface="+mn-lt"/>
              </a:rPr>
              <a:t>、誤読込も防ぐことができます。</a:t>
            </a:r>
          </a:p>
        </p:txBody>
      </p:sp>
    </p:spTree>
    <p:extLst>
      <p:ext uri="{BB962C8B-B14F-4D97-AF65-F5344CB8AC3E}">
        <p14:creationId xmlns:p14="http://schemas.microsoft.com/office/powerpoint/2010/main" val="1877064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1D57-5A33-8729-43F2-C2A2FA1AA7EC}"/>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7232F701-B778-7ABB-27BB-ADA102EEAFEA}"/>
              </a:ext>
            </a:extLst>
          </p:cNvPr>
          <p:cNvSpPr txBox="1"/>
          <p:nvPr/>
        </p:nvSpPr>
        <p:spPr>
          <a:xfrm>
            <a:off x="227573" y="44659"/>
            <a:ext cx="5620449" cy="307777"/>
          </a:xfrm>
          <a:prstGeom prst="rect">
            <a:avLst/>
          </a:prstGeom>
          <a:noFill/>
        </p:spPr>
        <p:txBody>
          <a:bodyPr wrap="none" lIns="91440" tIns="45720" rIns="91440" bIns="45720" rtlCol="0" anchor="t">
            <a:spAutoFit/>
          </a:bodyPr>
          <a:lstStyle/>
          <a:p>
            <a:r>
              <a:rPr kumimoji="1" lang="en-US" altLang="ja-JP" sz="1400" b="1"/>
              <a:t>4. </a:t>
            </a:r>
            <a:r>
              <a:rPr kumimoji="1" lang="ja-JP" altLang="en-US" sz="1400" b="1">
                <a:ea typeface="+mn-lt"/>
                <a:cs typeface="+mn-lt"/>
              </a:rPr>
              <a:t>店頭設置用</a:t>
            </a:r>
            <a:r>
              <a:rPr kumimoji="1" lang="en-US" altLang="ja-JP" sz="1400" b="1">
                <a:ea typeface="+mn-lt"/>
                <a:cs typeface="+mn-lt"/>
              </a:rPr>
              <a:t>POP</a:t>
            </a:r>
            <a:r>
              <a:rPr kumimoji="1" lang="ja-JP" altLang="en-US" sz="1400" b="1">
                <a:ea typeface="+mn-lt"/>
                <a:cs typeface="+mn-lt"/>
              </a:rPr>
              <a:t>・ショップカードのデザイン案（</a:t>
            </a:r>
            <a:r>
              <a:rPr kumimoji="1" lang="en-US" altLang="ja-JP" sz="1400" b="1">
                <a:ea typeface="+mn-lt"/>
                <a:cs typeface="+mn-lt"/>
              </a:rPr>
              <a:t>3</a:t>
            </a:r>
            <a:r>
              <a:rPr kumimoji="1" lang="ja-JP" altLang="en-US" sz="1400" b="1">
                <a:ea typeface="+mn-lt"/>
                <a:cs typeface="+mn-lt"/>
              </a:rPr>
              <a:t>サイズ展開）</a:t>
            </a:r>
            <a:r>
              <a:rPr kumimoji="1" lang="en-US" altLang="ja-JP" sz="1400" b="1" dirty="0">
                <a:ea typeface="+mn-lt"/>
                <a:cs typeface="+mn-lt"/>
              </a:rPr>
              <a:t> </a:t>
            </a:r>
            <a:endParaRPr lang="en-US" altLang="ja-JP" sz="1400" b="1"/>
          </a:p>
        </p:txBody>
      </p:sp>
      <p:sp>
        <p:nvSpPr>
          <p:cNvPr id="5" name="テキスト ボックス 4">
            <a:extLst>
              <a:ext uri="{FF2B5EF4-FFF2-40B4-BE49-F238E27FC236}">
                <a16:creationId xmlns:a16="http://schemas.microsoft.com/office/drawing/2014/main" id="{9C07FCE5-12F4-6F69-F8AA-3647EB8207D7}"/>
              </a:ext>
            </a:extLst>
          </p:cNvPr>
          <p:cNvSpPr txBox="1"/>
          <p:nvPr/>
        </p:nvSpPr>
        <p:spPr>
          <a:xfrm>
            <a:off x="226830" y="499441"/>
            <a:ext cx="4725427" cy="338554"/>
          </a:xfrm>
          <a:prstGeom prst="rect">
            <a:avLst/>
          </a:prstGeom>
          <a:noFill/>
        </p:spPr>
        <p:txBody>
          <a:bodyPr wrap="square" lIns="91440" tIns="45720" rIns="91440" bIns="45720" anchor="t">
            <a:spAutoFit/>
          </a:bodyPr>
          <a:lstStyle/>
          <a:p>
            <a:pPr>
              <a:defRPr sz="1300" b="0">
                <a:solidFill>
                  <a:srgbClr val="2B2B2B"/>
                </a:solidFill>
                <a:latin typeface="Meiryo"/>
              </a:defRPr>
            </a:pPr>
            <a:r>
              <a:rPr lang="ja-JP" sz="1600" i="0" u="none" strike="noStrike" baseline="0">
                <a:ea typeface="+mn-lt"/>
                <a:cs typeface="+mn-lt"/>
              </a:rPr>
              <a:t>■</a:t>
            </a:r>
            <a:r>
              <a:rPr lang="ja-JP" altLang="en-US" sz="1600">
                <a:ea typeface="+mn-lt"/>
                <a:cs typeface="+mn-lt"/>
              </a:rPr>
              <a:t>設置場所と用途</a:t>
            </a:r>
            <a:r>
              <a:rPr lang="ja-JP" sz="1600">
                <a:ea typeface="+mn-lt"/>
                <a:cs typeface="+mn-lt"/>
              </a:rPr>
              <a:t>に</a:t>
            </a:r>
            <a:r>
              <a:rPr lang="ja-JP" altLang="en-US" sz="1600">
                <a:ea typeface="+mn-lt"/>
                <a:cs typeface="+mn-lt"/>
              </a:rPr>
              <a:t>最適化し</a:t>
            </a:r>
            <a:r>
              <a:rPr lang="ja-JP" sz="1600">
                <a:ea typeface="+mn-lt"/>
                <a:cs typeface="+mn-lt"/>
              </a:rPr>
              <a:t>た</a:t>
            </a:r>
            <a:r>
              <a:rPr lang="en-US" altLang="ja-JP" sz="1600">
                <a:ea typeface="+mn-lt"/>
                <a:cs typeface="+mn-lt"/>
              </a:rPr>
              <a:t>3</a:t>
            </a:r>
            <a:r>
              <a:rPr lang="ja-JP" altLang="en-US" sz="1600">
                <a:ea typeface="+mn-lt"/>
                <a:cs typeface="+mn-lt"/>
              </a:rPr>
              <a:t>つのサイズ展開 </a:t>
            </a:r>
            <a:endParaRPr lang="ja-JP"/>
          </a:p>
        </p:txBody>
      </p:sp>
      <p:sp>
        <p:nvSpPr>
          <p:cNvPr id="11" name="テキスト ボックス 10">
            <a:extLst>
              <a:ext uri="{FF2B5EF4-FFF2-40B4-BE49-F238E27FC236}">
                <a16:creationId xmlns:a16="http://schemas.microsoft.com/office/drawing/2014/main" id="{C025495C-5C92-B250-E5E6-68F9437BC4C4}"/>
              </a:ext>
            </a:extLst>
          </p:cNvPr>
          <p:cNvSpPr txBox="1"/>
          <p:nvPr/>
        </p:nvSpPr>
        <p:spPr>
          <a:xfrm>
            <a:off x="324669" y="971111"/>
            <a:ext cx="4169836" cy="879087"/>
          </a:xfrm>
          <a:prstGeom prst="rect">
            <a:avLst/>
          </a:prstGeom>
          <a:noFill/>
        </p:spPr>
        <p:txBody>
          <a:bodyPr wrap="square" lIns="91440" tIns="45720" rIns="91440" bIns="45720" rtlCol="0" anchor="t">
            <a:spAutoFit/>
          </a:bodyPr>
          <a:lstStyle/>
          <a:p>
            <a:pPr>
              <a:lnSpc>
                <a:spcPct val="150000"/>
              </a:lnSpc>
            </a:pPr>
            <a:r>
              <a:rPr lang="ja-JP" sz="1300" b="1" dirty="0">
                <a:ea typeface="+mn-lt"/>
                <a:cs typeface="+mn-lt"/>
              </a:rPr>
              <a:t>① </a:t>
            </a:r>
            <a:r>
              <a:rPr lang="en-US" altLang="ja-JP" sz="1300" b="1">
                <a:ea typeface="+mn-lt"/>
                <a:cs typeface="+mn-lt"/>
              </a:rPr>
              <a:t>A5</a:t>
            </a:r>
            <a:r>
              <a:rPr lang="ja-JP" altLang="en-US" sz="1300" b="1">
                <a:ea typeface="+mn-lt"/>
                <a:cs typeface="+mn-lt"/>
              </a:rPr>
              <a:t>サイズ</a:t>
            </a:r>
            <a:r>
              <a:rPr lang="en-US" altLang="ja-JP" sz="1300" b="1">
                <a:ea typeface="+mn-lt"/>
                <a:cs typeface="+mn-lt"/>
              </a:rPr>
              <a:t>【</a:t>
            </a:r>
            <a:r>
              <a:rPr lang="ja-JP" altLang="en-US" sz="1300" b="1">
                <a:ea typeface="+mn-lt"/>
                <a:cs typeface="+mn-lt"/>
              </a:rPr>
              <a:t>客席テーブル上・店内壁面用</a:t>
            </a:r>
            <a:r>
              <a:rPr lang="en-US" altLang="ja-JP" sz="1300" b="1">
                <a:ea typeface="+mn-lt"/>
                <a:cs typeface="+mn-lt"/>
              </a:rPr>
              <a:t>】</a:t>
            </a:r>
            <a:r>
              <a:rPr lang="ja-JP" altLang="en-US" sz="1300" b="1" dirty="0">
                <a:ea typeface="+mn-lt"/>
                <a:cs typeface="+mn-lt"/>
              </a:rPr>
              <a:t> </a:t>
            </a:r>
            <a:endParaRPr lang="ja-JP" sz="1300" b="1"/>
          </a:p>
          <a:p>
            <a:pPr>
              <a:lnSpc>
                <a:spcPct val="150000"/>
              </a:lnSpc>
            </a:pPr>
            <a:r>
              <a:rPr lang="ja-JP" altLang="en-US" sz="1100">
                <a:ea typeface="+mn-lt"/>
                <a:cs typeface="+mn-lt"/>
              </a:rPr>
              <a:t>お食事のテーブルや壁面に置</a:t>
            </a:r>
            <a:r>
              <a:rPr lang="ja-JP" sz="1100">
                <a:ea typeface="+mn-lt"/>
                <a:cs typeface="+mn-lt"/>
              </a:rPr>
              <a:t>い</a:t>
            </a:r>
            <a:r>
              <a:rPr lang="ja-JP" altLang="en-US" sz="1100">
                <a:ea typeface="+mn-lt"/>
                <a:cs typeface="+mn-lt"/>
              </a:rPr>
              <a:t>てもメニュー表や調味料</a:t>
            </a:r>
            <a:r>
              <a:rPr lang="ja-JP" sz="1100">
                <a:ea typeface="+mn-lt"/>
                <a:cs typeface="+mn-lt"/>
              </a:rPr>
              <a:t>に</a:t>
            </a:r>
            <a:r>
              <a:rPr lang="ja-JP" altLang="en-US" sz="1100">
                <a:ea typeface="+mn-lt"/>
                <a:cs typeface="+mn-lt"/>
              </a:rPr>
              <a:t>埋もれず</a:t>
            </a:r>
            <a:r>
              <a:rPr lang="ja-JP" sz="1100">
                <a:ea typeface="+mn-lt"/>
                <a:cs typeface="+mn-lt"/>
              </a:rPr>
              <a:t>、</a:t>
            </a:r>
            <a:r>
              <a:rPr lang="ja-JP" altLang="en-US" sz="1100">
                <a:ea typeface="+mn-lt"/>
                <a:cs typeface="+mn-lt"/>
              </a:rPr>
              <a:t>離れ</a:t>
            </a:r>
            <a:r>
              <a:rPr lang="ja-JP" sz="1100">
                <a:ea typeface="+mn-lt"/>
                <a:cs typeface="+mn-lt"/>
              </a:rPr>
              <a:t>た</a:t>
            </a:r>
            <a:r>
              <a:rPr lang="ja-JP" altLang="en-US" sz="1100">
                <a:ea typeface="+mn-lt"/>
                <a:cs typeface="+mn-lt"/>
              </a:rPr>
              <a:t>場所から</a:t>
            </a:r>
            <a:r>
              <a:rPr lang="ja-JP" sz="1100">
                <a:ea typeface="+mn-lt"/>
                <a:cs typeface="+mn-lt"/>
              </a:rPr>
              <a:t>でも</a:t>
            </a:r>
            <a:r>
              <a:rPr lang="ja-JP" altLang="en-US" sz="1100">
                <a:ea typeface="+mn-lt"/>
                <a:cs typeface="+mn-lt"/>
              </a:rPr>
              <a:t>しっかり目</a:t>
            </a:r>
            <a:r>
              <a:rPr lang="ja-JP" sz="1100">
                <a:ea typeface="+mn-lt"/>
                <a:cs typeface="+mn-lt"/>
              </a:rPr>
              <a:t>に</a:t>
            </a:r>
            <a:r>
              <a:rPr lang="ja-JP" altLang="en-US" sz="1100">
                <a:ea typeface="+mn-lt"/>
                <a:cs typeface="+mn-lt"/>
              </a:rPr>
              <a:t>入るサイズ</a:t>
            </a:r>
            <a:r>
              <a:rPr lang="ja-JP" sz="1100">
                <a:ea typeface="+mn-lt"/>
                <a:cs typeface="+mn-lt"/>
              </a:rPr>
              <a:t>です。</a:t>
            </a:r>
            <a:r>
              <a:rPr lang="ja-JP" altLang="en-US" sz="1100" dirty="0">
                <a:ea typeface="+mn-lt"/>
                <a:cs typeface="+mn-lt"/>
              </a:rPr>
              <a:t> </a:t>
            </a:r>
            <a:endParaRPr lang="ja-JP" sz="1100"/>
          </a:p>
        </p:txBody>
      </p:sp>
      <p:sp>
        <p:nvSpPr>
          <p:cNvPr id="13" name="テキスト ボックス 12">
            <a:extLst>
              <a:ext uri="{FF2B5EF4-FFF2-40B4-BE49-F238E27FC236}">
                <a16:creationId xmlns:a16="http://schemas.microsoft.com/office/drawing/2014/main" id="{8A8E6F85-BB97-98CD-0E60-E7320552F44A}"/>
              </a:ext>
            </a:extLst>
          </p:cNvPr>
          <p:cNvSpPr txBox="1"/>
          <p:nvPr/>
        </p:nvSpPr>
        <p:spPr>
          <a:xfrm>
            <a:off x="324579" y="1986667"/>
            <a:ext cx="4181786" cy="625171"/>
          </a:xfrm>
          <a:prstGeom prst="rect">
            <a:avLst/>
          </a:prstGeom>
          <a:noFill/>
        </p:spPr>
        <p:txBody>
          <a:bodyPr wrap="square" lIns="91440" tIns="45720" rIns="91440" bIns="45720" rtlCol="0" anchor="t">
            <a:spAutoFit/>
          </a:bodyPr>
          <a:lstStyle/>
          <a:p>
            <a:pPr>
              <a:lnSpc>
                <a:spcPct val="150000"/>
              </a:lnSpc>
            </a:pPr>
            <a:r>
              <a:rPr lang="ja-JP" altLang="en-US" sz="1300" b="1">
                <a:ea typeface="+mn-lt"/>
                <a:cs typeface="+mn-lt"/>
              </a:rPr>
              <a:t>② ハガキ</a:t>
            </a:r>
            <a:r>
              <a:rPr lang="ja-JP" sz="1300" b="1">
                <a:ea typeface="+mn-lt"/>
                <a:cs typeface="+mn-lt"/>
              </a:rPr>
              <a:t>サイズ【レジ横などの省スペース用</a:t>
            </a:r>
            <a:r>
              <a:rPr lang="en-US" altLang="ja-JP" sz="1300" b="1">
                <a:ea typeface="+mn-lt"/>
                <a:cs typeface="+mn-lt"/>
              </a:rPr>
              <a:t>】</a:t>
            </a:r>
            <a:r>
              <a:rPr lang="ja-JP" sz="1300" b="1" dirty="0">
                <a:ea typeface="+mn-lt"/>
                <a:cs typeface="+mn-lt"/>
              </a:rPr>
              <a:t> </a:t>
            </a:r>
          </a:p>
          <a:p>
            <a:pPr>
              <a:lnSpc>
                <a:spcPct val="150000"/>
              </a:lnSpc>
            </a:pPr>
            <a:r>
              <a:rPr lang="ja-JP" sz="1100">
                <a:ea typeface="+mn-lt"/>
                <a:cs typeface="+mn-lt"/>
              </a:rPr>
              <a:t>レジ周りの</a:t>
            </a:r>
            <a:r>
              <a:rPr lang="ja-JP" altLang="en-US" sz="1100">
                <a:ea typeface="+mn-lt"/>
                <a:cs typeface="+mn-lt"/>
              </a:rPr>
              <a:t>狭</a:t>
            </a:r>
            <a:r>
              <a:rPr lang="ja-JP" sz="1100">
                <a:ea typeface="+mn-lt"/>
                <a:cs typeface="+mn-lt"/>
              </a:rPr>
              <a:t>い場所にも邪魔にならず置けるサイズです。 </a:t>
            </a:r>
          </a:p>
        </p:txBody>
      </p:sp>
      <p:sp>
        <p:nvSpPr>
          <p:cNvPr id="15" name="テキスト ボックス 14">
            <a:extLst>
              <a:ext uri="{FF2B5EF4-FFF2-40B4-BE49-F238E27FC236}">
                <a16:creationId xmlns:a16="http://schemas.microsoft.com/office/drawing/2014/main" id="{BF5118AA-CB9D-21DC-53CB-4A3F88B9FC82}"/>
              </a:ext>
            </a:extLst>
          </p:cNvPr>
          <p:cNvSpPr txBox="1"/>
          <p:nvPr/>
        </p:nvSpPr>
        <p:spPr>
          <a:xfrm>
            <a:off x="324486" y="2715478"/>
            <a:ext cx="4187760" cy="1433085"/>
          </a:xfrm>
          <a:prstGeom prst="rect">
            <a:avLst/>
          </a:prstGeom>
          <a:noFill/>
        </p:spPr>
        <p:txBody>
          <a:bodyPr wrap="square" lIns="91440" tIns="45720" rIns="91440" bIns="45720" rtlCol="0" anchor="t">
            <a:spAutoFit/>
          </a:bodyPr>
          <a:lstStyle/>
          <a:p>
            <a:pPr>
              <a:lnSpc>
                <a:spcPct val="150000"/>
              </a:lnSpc>
            </a:pPr>
            <a:r>
              <a:rPr lang="ja-JP" sz="1300" b="1" dirty="0">
                <a:ea typeface="+mn-lt"/>
                <a:cs typeface="+mn-lt"/>
              </a:rPr>
              <a:t>③ </a:t>
            </a:r>
            <a:r>
              <a:rPr lang="ja-JP" altLang="en-US" sz="1300" b="1">
                <a:ea typeface="+mn-lt"/>
                <a:cs typeface="+mn-lt"/>
              </a:rPr>
              <a:t>クレジットカー</a:t>
            </a:r>
            <a:r>
              <a:rPr lang="ja-JP" sz="1300" b="1">
                <a:ea typeface="+mn-lt"/>
                <a:cs typeface="+mn-lt"/>
              </a:rPr>
              <a:t>ドサイズ</a:t>
            </a:r>
            <a:endParaRPr lang="ja-JP" altLang="en-US"/>
          </a:p>
          <a:p>
            <a:pPr>
              <a:lnSpc>
                <a:spcPct val="150000"/>
              </a:lnSpc>
            </a:pPr>
            <a:r>
              <a:rPr lang="en-US" altLang="ja-JP" sz="1300" b="1">
                <a:ea typeface="+mn-lt"/>
                <a:cs typeface="+mn-lt"/>
              </a:rPr>
              <a:t>【</a:t>
            </a:r>
            <a:r>
              <a:rPr lang="ja-JP" altLang="en-US" sz="1300" b="1">
                <a:ea typeface="+mn-lt"/>
                <a:cs typeface="+mn-lt"/>
              </a:rPr>
              <a:t>お</a:t>
            </a:r>
            <a:r>
              <a:rPr lang="ja-JP" sz="1300" b="1">
                <a:ea typeface="+mn-lt"/>
                <a:cs typeface="+mn-lt"/>
              </a:rPr>
              <a:t>持</a:t>
            </a:r>
            <a:r>
              <a:rPr lang="ja-JP" altLang="en-US" sz="1300" b="1">
                <a:ea typeface="+mn-lt"/>
                <a:cs typeface="+mn-lt"/>
              </a:rPr>
              <a:t>ち帰り用ショップカ</a:t>
            </a:r>
            <a:r>
              <a:rPr lang="ja-JP" sz="1300" b="1">
                <a:ea typeface="+mn-lt"/>
                <a:cs typeface="+mn-lt"/>
              </a:rPr>
              <a:t>ー</a:t>
            </a:r>
            <a:r>
              <a:rPr lang="ja-JP" altLang="en-US" sz="1300" b="1">
                <a:ea typeface="+mn-lt"/>
                <a:cs typeface="+mn-lt"/>
              </a:rPr>
              <a:t>ド</a:t>
            </a:r>
            <a:r>
              <a:rPr lang="en-US" altLang="ja-JP" sz="1300" b="1">
                <a:ea typeface="+mn-lt"/>
                <a:cs typeface="+mn-lt"/>
              </a:rPr>
              <a:t>】</a:t>
            </a:r>
            <a:r>
              <a:rPr lang="ja-JP" sz="1300" b="1" dirty="0">
                <a:ea typeface="+mn-lt"/>
                <a:cs typeface="+mn-lt"/>
              </a:rPr>
              <a:t> </a:t>
            </a:r>
            <a:endParaRPr lang="ja-JP"/>
          </a:p>
          <a:p>
            <a:pPr>
              <a:lnSpc>
                <a:spcPct val="150000"/>
              </a:lnSpc>
            </a:pPr>
            <a:r>
              <a:rPr lang="ja-JP" altLang="en-US" sz="1100">
                <a:ea typeface="+mn-lt"/>
                <a:cs typeface="+mn-lt"/>
              </a:rPr>
              <a:t>一般的な名刺より一回り小さいクレカ</a:t>
            </a:r>
            <a:r>
              <a:rPr lang="ja-JP" sz="1100">
                <a:ea typeface="+mn-lt"/>
                <a:cs typeface="+mn-lt"/>
              </a:rPr>
              <a:t>サイズ</a:t>
            </a:r>
            <a:r>
              <a:rPr lang="ja-JP" altLang="en-US" sz="1100">
                <a:ea typeface="+mn-lt"/>
                <a:cs typeface="+mn-lt"/>
              </a:rPr>
              <a:t>を採用し、お客様のお財布のカードポケットに入るよう設計しました。小さい紙面でも一発で読み取れるよう</a:t>
            </a:r>
            <a:r>
              <a:rPr lang="en-US" altLang="ja-JP" sz="1100">
                <a:ea typeface="+mn-lt"/>
                <a:cs typeface="+mn-lt"/>
              </a:rPr>
              <a:t>QR</a:t>
            </a:r>
            <a:r>
              <a:rPr lang="ja-JP" altLang="en-US" sz="1100">
                <a:ea typeface="+mn-lt"/>
                <a:cs typeface="+mn-lt"/>
              </a:rPr>
              <a:t>コードを大き</a:t>
            </a:r>
            <a:r>
              <a:rPr lang="ja-JP" sz="1100">
                <a:ea typeface="+mn-lt"/>
                <a:cs typeface="+mn-lt"/>
              </a:rPr>
              <a:t>く</a:t>
            </a:r>
            <a:r>
              <a:rPr lang="ja-JP" altLang="en-US" sz="1100">
                <a:ea typeface="+mn-lt"/>
                <a:cs typeface="+mn-lt"/>
              </a:rPr>
              <a:t>配置して</a:t>
            </a:r>
            <a:r>
              <a:rPr lang="ja-JP" sz="1100">
                <a:ea typeface="+mn-lt"/>
                <a:cs typeface="+mn-lt"/>
              </a:rPr>
              <a:t>い</a:t>
            </a:r>
            <a:r>
              <a:rPr lang="ja-JP" altLang="en-US" sz="1100">
                <a:ea typeface="+mn-lt"/>
                <a:cs typeface="+mn-lt"/>
              </a:rPr>
              <a:t>ま</a:t>
            </a:r>
            <a:r>
              <a:rPr lang="ja-JP" sz="1100">
                <a:ea typeface="+mn-lt"/>
                <a:cs typeface="+mn-lt"/>
              </a:rPr>
              <a:t>す。 </a:t>
            </a:r>
            <a:endParaRPr lang="ja-JP" sz="1100"/>
          </a:p>
        </p:txBody>
      </p:sp>
      <p:sp>
        <p:nvSpPr>
          <p:cNvPr id="20" name="Rectangle 11">
            <a:extLst>
              <a:ext uri="{FF2B5EF4-FFF2-40B4-BE49-F238E27FC236}">
                <a16:creationId xmlns:a16="http://schemas.microsoft.com/office/drawing/2014/main" id="{F37AB311-8A9C-1209-265E-16D431DBF81F}"/>
              </a:ext>
            </a:extLst>
          </p:cNvPr>
          <p:cNvSpPr/>
          <p:nvPr/>
        </p:nvSpPr>
        <p:spPr>
          <a:xfrm>
            <a:off x="4716602" y="927391"/>
            <a:ext cx="4955851" cy="468846"/>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lnSpc>
                <a:spcPct val="125000"/>
              </a:lnSpc>
              <a:defRPr sz="1400" b="1">
                <a:solidFill>
                  <a:srgbClr val="FFFFFF"/>
                </a:solidFill>
                <a:latin typeface="Meiryo"/>
              </a:defRPr>
            </a:pPr>
            <a:r>
              <a:rPr lang="ja-JP" sz="1600">
                <a:ea typeface="+mn-lt"/>
                <a:cs typeface="+mn-lt"/>
              </a:rPr>
              <a:t>■作成デザイン プレビュー </a:t>
            </a:r>
            <a:endParaRPr lang="ja-JP" sz="1600"/>
          </a:p>
        </p:txBody>
      </p:sp>
      <p:sp>
        <p:nvSpPr>
          <p:cNvPr id="21" name="正方形/長方形 20">
            <a:extLst>
              <a:ext uri="{FF2B5EF4-FFF2-40B4-BE49-F238E27FC236}">
                <a16:creationId xmlns:a16="http://schemas.microsoft.com/office/drawing/2014/main" id="{F4D9B16D-66BC-BEF3-2325-2AC53D742962}"/>
              </a:ext>
            </a:extLst>
          </p:cNvPr>
          <p:cNvSpPr/>
          <p:nvPr/>
        </p:nvSpPr>
        <p:spPr>
          <a:xfrm>
            <a:off x="4721311" y="1397424"/>
            <a:ext cx="4954230" cy="4673268"/>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2" name="TextBox 25">
            <a:extLst>
              <a:ext uri="{FF2B5EF4-FFF2-40B4-BE49-F238E27FC236}">
                <a16:creationId xmlns:a16="http://schemas.microsoft.com/office/drawing/2014/main" id="{82F980CF-3A45-8241-A591-D4B0007F0E5B}"/>
              </a:ext>
            </a:extLst>
          </p:cNvPr>
          <p:cNvSpPr txBox="1"/>
          <p:nvPr/>
        </p:nvSpPr>
        <p:spPr>
          <a:xfrm>
            <a:off x="4723995" y="5274766"/>
            <a:ext cx="2027518" cy="502920"/>
          </a:xfrm>
          <a:prstGeom prst="rect">
            <a:avLst/>
          </a:prstGeom>
          <a:noFill/>
        </p:spPr>
        <p:txBody>
          <a:bodyPr wrap="square" lIns="73152" rIns="7315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20000"/>
              </a:lnSpc>
              <a:defRPr sz="1100" b="1">
                <a:solidFill>
                  <a:srgbClr val="2B2B2B"/>
                </a:solidFill>
                <a:latin typeface="Meiryo"/>
              </a:defRPr>
            </a:pPr>
            <a:r>
              <a:t>▲ A5 / ハガキサイズ</a:t>
            </a:r>
            <a:br/>
            <a:r>
              <a:t>（卓上・壁面・レジ横POP）</a:t>
            </a:r>
          </a:p>
        </p:txBody>
      </p:sp>
      <p:sp>
        <p:nvSpPr>
          <p:cNvPr id="24" name="TextBox 28">
            <a:extLst>
              <a:ext uri="{FF2B5EF4-FFF2-40B4-BE49-F238E27FC236}">
                <a16:creationId xmlns:a16="http://schemas.microsoft.com/office/drawing/2014/main" id="{8FBE2A92-AEF0-2B30-1EBC-5415326474A7}"/>
              </a:ext>
            </a:extLst>
          </p:cNvPr>
          <p:cNvSpPr txBox="1"/>
          <p:nvPr/>
        </p:nvSpPr>
        <p:spPr>
          <a:xfrm>
            <a:off x="7200519" y="5274876"/>
            <a:ext cx="2484908" cy="502920"/>
          </a:xfrm>
          <a:prstGeom prst="rect">
            <a:avLst/>
          </a:prstGeom>
          <a:noFill/>
        </p:spPr>
        <p:txBody>
          <a:bodyPr wrap="square" lIns="73152" rIns="7315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20000"/>
              </a:lnSpc>
              <a:defRPr sz="1100" b="1">
                <a:solidFill>
                  <a:srgbClr val="2B2B2B"/>
                </a:solidFill>
                <a:latin typeface="Meiryo"/>
              </a:defRPr>
            </a:pPr>
            <a:r>
              <a:t>▲ クレジットカードサイズ</a:t>
            </a:r>
            <a:br/>
            <a:r>
              <a:t>（お持ち帰り用ショップカード）</a:t>
            </a:r>
          </a:p>
        </p:txBody>
      </p:sp>
    </p:spTree>
    <p:extLst>
      <p:ext uri="{BB962C8B-B14F-4D97-AF65-F5344CB8AC3E}">
        <p14:creationId xmlns:p14="http://schemas.microsoft.com/office/powerpoint/2010/main" val="163826339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rchestratedfont_2015">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31245</TotalTime>
  <Words>999</Words>
  <Application>Microsoft Office PowerPoint</Application>
  <PresentationFormat>A4 210 x 297 mm</PresentationFormat>
  <Paragraphs>90</Paragraphs>
  <Slides>5</Slides>
  <Notes>1</Notes>
  <HiddenSlides>0</HiddenSlides>
  <MMClips>0</MMClips>
  <ScaleCrop>false</ScaleCrop>
  <HeadingPairs>
    <vt:vector size="4" baseType="variant">
      <vt:variant>
        <vt:lpstr>テーマ</vt:lpstr>
      </vt:variant>
      <vt:variant>
        <vt:i4>1</vt:i4>
      </vt:variant>
      <vt:variant>
        <vt:lpstr>スライド タイトル</vt:lpstr>
      </vt:variant>
      <vt:variant>
        <vt:i4>5</vt:i4>
      </vt:variant>
    </vt:vector>
  </HeadingPairs>
  <TitlesOfParts>
    <vt:vector size="6" baseType="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ishizaka</dc:creator>
  <cp:lastModifiedBy>徳山 えり佳</cp:lastModifiedBy>
  <cp:revision>1813</cp:revision>
  <cp:lastPrinted>2021-12-16T04:18:29Z</cp:lastPrinted>
  <dcterms:created xsi:type="dcterms:W3CDTF">2016-02-26T01:49:29Z</dcterms:created>
  <dcterms:modified xsi:type="dcterms:W3CDTF">2026-10-15T15:42:51Z</dcterms:modified>
</cp:coreProperties>
</file>