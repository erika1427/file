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84" r:id="rId2"/>
    <p:sldId id="513" r:id="rId3"/>
  </p:sldIdLst>
  <p:sldSz cx="9906000" cy="6858000" type="A4"/>
  <p:notesSz cx="6802438" cy="99345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濱中 崇" initials="濱中" lastIdx="1" clrIdx="0">
    <p:extLst>
      <p:ext uri="{19B8F6BF-5375-455C-9EA6-DF929625EA0E}">
        <p15:presenceInfo xmlns:p15="http://schemas.microsoft.com/office/powerpoint/2012/main" userId="8484cd305c2318a2" providerId="Windows Live"/>
      </p:ext>
    </p:extLst>
  </p:cmAuthor>
  <p:cmAuthor id="2" name="jun" initials="j" lastIdx="2" clrIdx="1">
    <p:extLst>
      <p:ext uri="{19B8F6BF-5375-455C-9EA6-DF929625EA0E}">
        <p15:presenceInfo xmlns:p15="http://schemas.microsoft.com/office/powerpoint/2012/main" userId="j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0B0"/>
    <a:srgbClr val="FD8C03"/>
    <a:srgbClr val="FFC000"/>
    <a:srgbClr val="EDF1F9"/>
    <a:srgbClr val="000000"/>
    <a:srgbClr val="B8B8B7"/>
    <a:srgbClr val="C00000"/>
    <a:srgbClr val="44546A"/>
    <a:srgbClr val="FFEC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62" autoAdjust="0"/>
    <p:restoredTop sz="79012" autoAdjust="0"/>
  </p:normalViewPr>
  <p:slideViewPr>
    <p:cSldViewPr snapToGrid="0">
      <p:cViewPr>
        <p:scale>
          <a:sx n="100" d="100"/>
          <a:sy n="100" d="100"/>
        </p:scale>
        <p:origin x="2154" y="318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1008" y="-3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7512" cy="498236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3341" y="1"/>
            <a:ext cx="2947512" cy="498236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r">
              <a:defRPr sz="1200"/>
            </a:lvl1pPr>
          </a:lstStyle>
          <a:p>
            <a:fld id="{9419EFD4-15CD-40C2-A220-512208384092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36339"/>
            <a:ext cx="2947512" cy="498236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3341" y="9436339"/>
            <a:ext cx="2947512" cy="498236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r">
              <a:defRPr sz="1200"/>
            </a:lvl1pPr>
          </a:lstStyle>
          <a:p>
            <a:fld id="{1BDF2BAB-0D9F-4A26-8F59-A1B8FF7EB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4701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7722" cy="498454"/>
          </a:xfrm>
          <a:prstGeom prst="rect">
            <a:avLst/>
          </a:prstGeom>
        </p:spPr>
        <p:txBody>
          <a:bodyPr vert="horz" lIns="91495" tIns="45748" rIns="91495" bIns="45748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3142" y="2"/>
            <a:ext cx="2947722" cy="498454"/>
          </a:xfrm>
          <a:prstGeom prst="rect">
            <a:avLst/>
          </a:prstGeom>
        </p:spPr>
        <p:txBody>
          <a:bodyPr vert="horz" lIns="91495" tIns="45748" rIns="91495" bIns="45748" rtlCol="0"/>
          <a:lstStyle>
            <a:lvl1pPr algn="r">
              <a:defRPr sz="1200"/>
            </a:lvl1pPr>
          </a:lstStyle>
          <a:p>
            <a:fld id="{A811CA1F-CBC6-4416-AD50-3C64E4A227D9}" type="datetimeFigureOut">
              <a:rPr kumimoji="1" lang="ja-JP" altLang="en-US" smtClean="0"/>
              <a:pPr/>
              <a:t>2026/10/13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0288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95" tIns="45748" rIns="91495" bIns="4574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244" y="4781014"/>
            <a:ext cx="5441950" cy="3911740"/>
          </a:xfrm>
          <a:prstGeom prst="rect">
            <a:avLst/>
          </a:prstGeom>
        </p:spPr>
        <p:txBody>
          <a:bodyPr vert="horz" lIns="91495" tIns="45748" rIns="91495" bIns="4574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36123"/>
            <a:ext cx="2947722" cy="498453"/>
          </a:xfrm>
          <a:prstGeom prst="rect">
            <a:avLst/>
          </a:prstGeom>
        </p:spPr>
        <p:txBody>
          <a:bodyPr vert="horz" lIns="91495" tIns="45748" rIns="91495" bIns="45748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3142" y="9436123"/>
            <a:ext cx="2947722" cy="498453"/>
          </a:xfrm>
          <a:prstGeom prst="rect">
            <a:avLst/>
          </a:prstGeom>
        </p:spPr>
        <p:txBody>
          <a:bodyPr vert="horz" lIns="91495" tIns="45748" rIns="91495" bIns="45748" rtlCol="0" anchor="b"/>
          <a:lstStyle>
            <a:lvl1pPr algn="r">
              <a:defRPr sz="1200"/>
            </a:lvl1pPr>
          </a:lstStyle>
          <a:p>
            <a:fld id="{A55FD839-83AC-48BA-85B3-C4064274654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717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FD839-83AC-48BA-85B3-C4064274654D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  <p:sp>
        <p:nvSpPr>
          <p:cNvPr id="6" name="ノート プレースホルダー 5">
            <a:extLst>
              <a:ext uri="{FF2B5EF4-FFF2-40B4-BE49-F238E27FC236}">
                <a16:creationId xmlns:a16="http://schemas.microsoft.com/office/drawing/2014/main" id="{18346E95-FA0D-C182-00D1-754EEC9ED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78555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7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5895522"/>
            <a:ext cx="9906000" cy="962478"/>
          </a:xfrm>
          <a:prstGeom prst="rect">
            <a:avLst/>
          </a:prstGeom>
          <a:solidFill>
            <a:srgbClr val="F4E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CEB28145-B0F9-46A8-B306-DD7E0427E5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55675" y="6125012"/>
            <a:ext cx="756594" cy="511961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E6A7191F-06AB-4D45-A011-B8383C6D3A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986" y="6068628"/>
            <a:ext cx="1279826" cy="621684"/>
          </a:xfrm>
          <a:prstGeom prst="rect">
            <a:avLst/>
          </a:prstGeom>
        </p:spPr>
      </p:pic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C96F71EE-2ABE-46CD-90C3-D0AECAFBC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3033" y="6286600"/>
            <a:ext cx="2814630" cy="18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5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0" y="6506095"/>
            <a:ext cx="9906000" cy="354676"/>
          </a:xfrm>
          <a:prstGeom prst="rect">
            <a:avLst/>
          </a:prstGeom>
          <a:solidFill>
            <a:srgbClr val="F4E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 userDrawn="1"/>
        </p:nvSpPr>
        <p:spPr>
          <a:xfrm>
            <a:off x="9054353" y="6584909"/>
            <a:ext cx="7948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53430F6-F9B1-43E8-B704-148CEDF9D3A1}" type="slidenum">
              <a:rPr kumimoji="1" lang="en-US" altLang="ja-JP" sz="800" smtClean="0"/>
              <a:pPr algn="r"/>
              <a:t>‹#›</a:t>
            </a:fld>
            <a:endParaRPr kumimoji="1" lang="ja-JP" altLang="en-US" sz="800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26" y="6577333"/>
            <a:ext cx="439084" cy="214436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23638BC1-37FC-4F36-927F-B64D05FD2C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536" y="6647029"/>
            <a:ext cx="794870" cy="7948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056FD3A-ED20-BF94-0FB1-66B26C4481E0}"/>
              </a:ext>
            </a:extLst>
          </p:cNvPr>
          <p:cNvSpPr/>
          <p:nvPr userDrawn="1"/>
        </p:nvSpPr>
        <p:spPr>
          <a:xfrm>
            <a:off x="0" y="0"/>
            <a:ext cx="9906000" cy="312420"/>
          </a:xfrm>
          <a:prstGeom prst="rect">
            <a:avLst/>
          </a:prstGeom>
          <a:solidFill>
            <a:srgbClr val="F4E94A"/>
          </a:solidFill>
          <a:ln>
            <a:solidFill>
              <a:srgbClr val="F4E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21480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0" y="6506095"/>
            <a:ext cx="9906000" cy="354676"/>
          </a:xfrm>
          <a:prstGeom prst="rect">
            <a:avLst/>
          </a:prstGeom>
          <a:solidFill>
            <a:srgbClr val="F4E9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26" y="6577333"/>
            <a:ext cx="439084" cy="214436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23638BC1-37FC-4F36-927F-B64D05FD2C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536" y="6647029"/>
            <a:ext cx="794870" cy="7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9243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47E6C-0212-4372-B82D-7ABB435F7E95}" type="datetime1">
              <a:rPr kumimoji="1" lang="ja-JP" altLang="en-US" smtClean="0"/>
              <a:pPr/>
              <a:t>2026/10/13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E361-8713-40B6-A100-2AF17847972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05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0E438-6206-45D4-9E7D-73689BD1EE2E}" type="datetime1">
              <a:rPr kumimoji="1" lang="ja-JP" altLang="en-US" smtClean="0"/>
              <a:pPr/>
              <a:t>2026/10/13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E361-8713-40B6-A100-2AF17847972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76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29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DDE3-EBF6-4FA2-AC54-0EE1201806F3}" type="datetime1">
              <a:rPr kumimoji="1" lang="ja-JP" altLang="en-US" smtClean="0"/>
              <a:pPr/>
              <a:t>2026/10/13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E361-8713-40B6-A100-2AF17847972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6662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07B9C-3321-43D5-A6AB-834DC3297F2B}" type="datetime1">
              <a:rPr kumimoji="1" lang="ja-JP" altLang="en-US" smtClean="0"/>
              <a:pPr/>
              <a:t>2026/10/13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E361-8713-40B6-A100-2AF17847972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0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A80E6-8F9F-4F6D-B5CB-F870B1E21ECA}" type="datetime1">
              <a:rPr kumimoji="1" lang="ja-JP" altLang="en-US" smtClean="0"/>
              <a:pPr/>
              <a:t>2026/10/13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E361-8713-40B6-A100-2AF17847972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2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830B0-6D79-4FD5-A4C0-EF1475B25D88}" type="datetime1">
              <a:rPr kumimoji="1" lang="ja-JP" altLang="en-US" smtClean="0"/>
              <a:pPr/>
              <a:t>2026/10/13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E361-8713-40B6-A100-2AF17847972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448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E9CC-AD96-4AD0-84B2-246C4B8E0998}" type="datetime1">
              <a:rPr kumimoji="1" lang="ja-JP" altLang="en-US" smtClean="0"/>
              <a:pPr/>
              <a:t>2026/10/13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E361-8713-40B6-A100-2AF17847972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22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09FE6-9F7F-4475-A799-F09E5B44CDB3}" type="datetime1">
              <a:rPr kumimoji="1" lang="ja-JP" altLang="en-US" smtClean="0"/>
              <a:pPr/>
              <a:t>2026/10/13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4E361-8713-40B6-A100-2AF17847972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26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7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wanai-iju.jp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28917" y="997714"/>
            <a:ext cx="884816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kumimoji="1"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>
              <a:lnSpc>
                <a:spcPct val="150000"/>
              </a:lnSpc>
            </a:pPr>
            <a:r>
              <a:rPr kumimoji="1" lang="zh-TW" altLang="en-US" sz="32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豊田中央研究所</a:t>
            </a:r>
            <a:endParaRPr kumimoji="1" lang="en-US" altLang="ja-JP" sz="32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>
              <a:lnSpc>
                <a:spcPct val="150000"/>
              </a:lnSpc>
            </a:pPr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アクセシビリティ診断</a:t>
            </a:r>
          </a:p>
          <a:p>
            <a:pPr algn="ctr">
              <a:lnSpc>
                <a:spcPct val="150000"/>
              </a:lnSpc>
            </a:pPr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診断結果報告書</a:t>
            </a:r>
            <a:endParaRPr kumimoji="1"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023351" y="5176887"/>
            <a:ext cx="1859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</a:t>
            </a:r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2073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4">
            <a:extLst>
              <a:ext uri="{FF2B5EF4-FFF2-40B4-BE49-F238E27FC236}">
                <a16:creationId xmlns:a16="http://schemas.microsoft.com/office/drawing/2014/main" id="{812FC547-D426-1377-3A7A-379FBD93E637}"/>
              </a:ext>
            </a:extLst>
          </p:cNvPr>
          <p:cNvSpPr txBox="1"/>
          <p:nvPr/>
        </p:nvSpPr>
        <p:spPr>
          <a:xfrm>
            <a:off x="403412" y="512817"/>
            <a:ext cx="9099176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ja-JP" altLang="en-US" sz="1600" b="0" i="0" u="none" strike="noStrike" baseline="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lang="ja-JP" altLang="en-US" sz="16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診断基準と適合レベル</a:t>
            </a:r>
            <a:endParaRPr lang="en-US" altLang="ja-JP" sz="16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b="0" i="0" u="none" strike="noStrike" baseline="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WCAG2.2</a:t>
            </a:r>
            <a:r>
              <a:rPr lang="ja-JP" altLang="en-US" sz="14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適合レベル</a:t>
            </a:r>
            <a:r>
              <a:rPr lang="en-US" altLang="ja-JP" sz="14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lang="ja-JP" altLang="en-US" sz="14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および</a:t>
            </a:r>
            <a:r>
              <a:rPr lang="en-US" altLang="ja-JP" sz="14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AA</a:t>
            </a:r>
          </a:p>
          <a:p>
            <a:pPr>
              <a:lnSpc>
                <a:spcPct val="150000"/>
              </a:lnSpc>
            </a:pPr>
            <a:endParaRPr lang="en-US" altLang="ja-JP" sz="1400" b="0" i="0" u="none" strike="noStrike" baseline="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6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■満たしている適合レベル</a:t>
            </a:r>
            <a:endParaRPr lang="en-US" altLang="ja-JP" sz="16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400" b="0" i="0" u="none" strike="noStrike" baseline="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適合レベル</a:t>
            </a:r>
            <a:r>
              <a:rPr lang="en-US" altLang="ja-JP" sz="1400" b="0" i="0" u="none" strike="noStrike" baseline="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lang="ja-JP" altLang="en-US" sz="1400" b="0" i="0" u="none" strike="noStrike" baseline="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に一部準拠</a:t>
            </a:r>
            <a:endParaRPr lang="en-US" altLang="ja-JP" sz="1400" b="0" i="0" u="none" strike="noStrike" baseline="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sz="1400" b="0" i="0" u="none" strike="noStrike" baseline="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6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■依存したウェブコンテンツ技術のリスト</a:t>
            </a:r>
            <a:endParaRPr lang="en-US" altLang="ja-JP" sz="1600" b="0" i="0" u="none" strike="noStrike" baseline="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dirty="0"/>
              <a:t>HTML5</a:t>
            </a:r>
            <a:r>
              <a:rPr lang="ja-JP" altLang="en-US" sz="1400" dirty="0"/>
              <a:t>、</a:t>
            </a:r>
            <a:r>
              <a:rPr lang="en-US" altLang="ja-JP" sz="1400" dirty="0"/>
              <a:t>CSS3</a:t>
            </a:r>
            <a:r>
              <a:rPr lang="ja-JP" altLang="en-US" sz="1400" dirty="0"/>
              <a:t>、</a:t>
            </a:r>
            <a:r>
              <a:rPr lang="en-US" altLang="ja-JP" sz="1400" dirty="0"/>
              <a:t>JavaScript</a:t>
            </a:r>
          </a:p>
          <a:p>
            <a:pPr>
              <a:lnSpc>
                <a:spcPct val="150000"/>
              </a:lnSpc>
            </a:pPr>
            <a:endParaRPr lang="en-US" altLang="ja-JP" sz="1400" b="0" i="0" u="none" strike="noStrike" baseline="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600" b="0" i="0" u="none" strike="noStrike" baseline="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lang="ja-JP" altLang="en-US" sz="1600" dirty="0"/>
              <a:t>試験対象のウェブページを選択した方法</a:t>
            </a:r>
            <a:endParaRPr lang="en-US" altLang="ja-JP" sz="1600" dirty="0"/>
          </a:p>
          <a:p>
            <a:pPr>
              <a:lnSpc>
                <a:spcPct val="150000"/>
              </a:lnSpc>
            </a:pP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岩内町移住情報サイト　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IWANAILIFE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https://iwanai-iju.jp/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の全ページ</a:t>
            </a:r>
            <a:endParaRPr kumimoji="1" lang="en-US" altLang="ja-JP" sz="14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試験を実施したページは次ページに記載</a:t>
            </a:r>
            <a:endParaRPr kumimoji="1" lang="en-US" altLang="ja-JP" sz="14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endParaRPr kumimoji="1" lang="en-US" altLang="ja-JP" sz="14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■試験実施期間</a:t>
            </a:r>
            <a:endParaRPr kumimoji="1" lang="en-US" altLang="ja-JP" sz="16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日～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2025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31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</a:t>
            </a:r>
            <a:endParaRPr kumimoji="1" lang="en-US" altLang="ja-JP" sz="14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7A2F28-4005-593B-03BB-74DC98A1A5EB}"/>
              </a:ext>
            </a:extLst>
          </p:cNvPr>
          <p:cNvSpPr txBox="1"/>
          <p:nvPr/>
        </p:nvSpPr>
        <p:spPr>
          <a:xfrm>
            <a:off x="227573" y="44659"/>
            <a:ext cx="2582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1. </a:t>
            </a:r>
            <a:r>
              <a:rPr kumimoji="1" lang="ja-JP" altLang="en-US" sz="1400" b="1" dirty="0"/>
              <a:t>アクセシビリティ診断結果</a:t>
            </a:r>
            <a:endParaRPr kumimoji="1" lang="en-US" altLang="ja-JP" sz="1400" b="1" dirty="0"/>
          </a:p>
        </p:txBody>
      </p:sp>
    </p:spTree>
    <p:extLst>
      <p:ext uri="{BB962C8B-B14F-4D97-AF65-F5344CB8AC3E}">
        <p14:creationId xmlns:p14="http://schemas.microsoft.com/office/powerpoint/2010/main" val="2153343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rchestratedfont_2015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31075</TotalTime>
  <Words>105</Words>
  <Application>Microsoft Office PowerPoint</Application>
  <PresentationFormat>A4 210 x 297 mm</PresentationFormat>
  <Paragraphs>22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メイリオ</vt:lpstr>
      <vt:lpstr>游ゴシック</vt:lpstr>
      <vt:lpstr>Arial</vt:lpstr>
      <vt:lpstr>Calibri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ishizaka</dc:creator>
  <cp:lastModifiedBy>徳山 えり佳</cp:lastModifiedBy>
  <cp:revision>1397</cp:revision>
  <cp:lastPrinted>2021-12-16T04:18:29Z</cp:lastPrinted>
  <dcterms:created xsi:type="dcterms:W3CDTF">2016-02-26T01:49:29Z</dcterms:created>
  <dcterms:modified xsi:type="dcterms:W3CDTF">2026-10-13T07:53:12Z</dcterms:modified>
</cp:coreProperties>
</file>